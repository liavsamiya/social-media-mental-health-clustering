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Inter Light"/>
      <p:regular r:id="rId28"/>
      <p:bold r:id="rId29"/>
      <p:italic r:id="rId30"/>
      <p:boldItalic r:id="rId31"/>
    </p:embeddedFont>
    <p:embeddedFont>
      <p:font typeface="Inter SemiBold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Urbanist Medium"/>
      <p:regular r:id="rId40"/>
      <p:bold r:id="rId41"/>
      <p:italic r:id="rId42"/>
      <p:boldItalic r:id="rId43"/>
    </p:embeddedFont>
    <p:embeddedFont>
      <p:font typeface="Urbanist"/>
      <p:regular r:id="rId44"/>
      <p:bold r:id="rId45"/>
      <p:italic r:id="rId46"/>
      <p:boldItalic r:id="rId47"/>
    </p:embeddedFont>
    <p:embeddedFont>
      <p:font typeface="Poppins Medium"/>
      <p:regular r:id="rId48"/>
      <p:bold r:id="rId49"/>
      <p:italic r:id="rId50"/>
      <p:boldItalic r:id="rId51"/>
    </p:embeddedFont>
    <p:embeddedFont>
      <p:font typeface="Poppins SemiBold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925C61-9DFD-4BD4-9CF6-6DD63E0CBF10}">
  <a:tblStyle styleId="{B6925C61-9DFD-4BD4-9CF6-6DD63E0CBF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Medium-regular.fntdata"/><Relationship Id="rId42" Type="http://schemas.openxmlformats.org/officeDocument/2006/relationships/font" Target="fonts/UrbanistMedium-italic.fntdata"/><Relationship Id="rId41" Type="http://schemas.openxmlformats.org/officeDocument/2006/relationships/font" Target="fonts/UrbanistMedium-bold.fntdata"/><Relationship Id="rId44" Type="http://schemas.openxmlformats.org/officeDocument/2006/relationships/font" Target="fonts/Urbanist-regular.fntdata"/><Relationship Id="rId43" Type="http://schemas.openxmlformats.org/officeDocument/2006/relationships/font" Target="fonts/UrbanistMedium-boldItalic.fntdata"/><Relationship Id="rId46" Type="http://schemas.openxmlformats.org/officeDocument/2006/relationships/font" Target="fonts/Urbanist-italic.fntdata"/><Relationship Id="rId45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oppinsMedium-regular.fntdata"/><Relationship Id="rId47" Type="http://schemas.openxmlformats.org/officeDocument/2006/relationships/font" Target="fonts/Urbanist-boldItalic.fntdata"/><Relationship Id="rId49" Type="http://schemas.openxmlformats.org/officeDocument/2006/relationships/font" Target="fonts/Poppins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Light-boldItalic.fntdata"/><Relationship Id="rId30" Type="http://schemas.openxmlformats.org/officeDocument/2006/relationships/font" Target="fonts/InterLight-italic.fntdata"/><Relationship Id="rId33" Type="http://schemas.openxmlformats.org/officeDocument/2006/relationships/font" Target="fonts/InterSemiBold-bold.fntdata"/><Relationship Id="rId32" Type="http://schemas.openxmlformats.org/officeDocument/2006/relationships/font" Target="fonts/InterSemiBold-regular.fntdata"/><Relationship Id="rId35" Type="http://schemas.openxmlformats.org/officeDocument/2006/relationships/font" Target="fonts/InterSemiBold-boldItalic.fntdata"/><Relationship Id="rId34" Type="http://schemas.openxmlformats.org/officeDocument/2006/relationships/font" Target="fonts/InterSemiBold-italic.fntdata"/><Relationship Id="rId37" Type="http://schemas.openxmlformats.org/officeDocument/2006/relationships/font" Target="fonts/Inter-bold.fntdata"/><Relationship Id="rId36" Type="http://schemas.openxmlformats.org/officeDocument/2006/relationships/font" Target="fonts/Inter-regular.fntdata"/><Relationship Id="rId39" Type="http://schemas.openxmlformats.org/officeDocument/2006/relationships/font" Target="fonts/Inter-boldItalic.fntdata"/><Relationship Id="rId38" Type="http://schemas.openxmlformats.org/officeDocument/2006/relationships/font" Target="fonts/Inter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Light-regular.fntdata"/><Relationship Id="rId27" Type="http://schemas.openxmlformats.org/officeDocument/2006/relationships/slide" Target="slides/slide21.xml"/><Relationship Id="rId29" Type="http://schemas.openxmlformats.org/officeDocument/2006/relationships/font" Target="fonts/InterLight-bold.fntdata"/><Relationship Id="rId51" Type="http://schemas.openxmlformats.org/officeDocument/2006/relationships/font" Target="fonts/PoppinsMedium-boldItalic.fntdata"/><Relationship Id="rId50" Type="http://schemas.openxmlformats.org/officeDocument/2006/relationships/font" Target="fonts/PoppinsMedium-italic.fntdata"/><Relationship Id="rId53" Type="http://schemas.openxmlformats.org/officeDocument/2006/relationships/font" Target="fonts/PoppinsSemiBold-bold.fntdata"/><Relationship Id="rId52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55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54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8a729a9a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e8a729a9ae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8a729a9ae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e8a729a9ae_1_1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8a729a9ae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e8a729a9ae_1_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8a729a9ae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8a729a9ae_1_2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8a729a9ae_1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e8a729a9ae_1_2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8a729a9ae_1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e8a729a9ae_1_2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8a729a9ae_1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e8a729a9ae_1_2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8a729a9ae_1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e8a729a9ae_1_2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8a729a9ae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e8a729a9ae_1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8a729a9ae_1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e8a729a9ae_1_3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8a729a9ae_1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e8a729a9ae_1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8a729a9ae_1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e8a729a9ae_1_3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10" Type="http://schemas.openxmlformats.org/officeDocument/2006/relationships/image" Target="../media/image13.png"/><Relationship Id="rId9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35354" y="2676525"/>
            <a:ext cx="1032129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Advanced </a:t>
            </a:r>
            <a:r>
              <a:rPr b="1" i="0" lang="en-US" sz="52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Clustering</a:t>
            </a: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Techniques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676650"/>
            <a:ext cx="7620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Hierarchical &amp; Gaussian Mixture Model Analysis on Social Media Usage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67783"/>
            <a:ext cx="5143500" cy="4853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7825" y="1778700"/>
            <a:ext cx="5143500" cy="48537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675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Recap: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&amp; Objectives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1215330"/>
            <a:ext cx="76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A quick reminder of the foundation of our exploratory data analysis and the core questions driving our models.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450" y="2145848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876350" y="2212523"/>
            <a:ext cx="17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Dataset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533450" y="2916968"/>
            <a:ext cx="398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5,000 Individuals: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Comprehensive survey responses collected between Jan 2024 and Dec 2025.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533450" y="3917093"/>
            <a:ext cx="398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15 Features: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Capturing digital habits, physiological health (sleep/activity), and platform preferences.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533450" y="4917218"/>
            <a:ext cx="3981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Metrics: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Total daily screen time, social media time, and negative interaction counts.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533450" y="5660168"/>
            <a:ext cx="398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Target Outcomes: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Self-reported Anxiety, Stress, and Mood scores (1-10), mapping to overall Mental State classifications.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91625" y="216327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415525" y="2229945"/>
            <a:ext cx="355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Core Research Questions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210425" y="2936024"/>
            <a:ext cx="3981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Does increased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screen time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directly correlate with high-risk mental states?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210425" y="3767968"/>
            <a:ext cx="3981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How heavily do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negative online interactions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impact users' sleep and daily mood?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210425" y="4599911"/>
            <a:ext cx="398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How do distinct populations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cluster together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based on engagement and mental state across different ages?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210425" y="5719835"/>
            <a:ext cx="3981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Does the choice of the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primary social platform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have a measurable link to user anxiety or stress?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19137" y="229824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52450" y="2936018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52450" y="3936143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52450" y="4936268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52450" y="5679218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44025" y="231567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29425" y="2957356"/>
            <a:ext cx="190500" cy="223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29425" y="3789300"/>
            <a:ext cx="190500" cy="223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29425" y="4621243"/>
            <a:ext cx="190500" cy="223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29425" y="5741167"/>
            <a:ext cx="190500" cy="223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/>
          <p:nvPr/>
        </p:nvSpPr>
        <p:spPr>
          <a:xfrm>
            <a:off x="5619750" y="2533650"/>
            <a:ext cx="9525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295275" y="2857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Part 1: Theoretical Foundations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2286000" y="373380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Exploring the mechanics of Hierarchical Clustering and Gaussian Mixture Models.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2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71525" y="19669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09625" y="1966912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Builds a tree of nested clusters (a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dendrogram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) by iteratively merging the closest groups based on relative distances.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71525" y="301466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09625" y="3014662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Utilizes an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agglomerative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approach, meaning it starts with every data point as its own isolated cluster and merges upwards.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71525" y="40624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09625" y="4062412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Merges the two nearest clusters at each progressive step until all points belong to one massive, final cluster.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71525" y="48244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09625" y="4824412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Provides a deterministic, hard partition of the dataset without computing probabilistic boundaries.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Hierarchical Clustering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800" y="1479337"/>
            <a:ext cx="5286375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5325" y="3308125"/>
            <a:ext cx="1642625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6915325" y="1869862"/>
            <a:ext cx="4730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Potential Pitfalls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915325" y="2365162"/>
            <a:ext cx="450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Hierarchical algorithms scale poorly on extremely large datasets without subsampling, suffering from significant time and memory complexity: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915325" y="3889162"/>
            <a:ext cx="4505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Merges are strictly irreversible, meaning early mistakes heavily propagate. Furthermore, it completely lacks built-in handling for noise or extreme outliers.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6300" y="3366031"/>
            <a:ext cx="1318766" cy="29453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929816" y="6260378"/>
            <a:ext cx="15243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3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n_clusters</a:t>
            </a:r>
            <a:endParaRPr sz="761"/>
          </a:p>
        </p:txBody>
      </p:sp>
      <p:sp>
        <p:nvSpPr>
          <p:cNvPr id="147" name="Google Shape;147;p16"/>
          <p:cNvSpPr txBox="1"/>
          <p:nvPr/>
        </p:nvSpPr>
        <p:spPr>
          <a:xfrm>
            <a:off x="1846784" y="6260378"/>
            <a:ext cx="15243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3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linkage</a:t>
            </a:r>
            <a:endParaRPr sz="761"/>
          </a:p>
        </p:txBody>
      </p:sp>
      <p:sp>
        <p:nvSpPr>
          <p:cNvPr id="148" name="Google Shape;148;p16"/>
          <p:cNvSpPr txBox="1"/>
          <p:nvPr/>
        </p:nvSpPr>
        <p:spPr>
          <a:xfrm>
            <a:off x="2488357" y="6260378"/>
            <a:ext cx="15243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3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metric</a:t>
            </a:r>
            <a:endParaRPr sz="761"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1683" y="5877124"/>
            <a:ext cx="228702" cy="2485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81475" y="5877124"/>
            <a:ext cx="285878" cy="2485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80214" y="5877124"/>
            <a:ext cx="228712" cy="24859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906614" y="5587050"/>
            <a:ext cx="2216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hyperparameters: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621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771525" y="19669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09625" y="1966912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Models the data comprehensively as a weighted sum of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 independent Gaussian distributions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, each possessing its own mean and covariance.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771525" y="301466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09625" y="3014662"/>
            <a:ext cx="5048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Unlike hard-assignment methods, GMM is intrinsically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probabilistic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 every individual point receives a strict probability of belonging to each specific cluster (soft assignment).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71525" y="434816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•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09625" y="4348162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Complex parameters are iteratively estimated and refined using the powerful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Expectation-Maximization (EM)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algorithm.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Gaussian Mixture Models (GMM)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921205" y="5587050"/>
            <a:ext cx="2216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hyperparameters:</a:t>
            </a:r>
            <a:endParaRPr sz="1600"/>
          </a:p>
        </p:txBody>
      </p:sp>
      <p:sp>
        <p:nvSpPr>
          <p:cNvPr id="167" name="Google Shape;167;p17"/>
          <p:cNvSpPr txBox="1"/>
          <p:nvPr/>
        </p:nvSpPr>
        <p:spPr>
          <a:xfrm>
            <a:off x="930000" y="6261481"/>
            <a:ext cx="1461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1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n_components</a:t>
            </a:r>
            <a:endParaRPr sz="672"/>
          </a:p>
        </p:txBody>
      </p:sp>
      <p:sp>
        <p:nvSpPr>
          <p:cNvPr id="168" name="Google Shape;168;p17"/>
          <p:cNvSpPr txBox="1"/>
          <p:nvPr/>
        </p:nvSpPr>
        <p:spPr>
          <a:xfrm>
            <a:off x="1957413" y="6261481"/>
            <a:ext cx="1461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1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covariance_type</a:t>
            </a:r>
            <a:endParaRPr sz="672"/>
          </a:p>
        </p:txBody>
      </p:sp>
      <p:sp>
        <p:nvSpPr>
          <p:cNvPr id="169" name="Google Shape;169;p17"/>
          <p:cNvSpPr txBox="1"/>
          <p:nvPr/>
        </p:nvSpPr>
        <p:spPr>
          <a:xfrm>
            <a:off x="3105479" y="6261481"/>
            <a:ext cx="1461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1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n_init</a:t>
            </a:r>
            <a:endParaRPr sz="672"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0000" y="5922950"/>
            <a:ext cx="246622" cy="219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42821" y="5922950"/>
            <a:ext cx="219223" cy="219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6296" y="5922950"/>
            <a:ext cx="219223" cy="21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6570021" y="1800225"/>
            <a:ext cx="4730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Potential Pitfalls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570021" y="2295525"/>
            <a:ext cx="4505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GMM explicitly assumes each cluster is roughly Gaussian, causing it to aggressively struggle with non-Gaussian, irregular shapes (e.g., rigid rings or crescents).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570021" y="3581400"/>
            <a:ext cx="4505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It remains highly sensitive to its initialization and is prone to settling in poor local optima. Components can completely collapse to a singular covariance when features significantly outnumber actual data.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/>
          <p:nvPr/>
        </p:nvSpPr>
        <p:spPr>
          <a:xfrm>
            <a:off x="5619750" y="2705100"/>
            <a:ext cx="9525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295275" y="3028950"/>
            <a:ext cx="11601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Part 2: </a:t>
            </a:r>
            <a:r>
              <a:rPr b="1" lang="en-US" sz="45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Decision &amp; Justification</a:t>
            </a:r>
            <a:endParaRPr b="1" sz="4500">
              <a:solidFill>
                <a:srgbClr val="38BDF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38BDF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2305050" y="3905250"/>
            <a:ext cx="758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Why PCA-2 Over Manual Dimensionality Reduction</a:t>
            </a:r>
            <a:endParaRPr sz="18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393975" y="1675061"/>
            <a:ext cx="61866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We engineered two interpretable indexes: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Digital_Habits_Index</a:t>
            </a: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= (daily_screen_time_norm + social_media_time_norm) / 2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Mental_Strain_Index</a:t>
            </a: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= (stress_level_norm + anxiety_level_norm) / 2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Feature set for clustering = [Digital_Habits_Index, Mental</a:t>
            </a: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_</a:t>
            </a: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Strain_Index] + all one-hot platform columns.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Why we did this: both axes have a clear human-readable meaning (digital usage vs. psychological strain); it reduces ~20 features to 2 meaningful dimensions plus platform identity; it is easy to explain to non-technical stakeholders.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3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Manual Dimensionality Reduction - Custom Axes</a:t>
            </a:r>
            <a:endParaRPr/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5850" y="1639831"/>
            <a:ext cx="5055324" cy="26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6915325" y="2030368"/>
            <a:ext cx="4730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250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Trade-off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915325" y="2525668"/>
            <a:ext cx="45054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we impose our own assumptions on the structure, and adding one-hot platform columns makes the clustering partly driven by which platform a user is on rather than by behaviour alone.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Manual Reduction - Dendrogram (Ward)</a:t>
            </a:r>
            <a:endParaRPr/>
          </a:p>
        </p:txBody>
      </p:sp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538" y="2036000"/>
            <a:ext cx="8982925" cy="462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title="דיאגרמת היררכיה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7263" y="2221238"/>
            <a:ext cx="8515775" cy="425787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422100" y="1269089"/>
            <a:ext cx="9528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Max merge distance is only ~6.2. Several branches of comparable height with no single dominant top split, so the right number of clusters is more ambiguous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423158" y="1266495"/>
            <a:ext cx="1047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Axes are interpretable (Digital Habits vs Mental Strain). K-Means / Hierarchical / GMM each find 3 groups, but boundaries overlap in horizontal bands. DBSCAN over-fragments into 7 clusters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3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Manual Reduction - All Algorithms (Scatter)</a:t>
            </a:r>
            <a:endParaRPr/>
          </a:p>
        </p:txBody>
      </p:sp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8450" y="1999025"/>
            <a:ext cx="10862725" cy="464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6915325" y="2365162"/>
            <a:ext cx="4505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12" name="Google Shape;212;p21" title="כל הקלסטורים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113" y="2158388"/>
            <a:ext cx="9711402" cy="43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393975" y="1675061"/>
            <a:ext cx="6186600" cy="47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PCA finds the 2 orthogonal directions that capture the most variance across ALL features (the 13 normalized numeric features + mental_state_encoded + platform/gender one-hots).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PCA2_1 and PCA2_2 are linear combinations of the original features - abstract and not directly human-readable, but mathematically optimal for preserving spread in 2D.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Why we did this:</a:t>
            </a: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no manual assumptions, the structure emerges from the data; it captures correlations between many features at once; it produces the cleanest 2D separation for visualization and clustering.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3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PCA (2 Components) - The Data Chooses the Axes</a:t>
            </a:r>
            <a:endParaRPr/>
          </a:p>
        </p:txBody>
      </p:sp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5850" y="1639825"/>
            <a:ext cx="5055324" cy="49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6915325" y="2030368"/>
            <a:ext cx="4730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Trade-off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921810" y="3703526"/>
            <a:ext cx="4730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Top features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954225" y="4143975"/>
            <a:ext cx="4857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PCA_1: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stress_level, anxiety_level, mood_level, sleep_hours, physical_activity_min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PCA_2:</a:t>
            </a:r>
            <a:endParaRPr b="1"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social_media_ratio, platform_WhatsApp, daily_screen_time_without_social_media_min, platform_TikTok, sleep_hours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6915325" y="2525668"/>
            <a:ext cx="4505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components are harder to interpret. We read the top-loading features (printed by the script) to label what each axis roughly represents.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PCA-2 </a:t>
            </a:r>
            <a:r>
              <a:rPr b="1" lang="en-US" sz="33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- Dendrogram (Ward)</a:t>
            </a:r>
            <a:endParaRPr/>
          </a:p>
        </p:txBody>
      </p:sp>
      <p:pic>
        <p:nvPicPr>
          <p:cNvPr descr="image.png" id="231" name="Google Shape;2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538" y="2036000"/>
            <a:ext cx="8982925" cy="46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422100" y="1269089"/>
            <a:ext cx="9528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One dominant top split at distance ~10, then a clear secondary split at ~6. The large vertical gaps make a cut into 3 clusters a natural, decisive choice (justifies n_clusters=3).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33" name="Google Shape;233;p23" title="דיאגרמת היררכיה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6125" y="2265238"/>
            <a:ext cx="8339750" cy="41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PCA-2 - All Algorithms (Scatter)</a:t>
            </a:r>
            <a:endParaRPr/>
          </a:p>
        </p:txBody>
      </p:sp>
      <p:pic>
        <p:nvPicPr>
          <p:cNvPr descr="image.png" id="240" name="Google Shape;24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538" y="2036000"/>
            <a:ext cx="8982925" cy="46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422100" y="1269089"/>
            <a:ext cx="952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K-Means / Hierarchical / GMM agree on 3 clean, well-separated clusters. DBSCAN  under-segments into ~2 clusters here - again showing density parameters must be tuned to the representation.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42" name="Google Shape;242;p24" title="כל הקליסטורים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0875" y="2242725"/>
            <a:ext cx="8050249" cy="421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393975" y="1675050"/>
            <a:ext cx="11417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We use PCA-2 as the primary representation because it yields the clearest, most stable 3-cluster structure that Hierarchical and GMM agree on. We keep the Manual reduction as an interpretable cross-check for explaining what distinguishes the groups in plain language.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3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Our Choice: Why We Prefer PCA-2</a:t>
            </a:r>
            <a:endParaRPr/>
          </a:p>
        </p:txBody>
      </p:sp>
      <p:pic>
        <p:nvPicPr>
          <p:cNvPr descr="image.png" id="250" name="Google Shape;25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6275" y="2451350"/>
            <a:ext cx="6146825" cy="43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5" title="דיאגרמת היררכיה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7778" y="2626450"/>
            <a:ext cx="5523820" cy="398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50" y="2451350"/>
            <a:ext cx="5815524" cy="43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5" title="דיאגרמת היררכיה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0700" y="2692100"/>
            <a:ext cx="5523825" cy="385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/>
          <p:nvPr/>
        </p:nvSpPr>
        <p:spPr>
          <a:xfrm>
            <a:off x="5619750" y="2705100"/>
            <a:ext cx="9525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 txBox="1"/>
          <p:nvPr/>
        </p:nvSpPr>
        <p:spPr>
          <a:xfrm>
            <a:off x="295275" y="3028950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Part </a:t>
            </a:r>
            <a:r>
              <a:rPr b="1" lang="en-US" sz="45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b="1" i="0" lang="en-US" sz="4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b="1" lang="en-US" sz="45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Clustering choice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2305050" y="3905250"/>
            <a:ext cx="758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Silhouette coefficients comperacence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7"/>
          <p:cNvSpPr txBox="1"/>
          <p:nvPr/>
        </p:nvSpPr>
        <p:spPr>
          <a:xfrm>
            <a:off x="2619375" y="1857375"/>
            <a:ext cx="695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Silhouette coefficients across different linkage methods at exactly 3 clusters.</a:t>
            </a:r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571500" y="5362575"/>
            <a:ext cx="11049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Ward linkage predictably yields the absolute optimal silhouette score (0.34). Single linkage performs exceptionally poorly as it aggressively chains almost all points into one large cluster with a few tiny outlier groups.</a:t>
            </a:r>
            <a:endParaRPr/>
          </a:p>
        </p:txBody>
      </p:sp>
      <p:sp>
        <p:nvSpPr>
          <p:cNvPr id="270" name="Google Shape;270;p2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Hierarchical Results (K=3)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8"/>
          <p:cNvSpPr txBox="1"/>
          <p:nvPr/>
        </p:nvSpPr>
        <p:spPr>
          <a:xfrm>
            <a:off x="2286000" y="1447800"/>
            <a:ext cx="76200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Silhouette coefficients evaluated systematically by covariance type and component count (K).</a:t>
            </a:r>
            <a:endParaRPr/>
          </a:p>
        </p:txBody>
      </p:sp>
      <p:graphicFrame>
        <p:nvGraphicFramePr>
          <p:cNvPr id="277" name="Google Shape;277;p28"/>
          <p:cNvGraphicFramePr/>
          <p:nvPr/>
        </p:nvGraphicFramePr>
        <p:xfrm>
          <a:off x="571500" y="2266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{B6925C61-9DFD-4BD4-9CF6-6DD63E0CBF10}</a:tableStyleId>
              </a:tblPr>
              <a:tblGrid>
                <a:gridCol w="2045650"/>
                <a:gridCol w="2045650"/>
                <a:gridCol w="2144025"/>
                <a:gridCol w="2165900"/>
                <a:gridCol w="2647800"/>
              </a:tblGrid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Clusters (K)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Full Covariance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Tied Covariance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Diag Covariance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Spherical Covariance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K = 2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0.32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0.30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0.30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0.28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 = 3 (Optimal)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0.35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0.32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0.32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0.29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K = 4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0.31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0.30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0.29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0.27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K = 5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0.28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0.27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0.27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0.24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8" name="Google Shape;278;p28"/>
          <p:cNvSpPr/>
          <p:nvPr/>
        </p:nvSpPr>
        <p:spPr>
          <a:xfrm>
            <a:off x="571500" y="2833687"/>
            <a:ext cx="20456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2617142" y="2833687"/>
            <a:ext cx="20456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4662785" y="2833687"/>
            <a:ext cx="21440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6806803" y="2833687"/>
            <a:ext cx="21658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8972698" y="2833687"/>
            <a:ext cx="26478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571500" y="3471862"/>
            <a:ext cx="20456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2617142" y="3471862"/>
            <a:ext cx="20456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4662785" y="3471862"/>
            <a:ext cx="21440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8"/>
          <p:cNvSpPr/>
          <p:nvPr/>
        </p:nvSpPr>
        <p:spPr>
          <a:xfrm>
            <a:off x="6806803" y="3471862"/>
            <a:ext cx="21658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8"/>
          <p:cNvSpPr/>
          <p:nvPr/>
        </p:nvSpPr>
        <p:spPr>
          <a:xfrm>
            <a:off x="8972698" y="3471862"/>
            <a:ext cx="26478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571500" y="4110037"/>
            <a:ext cx="20456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2617142" y="4110037"/>
            <a:ext cx="20456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4662785" y="4110037"/>
            <a:ext cx="21440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6806803" y="4110037"/>
            <a:ext cx="21658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8972698" y="4110037"/>
            <a:ext cx="26478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571500" y="4748212"/>
            <a:ext cx="20456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2617142" y="4748212"/>
            <a:ext cx="20456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4662785" y="4748212"/>
            <a:ext cx="21440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6806803" y="4748212"/>
            <a:ext cx="21658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8972698" y="4748212"/>
            <a:ext cx="26478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571500" y="371475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GMM Performance Matrix</a:t>
            </a:r>
            <a:endParaRPr/>
          </a:p>
        </p:txBody>
      </p:sp>
      <p:sp>
        <p:nvSpPr>
          <p:cNvPr id="299" name="Google Shape;299;p28"/>
          <p:cNvSpPr txBox="1"/>
          <p:nvPr/>
        </p:nvSpPr>
        <p:spPr>
          <a:xfrm>
            <a:off x="571500" y="5581550"/>
            <a:ext cx="11049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Full covariance explicitly paired with 3 components provides the absolute highest silhouette score (0.35) and actively minimizes BIC.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9"/>
          <p:cNvSpPr/>
          <p:nvPr/>
        </p:nvSpPr>
        <p:spPr>
          <a:xfrm>
            <a:off x="5619750" y="1752600"/>
            <a:ext cx="9525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9"/>
          <p:cNvSpPr txBox="1"/>
          <p:nvPr/>
        </p:nvSpPr>
        <p:spPr>
          <a:xfrm>
            <a:off x="295275" y="20764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Optimal Choice</a:t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2286000" y="2952750"/>
            <a:ext cx="7620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Both algorithms independently and consistently identify that </a:t>
            </a: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 clusters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best segment this specific user base. Visualizing the PCA projection completely confirms three distinct groups.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2286000" y="4171950"/>
            <a:ext cx="7620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Ultimately, </a:t>
            </a: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GMM slightly edges out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the hierarchical approach (0.35 vs 0.34 silhouette) because it offers reliable confidence probabilities per point and far better models the correlated features of the dataset.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0"/>
          <p:cNvSpPr/>
          <p:nvPr/>
        </p:nvSpPr>
        <p:spPr>
          <a:xfrm>
            <a:off x="5619750" y="2705100"/>
            <a:ext cx="9525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0"/>
          <p:cNvSpPr txBox="1"/>
          <p:nvPr/>
        </p:nvSpPr>
        <p:spPr>
          <a:xfrm>
            <a:off x="295275" y="3028950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Part </a:t>
            </a:r>
            <a:r>
              <a:rPr b="1" lang="en-US" sz="45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r>
              <a:rPr b="1" i="0" lang="en-US" sz="4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: Practical Application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2305050" y="3905250"/>
            <a:ext cx="758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Analyzing behavioral user segments.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825" y="132400"/>
            <a:ext cx="11783050" cy="647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1" title="היררכי  כל הגרפים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200" y="430512"/>
            <a:ext cx="11226301" cy="58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8" name="Google Shape;32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825" y="132400"/>
            <a:ext cx="11783050" cy="647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2" title="GMM כל הגרפים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925" y="400525"/>
            <a:ext cx="11340848" cy="593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3"/>
          <p:cNvSpPr txBox="1"/>
          <p:nvPr/>
        </p:nvSpPr>
        <p:spPr>
          <a:xfrm>
            <a:off x="295275" y="3028950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
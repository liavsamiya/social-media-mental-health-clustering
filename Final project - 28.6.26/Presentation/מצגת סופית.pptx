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y="6858000" cx="12192000"/>
  <p:notesSz cx="6858000" cy="9144000"/>
  <p:embeddedFontLst>
    <p:embeddedFont>
      <p:font typeface="Poppins"/>
      <p:regular r:id="rId60"/>
      <p:bold r:id="rId61"/>
      <p:italic r:id="rId62"/>
      <p:boldItalic r:id="rId63"/>
    </p:embeddedFont>
    <p:embeddedFont>
      <p:font typeface="Inter"/>
      <p:regular r:id="rId64"/>
      <p:bold r:id="rId65"/>
      <p:italic r:id="rId66"/>
      <p:boldItalic r:id="rId67"/>
    </p:embeddedFont>
    <p:embeddedFont>
      <p:font typeface="Urbanist Medium"/>
      <p:regular r:id="rId68"/>
      <p:bold r:id="rId69"/>
      <p:italic r:id="rId70"/>
      <p:boldItalic r:id="rId71"/>
    </p:embeddedFont>
    <p:embeddedFont>
      <p:font typeface="Urbanist"/>
      <p:regular r:id="rId72"/>
      <p:bold r:id="rId73"/>
      <p:italic r:id="rId74"/>
      <p:boldItalic r:id="rId75"/>
    </p:embeddedFont>
    <p:embeddedFont>
      <p:font typeface="Poppins SemiBold"/>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80" roundtripDataSignature="AMtx7miNC3eRze0Jj9ZpwfNFHjPsAIU/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B8184B-9ED6-4E01-A838-0A322FCA3560}">
  <a:tblStyle styleId="{31B8184B-9ED6-4E01-A838-0A322FCA3560}"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b="off" i="off"/>
      <a:tcStyle>
        <a:fill>
          <a:solidFill>
            <a:srgbClr val="CFD7E7"/>
          </a:solidFill>
        </a:fill>
      </a:tcStyle>
    </a:band1H>
    <a:band2H>
      <a:tcTxStyle b="off" i="off"/>
    </a:band2H>
    <a:band1V>
      <a:tcTxStyle b="off" i="off"/>
      <a:tcStyle>
        <a:fill>
          <a:solidFill>
            <a:srgbClr val="CFD7E7"/>
          </a:solidFill>
        </a:fill>
      </a:tcStyle>
    </a:band1V>
    <a:band2V>
      <a:tcTxStyle b="off" i="off"/>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Urbanist-bold.fntdata"/><Relationship Id="rId72" Type="http://schemas.openxmlformats.org/officeDocument/2006/relationships/font" Target="fonts/Urbanist-regular.fntdata"/><Relationship Id="rId31" Type="http://schemas.openxmlformats.org/officeDocument/2006/relationships/slide" Target="slides/slide24.xml"/><Relationship Id="rId75" Type="http://schemas.openxmlformats.org/officeDocument/2006/relationships/font" Target="fonts/Urbanist-boldItalic.fntdata"/><Relationship Id="rId30" Type="http://schemas.openxmlformats.org/officeDocument/2006/relationships/slide" Target="slides/slide23.xml"/><Relationship Id="rId74" Type="http://schemas.openxmlformats.org/officeDocument/2006/relationships/font" Target="fonts/Urbanist-italic.fntdata"/><Relationship Id="rId33" Type="http://schemas.openxmlformats.org/officeDocument/2006/relationships/slide" Target="slides/slide26.xml"/><Relationship Id="rId77" Type="http://schemas.openxmlformats.org/officeDocument/2006/relationships/font" Target="fonts/PoppinsSemiBold-bold.fntdata"/><Relationship Id="rId32" Type="http://schemas.openxmlformats.org/officeDocument/2006/relationships/slide" Target="slides/slide25.xml"/><Relationship Id="rId76" Type="http://schemas.openxmlformats.org/officeDocument/2006/relationships/font" Target="fonts/PoppinsSemiBold-regular.fntdata"/><Relationship Id="rId35" Type="http://schemas.openxmlformats.org/officeDocument/2006/relationships/slide" Target="slides/slide28.xml"/><Relationship Id="rId79" Type="http://schemas.openxmlformats.org/officeDocument/2006/relationships/font" Target="fonts/PoppinsSemiBold-boldItalic.fntdata"/><Relationship Id="rId34" Type="http://schemas.openxmlformats.org/officeDocument/2006/relationships/slide" Target="slides/slide27.xml"/><Relationship Id="rId78" Type="http://schemas.openxmlformats.org/officeDocument/2006/relationships/font" Target="fonts/PoppinsSemiBold-italic.fntdata"/><Relationship Id="rId71" Type="http://schemas.openxmlformats.org/officeDocument/2006/relationships/font" Target="fonts/UrbanistMedium-boldItalic.fntdata"/><Relationship Id="rId70" Type="http://schemas.openxmlformats.org/officeDocument/2006/relationships/font" Target="fonts/UrbanistMedium-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font" Target="fonts/Poppins-italic.fntdata"/><Relationship Id="rId61" Type="http://schemas.openxmlformats.org/officeDocument/2006/relationships/font" Target="fonts/Poppins-bold.fntdata"/><Relationship Id="rId20" Type="http://schemas.openxmlformats.org/officeDocument/2006/relationships/slide" Target="slides/slide13.xml"/><Relationship Id="rId64" Type="http://schemas.openxmlformats.org/officeDocument/2006/relationships/font" Target="fonts/Inter-regular.fntdata"/><Relationship Id="rId63" Type="http://schemas.openxmlformats.org/officeDocument/2006/relationships/font" Target="fonts/Poppins-boldItalic.fntdata"/><Relationship Id="rId22" Type="http://schemas.openxmlformats.org/officeDocument/2006/relationships/slide" Target="slides/slide15.xml"/><Relationship Id="rId66" Type="http://schemas.openxmlformats.org/officeDocument/2006/relationships/font" Target="fonts/Inter-italic.fntdata"/><Relationship Id="rId21" Type="http://schemas.openxmlformats.org/officeDocument/2006/relationships/slide" Target="slides/slide14.xml"/><Relationship Id="rId65" Type="http://schemas.openxmlformats.org/officeDocument/2006/relationships/font" Target="fonts/Inter-bold.fntdata"/><Relationship Id="rId24" Type="http://schemas.openxmlformats.org/officeDocument/2006/relationships/slide" Target="slides/slide17.xml"/><Relationship Id="rId68" Type="http://schemas.openxmlformats.org/officeDocument/2006/relationships/font" Target="fonts/UrbanistMedium-regular.fntdata"/><Relationship Id="rId23" Type="http://schemas.openxmlformats.org/officeDocument/2006/relationships/slide" Target="slides/slide16.xml"/><Relationship Id="rId67" Type="http://schemas.openxmlformats.org/officeDocument/2006/relationships/font" Target="fonts/Inter-boldItalic.fntdata"/><Relationship Id="rId60" Type="http://schemas.openxmlformats.org/officeDocument/2006/relationships/font" Target="fonts/Poppins-regular.fntdata"/><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UrbanistMedium-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f41cf2314_0_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8" name="Google Shape;168;g3ef41cf2314_0_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ef41cf231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g3ef41cf231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5" name="Google Shape;175;g3ef41cf2314_0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2" name="Google Shape;19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ef41cf2314_0_1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4" name="Google Shape;214;g3ef41cf2314_0_1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5" name="Google Shape;25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2" name="Google Shape;27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ef1b092390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g3ef1b092390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ef4ae7413f_0_1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hide</a:t>
            </a:r>
            <a:endParaRPr/>
          </a:p>
        </p:txBody>
      </p:sp>
      <p:sp>
        <p:nvSpPr>
          <p:cNvPr id="332" name="Google Shape;332;g3ef4ae7413f_0_1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ef4ae7413f_0_18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hide</a:t>
            </a:r>
            <a:endParaRPr/>
          </a:p>
        </p:txBody>
      </p:sp>
      <p:sp>
        <p:nvSpPr>
          <p:cNvPr id="359" name="Google Shape;359;g3ef4ae7413f_0_1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2" name="Google Shape;38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0" name="Google Shape;410;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add full pca name</a:t>
            </a:r>
            <a:endParaRPr/>
          </a:p>
        </p:txBody>
      </p:sp>
      <p:sp>
        <p:nvSpPr>
          <p:cNvPr id="457" name="Google Shape;45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9" name="Google Shape;499;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6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0" name="Google Shape;56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5" name="Google Shape;595;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9" name="Google Shape;60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3" name="Google Shape;62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5" name="Shape 635"/>
        <p:cNvGrpSpPr/>
        <p:nvPr/>
      </p:nvGrpSpPr>
      <p:grpSpPr>
        <a:xfrm>
          <a:off x="0" y="0"/>
          <a:ext cx="0" cy="0"/>
          <a:chOff x="0" y="0"/>
          <a:chExt cx="0" cy="0"/>
        </a:xfrm>
      </p:grpSpPr>
      <p:sp>
        <p:nvSpPr>
          <p:cNvPr id="636" name="Google Shape;636;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להסביר את היתרונות של הGMM ולמה שמרנו רק אותו</a:t>
            </a:r>
            <a:endParaRPr/>
          </a:p>
        </p:txBody>
      </p:sp>
      <p:sp>
        <p:nvSpPr>
          <p:cNvPr id="637" name="Google Shape;63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5" name="Google Shape;665;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9" name="Google Shape;67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add gmm to the title</a:t>
            </a:r>
            <a:endParaRPr/>
          </a:p>
          <a:p>
            <a:pPr indent="0" lvl="0" marL="0" rtl="0" algn="l">
              <a:lnSpc>
                <a:spcPct val="100000"/>
              </a:lnSpc>
              <a:spcBef>
                <a:spcPts val="0"/>
              </a:spcBef>
              <a:spcAft>
                <a:spcPts val="0"/>
              </a:spcAft>
              <a:buSzPts val="1400"/>
              <a:buNone/>
            </a:pPr>
            <a:r>
              <a:t/>
            </a:r>
            <a:endParaRPr/>
          </a:p>
        </p:txBody>
      </p:sp>
      <p:sp>
        <p:nvSpPr>
          <p:cNvPr id="723" name="Google Shape;723;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6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add gmm to the title</a:t>
            </a:r>
            <a:endParaRPr/>
          </a:p>
          <a:p>
            <a:pPr indent="0" lvl="0" marL="0" rtl="0" algn="l">
              <a:lnSpc>
                <a:spcPct val="100000"/>
              </a:lnSpc>
              <a:spcBef>
                <a:spcPts val="0"/>
              </a:spcBef>
              <a:spcAft>
                <a:spcPts val="0"/>
              </a:spcAft>
              <a:buSzPts val="1400"/>
              <a:buNone/>
            </a:pPr>
            <a:r>
              <a:t/>
            </a:r>
            <a:endParaRPr/>
          </a:p>
        </p:txBody>
      </p:sp>
      <p:sp>
        <p:nvSpPr>
          <p:cNvPr id="738" name="Google Shape;73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2" name="Google Shape;752;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66" name="Google Shape;766;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0" name="Google Shape;78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4" name="Google Shape;794;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9" name="Google Shape;82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we chose k=3 because it’s the breaking point</a:t>
            </a:r>
            <a:endParaRPr/>
          </a:p>
        </p:txBody>
      </p:sp>
      <p:sp>
        <p:nvSpPr>
          <p:cNvPr id="870" name="Google Shape;87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4" name="Google Shape;93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add a work timeline</a:t>
            </a:r>
            <a:endParaRPr/>
          </a:p>
          <a:p>
            <a:pPr indent="0" lvl="0" marL="0" rtl="1" algn="r">
              <a:lnSpc>
                <a:spcPct val="100000"/>
              </a:lnSpc>
              <a:spcBef>
                <a:spcPts val="0"/>
              </a:spcBef>
              <a:spcAft>
                <a:spcPts val="0"/>
              </a:spcAft>
              <a:buSzPts val="1400"/>
              <a:buNone/>
            </a:pPr>
            <a:r>
              <a:rPr lang="en-US"/>
              <a:t>לא להגיד שהתוצאות יותר טובות אבל יותר שקל לנו לראות את התוצאות בNMF</a:t>
            </a:r>
            <a:endParaRPr/>
          </a:p>
        </p:txBody>
      </p:sp>
      <p:sp>
        <p:nvSpPr>
          <p:cNvPr id="978" name="Google Shape;978;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0" name="Shape 1010"/>
        <p:cNvGrpSpPr/>
        <p:nvPr/>
      </p:nvGrpSpPr>
      <p:grpSpPr>
        <a:xfrm>
          <a:off x="0" y="0"/>
          <a:ext cx="0" cy="0"/>
          <a:chOff x="0" y="0"/>
          <a:chExt cx="0" cy="0"/>
        </a:xfrm>
      </p:grpSpPr>
      <p:sp>
        <p:nvSpPr>
          <p:cNvPr id="1011" name="Google Shape;1011;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2" name="Google Shape;101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7" name="Shape 1027"/>
        <p:cNvGrpSpPr/>
        <p:nvPr/>
      </p:nvGrpSpPr>
      <p:grpSpPr>
        <a:xfrm>
          <a:off x="0" y="0"/>
          <a:ext cx="0" cy="0"/>
          <a:chOff x="0" y="0"/>
          <a:chExt cx="0" cy="0"/>
        </a:xfrm>
      </p:grpSpPr>
      <p:sp>
        <p:nvSpPr>
          <p:cNvPr id="1028" name="Google Shape;1028;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9" name="Google Shape;102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4" name="Shape 1044"/>
        <p:cNvGrpSpPr/>
        <p:nvPr/>
      </p:nvGrpSpPr>
      <p:grpSpPr>
        <a:xfrm>
          <a:off x="0" y="0"/>
          <a:ext cx="0" cy="0"/>
          <a:chOff x="0" y="0"/>
          <a:chExt cx="0" cy="0"/>
        </a:xfrm>
      </p:grpSpPr>
      <p:sp>
        <p:nvSpPr>
          <p:cNvPr id="1045" name="Google Shape;1045;p5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6" name="Google Shape;1046;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5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3" name="Google Shape;106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p5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5" name="Shape 1095"/>
        <p:cNvGrpSpPr/>
        <p:nvPr/>
      </p:nvGrpSpPr>
      <p:grpSpPr>
        <a:xfrm>
          <a:off x="0" y="0"/>
          <a:ext cx="0" cy="0"/>
          <a:chOff x="0" y="0"/>
          <a:chExt cx="0" cy="0"/>
        </a:xfrm>
      </p:grpSpPr>
      <p:sp>
        <p:nvSpPr>
          <p:cNvPr id="1096" name="Google Shape;1096;p5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7" name="Google Shape;1097;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2" name="Shape 1112"/>
        <p:cNvGrpSpPr/>
        <p:nvPr/>
      </p:nvGrpSpPr>
      <p:grpSpPr>
        <a:xfrm>
          <a:off x="0" y="0"/>
          <a:ext cx="0" cy="0"/>
          <a:chOff x="0" y="0"/>
          <a:chExt cx="0" cy="0"/>
        </a:xfrm>
      </p:grpSpPr>
      <p:sp>
        <p:nvSpPr>
          <p:cNvPr id="1113" name="Google Shape;1113;p6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להוסיף מסקנות </a:t>
            </a:r>
            <a:endParaRPr/>
          </a:p>
          <a:p>
            <a:pPr indent="0" lvl="0" marL="0" rtl="1" algn="r">
              <a:lnSpc>
                <a:spcPct val="100000"/>
              </a:lnSpc>
              <a:spcBef>
                <a:spcPts val="0"/>
              </a:spcBef>
              <a:spcAft>
                <a:spcPts val="0"/>
              </a:spcAft>
              <a:buSzPts val="1400"/>
              <a:buNone/>
            </a:pPr>
            <a:r>
              <a:t/>
            </a:r>
            <a:endParaRPr/>
          </a:p>
        </p:txBody>
      </p:sp>
      <p:sp>
        <p:nvSpPr>
          <p:cNvPr id="1114" name="Google Shape;111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7" name="Shape 1147"/>
        <p:cNvGrpSpPr/>
        <p:nvPr/>
      </p:nvGrpSpPr>
      <p:grpSpPr>
        <a:xfrm>
          <a:off x="0" y="0"/>
          <a:ext cx="0" cy="0"/>
          <a:chOff x="0" y="0"/>
          <a:chExt cx="0" cy="0"/>
        </a:xfrm>
      </p:grpSpPr>
      <p:sp>
        <p:nvSpPr>
          <p:cNvPr id="1148" name="Google Shape;1148;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9" name="Google Shape;114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g3ef7fb0d004_1_1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0" name="Google Shape;1190;g3ef7fb0d004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2" name="Shape 1202"/>
        <p:cNvGrpSpPr/>
        <p:nvPr/>
      </p:nvGrpSpPr>
      <p:grpSpPr>
        <a:xfrm>
          <a:off x="0" y="0"/>
          <a:ext cx="0" cy="0"/>
          <a:chOff x="0" y="0"/>
          <a:chExt cx="0" cy="0"/>
        </a:xfrm>
      </p:grpSpPr>
      <p:sp>
        <p:nvSpPr>
          <p:cNvPr id="1203" name="Google Shape;1203;p6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להוסיף מסקנות </a:t>
            </a:r>
            <a:endParaRPr/>
          </a:p>
          <a:p>
            <a:pPr indent="0" lvl="0" marL="0" rtl="1" algn="r">
              <a:lnSpc>
                <a:spcPct val="100000"/>
              </a:lnSpc>
              <a:spcBef>
                <a:spcPts val="0"/>
              </a:spcBef>
              <a:spcAft>
                <a:spcPts val="0"/>
              </a:spcAft>
              <a:buSzPts val="1400"/>
              <a:buNone/>
            </a:pPr>
            <a:r>
              <a:t/>
            </a:r>
            <a:endParaRPr/>
          </a:p>
        </p:txBody>
      </p:sp>
      <p:sp>
        <p:nvSpPr>
          <p:cNvPr id="1204" name="Google Shape;1204;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7" name="Shape 1237"/>
        <p:cNvGrpSpPr/>
        <p:nvPr/>
      </p:nvGrpSpPr>
      <p:grpSpPr>
        <a:xfrm>
          <a:off x="0" y="0"/>
          <a:ext cx="0" cy="0"/>
          <a:chOff x="0" y="0"/>
          <a:chExt cx="0" cy="0"/>
        </a:xfrm>
      </p:grpSpPr>
      <p:sp>
        <p:nvSpPr>
          <p:cNvPr id="1238" name="Google Shape;1238;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1" algn="r">
              <a:lnSpc>
                <a:spcPct val="100000"/>
              </a:lnSpc>
              <a:spcBef>
                <a:spcPts val="0"/>
              </a:spcBef>
              <a:spcAft>
                <a:spcPts val="0"/>
              </a:spcAft>
              <a:buSzPts val="1400"/>
              <a:buNone/>
            </a:pPr>
            <a:r>
              <a:rPr lang="en-US"/>
              <a:t>להוסיף מסקנות </a:t>
            </a:r>
            <a:endParaRPr/>
          </a:p>
          <a:p>
            <a:pPr indent="0" lvl="0" marL="0" rtl="1" algn="r">
              <a:lnSpc>
                <a:spcPct val="100000"/>
              </a:lnSpc>
              <a:spcBef>
                <a:spcPts val="0"/>
              </a:spcBef>
              <a:spcAft>
                <a:spcPts val="0"/>
              </a:spcAft>
              <a:buSzPts val="1400"/>
              <a:buNone/>
            </a:pPr>
            <a:r>
              <a:t/>
            </a:r>
            <a:endParaRPr/>
          </a:p>
        </p:txBody>
      </p:sp>
      <p:sp>
        <p:nvSpPr>
          <p:cNvPr id="1239" name="Google Shape;1239;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sp>
        <p:nvSpPr>
          <p:cNvPr id="26" name="Google Shape;26;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8" name="Google Shape;2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8"/>
          <p:cNvSpPr/>
          <p:nvPr>
            <p:ph idx="2" type="pic"/>
          </p:nvPr>
        </p:nvSpPr>
        <p:spPr>
          <a:xfrm>
            <a:off x="1792288" y="612775"/>
            <a:ext cx="5486400" cy="4114800"/>
          </a:xfrm>
          <a:prstGeom prst="rect">
            <a:avLst/>
          </a:prstGeom>
          <a:noFill/>
          <a:ln>
            <a:noFill/>
          </a:ln>
        </p:spPr>
      </p:sp>
      <p:sp>
        <p:nvSpPr>
          <p:cNvPr id="68" name="Google Shape;68;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g3ef4ae7413f_0_54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g3ef4ae7413f_0_54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g3ef4ae7413f_0_54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4" name="Shape 94"/>
        <p:cNvGrpSpPr/>
        <p:nvPr/>
      </p:nvGrpSpPr>
      <p:grpSpPr>
        <a:xfrm>
          <a:off x="0" y="0"/>
          <a:ext cx="0" cy="0"/>
          <a:chOff x="0" y="0"/>
          <a:chExt cx="0" cy="0"/>
        </a:xfrm>
      </p:grpSpPr>
      <p:sp>
        <p:nvSpPr>
          <p:cNvPr id="95" name="Google Shape;95;g3ef4ae7413f_0_549"/>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g3ef4ae7413f_0_54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7" name="Google Shape;97;g3ef4ae7413f_0_54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g3ef4ae7413f_0_54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g3ef4ae7413f_0_54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0" name="Shape 100"/>
        <p:cNvGrpSpPr/>
        <p:nvPr/>
      </p:nvGrpSpPr>
      <p:grpSpPr>
        <a:xfrm>
          <a:off x="0" y="0"/>
          <a:ext cx="0" cy="0"/>
          <a:chOff x="0" y="0"/>
          <a:chExt cx="0" cy="0"/>
        </a:xfrm>
      </p:grpSpPr>
      <p:sp>
        <p:nvSpPr>
          <p:cNvPr id="101" name="Google Shape;101;g3ef4ae7413f_0_55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g3ef4ae7413f_0_55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3" name="Google Shape;103;g3ef4ae7413f_0_55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g3ef4ae7413f_0_55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g3ef4ae7413f_0_55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6" name="Shape 106"/>
        <p:cNvGrpSpPr/>
        <p:nvPr/>
      </p:nvGrpSpPr>
      <p:grpSpPr>
        <a:xfrm>
          <a:off x="0" y="0"/>
          <a:ext cx="0" cy="0"/>
          <a:chOff x="0" y="0"/>
          <a:chExt cx="0" cy="0"/>
        </a:xfrm>
      </p:grpSpPr>
      <p:sp>
        <p:nvSpPr>
          <p:cNvPr id="107" name="Google Shape;107;g3ef4ae7413f_0_561"/>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g3ef4ae7413f_0_561"/>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9" name="Google Shape;109;g3ef4ae7413f_0_56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g3ef4ae7413f_0_56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g3ef4ae7413f_0_56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2" name="Shape 112"/>
        <p:cNvGrpSpPr/>
        <p:nvPr/>
      </p:nvGrpSpPr>
      <p:grpSpPr>
        <a:xfrm>
          <a:off x="0" y="0"/>
          <a:ext cx="0" cy="0"/>
          <a:chOff x="0" y="0"/>
          <a:chExt cx="0" cy="0"/>
        </a:xfrm>
      </p:grpSpPr>
      <p:sp>
        <p:nvSpPr>
          <p:cNvPr id="113" name="Google Shape;113;g3ef4ae7413f_0_56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g3ef4ae7413f_0_56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5" name="Google Shape;115;g3ef4ae7413f_0_56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6" name="Google Shape;116;g3ef4ae7413f_0_56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g3ef4ae7413f_0_56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g3ef4ae7413f_0_56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9" name="Shape 119"/>
        <p:cNvGrpSpPr/>
        <p:nvPr/>
      </p:nvGrpSpPr>
      <p:grpSpPr>
        <a:xfrm>
          <a:off x="0" y="0"/>
          <a:ext cx="0" cy="0"/>
          <a:chOff x="0" y="0"/>
          <a:chExt cx="0" cy="0"/>
        </a:xfrm>
      </p:grpSpPr>
      <p:sp>
        <p:nvSpPr>
          <p:cNvPr id="120" name="Google Shape;120;g3ef4ae7413f_0_5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g3ef4ae7413f_0_574"/>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2" name="Google Shape;122;g3ef4ae7413f_0_574"/>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3" name="Google Shape;123;g3ef4ae7413f_0_574"/>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4" name="Google Shape;124;g3ef4ae7413f_0_574"/>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5" name="Google Shape;125;g3ef4ae7413f_0_57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g3ef4ae7413f_0_57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g3ef4ae7413f_0_57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8" name="Shape 128"/>
        <p:cNvGrpSpPr/>
        <p:nvPr/>
      </p:nvGrpSpPr>
      <p:grpSpPr>
        <a:xfrm>
          <a:off x="0" y="0"/>
          <a:ext cx="0" cy="0"/>
          <a:chOff x="0" y="0"/>
          <a:chExt cx="0" cy="0"/>
        </a:xfrm>
      </p:grpSpPr>
      <p:sp>
        <p:nvSpPr>
          <p:cNvPr id="129" name="Google Shape;129;g3ef4ae7413f_0_5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g3ef4ae7413f_0_58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g3ef4ae7413f_0_58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g3ef4ae7413f_0_58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3" name="Shape 133"/>
        <p:cNvGrpSpPr/>
        <p:nvPr/>
      </p:nvGrpSpPr>
      <p:grpSpPr>
        <a:xfrm>
          <a:off x="0" y="0"/>
          <a:ext cx="0" cy="0"/>
          <a:chOff x="0" y="0"/>
          <a:chExt cx="0" cy="0"/>
        </a:xfrm>
      </p:grpSpPr>
      <p:sp>
        <p:nvSpPr>
          <p:cNvPr id="134" name="Google Shape;134;g3ef4ae7413f_0_588"/>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g3ef4ae7413f_0_588"/>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6" name="Google Shape;136;g3ef4ae7413f_0_588"/>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7" name="Google Shape;137;g3ef4ae7413f_0_58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g3ef4ae7413f_0_58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g3ef4ae7413f_0_58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0" name="Shape 140"/>
        <p:cNvGrpSpPr/>
        <p:nvPr/>
      </p:nvGrpSpPr>
      <p:grpSpPr>
        <a:xfrm>
          <a:off x="0" y="0"/>
          <a:ext cx="0" cy="0"/>
          <a:chOff x="0" y="0"/>
          <a:chExt cx="0" cy="0"/>
        </a:xfrm>
      </p:grpSpPr>
      <p:sp>
        <p:nvSpPr>
          <p:cNvPr id="141" name="Google Shape;141;g3ef4ae7413f_0_595"/>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g3ef4ae7413f_0_595"/>
          <p:cNvSpPr/>
          <p:nvPr>
            <p:ph idx="2" type="pic"/>
          </p:nvPr>
        </p:nvSpPr>
        <p:spPr>
          <a:xfrm>
            <a:off x="1792288" y="612775"/>
            <a:ext cx="5486400" cy="4114800"/>
          </a:xfrm>
          <a:prstGeom prst="rect">
            <a:avLst/>
          </a:prstGeom>
          <a:noFill/>
          <a:ln>
            <a:noFill/>
          </a:ln>
        </p:spPr>
      </p:sp>
      <p:sp>
        <p:nvSpPr>
          <p:cNvPr id="143" name="Google Shape;143;g3ef4ae7413f_0_595"/>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4" name="Google Shape;144;g3ef4ae7413f_0_59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g3ef4ae7413f_0_59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g3ef4ae7413f_0_59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7" name="Shape 147"/>
        <p:cNvGrpSpPr/>
        <p:nvPr/>
      </p:nvGrpSpPr>
      <p:grpSpPr>
        <a:xfrm>
          <a:off x="0" y="0"/>
          <a:ext cx="0" cy="0"/>
          <a:chOff x="0" y="0"/>
          <a:chExt cx="0" cy="0"/>
        </a:xfrm>
      </p:grpSpPr>
      <p:sp>
        <p:nvSpPr>
          <p:cNvPr id="148" name="Google Shape;148;g3ef4ae7413f_0_6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g3ef4ae7413f_0_602"/>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0" name="Google Shape;150;g3ef4ae7413f_0_60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g3ef4ae7413f_0_60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g3ef4ae7413f_0_60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g3ef4ae7413f_0_608"/>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g3ef4ae7413f_0_608"/>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6" name="Google Shape;156;g3ef4ae7413f_0_60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7" name="Google Shape;157;g3ef4ae7413f_0_60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ef4ae7413f_0_60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1329"/>
        </a:solidFill>
      </p:bgPr>
    </p:bg>
    <p:spTree>
      <p:nvGrpSpPr>
        <p:cNvPr id="9" name="Shape 9"/>
        <p:cNvGrpSpPr/>
        <p:nvPr/>
      </p:nvGrpSpPr>
      <p:grpSpPr>
        <a:xfrm>
          <a:off x="0" y="0"/>
          <a:ext cx="0" cy="0"/>
          <a:chOff x="0" y="0"/>
          <a:chExt cx="0" cy="0"/>
        </a:xfrm>
      </p:grpSpPr>
      <p:sp>
        <p:nvSpPr>
          <p:cNvPr id="10" name="Google Shape;1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 name="Shape 84"/>
        <p:cNvGrpSpPr/>
        <p:nvPr/>
      </p:nvGrpSpPr>
      <p:grpSpPr>
        <a:xfrm>
          <a:off x="0" y="0"/>
          <a:ext cx="0" cy="0"/>
          <a:chOff x="0" y="0"/>
          <a:chExt cx="0" cy="0"/>
        </a:xfrm>
      </p:grpSpPr>
      <p:sp>
        <p:nvSpPr>
          <p:cNvPr id="85" name="Google Shape;85;g3ef4ae7413f_0_5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g3ef4ae7413f_0_53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7" name="Google Shape;87;g3ef4ae7413f_0_53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g3ef4ae7413f_0_53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g3ef4ae7413f_0_53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1" Type="http://schemas.openxmlformats.org/officeDocument/2006/relationships/image" Target="../media/image5.jpg"/><Relationship Id="rId10" Type="http://schemas.openxmlformats.org/officeDocument/2006/relationships/image" Target="../media/image11.jpg"/><Relationship Id="rId13" Type="http://schemas.openxmlformats.org/officeDocument/2006/relationships/image" Target="../media/image24.png"/><Relationship Id="rId12" Type="http://schemas.openxmlformats.org/officeDocument/2006/relationships/image" Target="../media/image10.png"/><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14" Type="http://schemas.openxmlformats.org/officeDocument/2006/relationships/image" Target="../media/image12.pn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xml.rels><?xml version="1.0" encoding="UTF-8" standalone="yes"?><Relationships xmlns="http://schemas.openxmlformats.org/package/2006/relationships"><Relationship Id="rId11" Type="http://schemas.openxmlformats.org/officeDocument/2006/relationships/image" Target="../media/image9.png"/><Relationship Id="rId10" Type="http://schemas.openxmlformats.org/officeDocument/2006/relationships/image" Target="../media/image11.jpg"/><Relationship Id="rId12" Type="http://schemas.openxmlformats.org/officeDocument/2006/relationships/image" Target="../media/image13.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5.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6.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7.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9.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6.png"/><Relationship Id="rId4" Type="http://schemas.openxmlformats.org/officeDocument/2006/relationships/image" Target="../media/image28.png"/><Relationship Id="rId9"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17.png"/><Relationship Id="rId7" Type="http://schemas.openxmlformats.org/officeDocument/2006/relationships/image" Target="../media/image15.png"/><Relationship Id="rId8"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36.png"/><Relationship Id="rId4" Type="http://schemas.openxmlformats.org/officeDocument/2006/relationships/image" Target="../media/image18.png"/><Relationship Id="rId5" Type="http://schemas.openxmlformats.org/officeDocument/2006/relationships/image" Target="../media/image27.png"/><Relationship Id="rId6" Type="http://schemas.openxmlformats.org/officeDocument/2006/relationships/image" Target="../media/image25.png"/><Relationship Id="rId7" Type="http://schemas.openxmlformats.org/officeDocument/2006/relationships/image" Target="../media/image21.png"/></Relationships>
</file>

<file path=ppt/slides/_rels/slide13.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2.png"/><Relationship Id="rId4" Type="http://schemas.openxmlformats.org/officeDocument/2006/relationships/image" Target="../media/image19.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62.png"/><Relationship Id="rId8" Type="http://schemas.openxmlformats.org/officeDocument/2006/relationships/image" Target="../media/image29.png"/></Relationships>
</file>

<file path=ppt/slides/_rels/slide16.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17.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22.png"/><Relationship Id="rId8" Type="http://schemas.openxmlformats.org/officeDocument/2006/relationships/image" Target="../media/image62.png"/></Relationships>
</file>

<file path=ppt/slides/_rels/slide19.xml.rels><?xml version="1.0" encoding="UTF-8" standalone="yes"?><Relationships xmlns="http://schemas.openxmlformats.org/package/2006/relationships"><Relationship Id="rId11" Type="http://schemas.openxmlformats.org/officeDocument/2006/relationships/image" Target="../media/image11.jpg"/><Relationship Id="rId10" Type="http://schemas.openxmlformats.org/officeDocument/2006/relationships/image" Target="../media/image8.jpg"/><Relationship Id="rId12"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6.png"/><Relationship Id="rId4" Type="http://schemas.openxmlformats.org/officeDocument/2006/relationships/image" Target="../media/image32.png"/><Relationship Id="rId9" Type="http://schemas.openxmlformats.org/officeDocument/2006/relationships/image" Target="../media/image6.png"/><Relationship Id="rId5" Type="http://schemas.openxmlformats.org/officeDocument/2006/relationships/image" Target="../media/image3.jpg"/><Relationship Id="rId6" Type="http://schemas.openxmlformats.org/officeDocument/2006/relationships/image" Target="../media/image1.png"/><Relationship Id="rId7" Type="http://schemas.openxmlformats.org/officeDocument/2006/relationships/image" Target="../media/image7.png"/><Relationship Id="rId8" Type="http://schemas.openxmlformats.org/officeDocument/2006/relationships/image" Target="../media/image4.png"/></Relationships>
</file>

<file path=ppt/slides/_rels/slide20.xml.rels><?xml version="1.0" encoding="UTF-8" standalone="yes"?><Relationships xmlns="http://schemas.openxmlformats.org/package/2006/relationships"><Relationship Id="rId11" Type="http://schemas.openxmlformats.org/officeDocument/2006/relationships/image" Target="../media/image38.png"/><Relationship Id="rId10" Type="http://schemas.openxmlformats.org/officeDocument/2006/relationships/image" Target="../media/image11.jpg"/><Relationship Id="rId12"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21.xml.rels><?xml version="1.0" encoding="UTF-8" standalone="yes"?><Relationships xmlns="http://schemas.openxmlformats.org/package/2006/relationships"><Relationship Id="rId11" Type="http://schemas.openxmlformats.org/officeDocument/2006/relationships/image" Target="../media/image37.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22.xml.rels><?xml version="1.0" encoding="UTF-8" standalone="yes"?><Relationships xmlns="http://schemas.openxmlformats.org/package/2006/relationships"><Relationship Id="rId10" Type="http://schemas.openxmlformats.org/officeDocument/2006/relationships/image" Target="../media/image35.png"/><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23.xml.rels><?xml version="1.0" encoding="UTF-8" standalone="yes"?><Relationships xmlns="http://schemas.openxmlformats.org/package/2006/relationships"><Relationship Id="rId11" Type="http://schemas.openxmlformats.org/officeDocument/2006/relationships/image" Target="../media/image44.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24.xml.rels><?xml version="1.0" encoding="UTF-8" standalone="yes"?><Relationships xmlns="http://schemas.openxmlformats.org/package/2006/relationships"><Relationship Id="rId10" Type="http://schemas.openxmlformats.org/officeDocument/2006/relationships/image" Target="../media/image41.png"/><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25.xml.rels><?xml version="1.0" encoding="UTF-8" standalone="yes"?><Relationships xmlns="http://schemas.openxmlformats.org/package/2006/relationships"><Relationship Id="rId11" Type="http://schemas.openxmlformats.org/officeDocument/2006/relationships/image" Target="../media/image39.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26.xml.rels><?xml version="1.0" encoding="UTF-8" standalone="yes"?><Relationships xmlns="http://schemas.openxmlformats.org/package/2006/relationships"><Relationship Id="rId10" Type="http://schemas.openxmlformats.org/officeDocument/2006/relationships/image" Target="../media/image46.png"/><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27.xml.rels><?xml version="1.0" encoding="UTF-8" standalone="yes"?><Relationships xmlns="http://schemas.openxmlformats.org/package/2006/relationships"><Relationship Id="rId10" Type="http://schemas.openxmlformats.org/officeDocument/2006/relationships/image" Target="../media/image43.png"/><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62.png"/><Relationship Id="rId8" Type="http://schemas.openxmlformats.org/officeDocument/2006/relationships/image" Target="../media/image22.png"/></Relationships>
</file>

<file path=ppt/slides/_rels/slide29.xml.rels><?xml version="1.0" encoding="UTF-8" standalone="yes"?><Relationships xmlns="http://schemas.openxmlformats.org/package/2006/relationships"><Relationship Id="rId11" Type="http://schemas.openxmlformats.org/officeDocument/2006/relationships/image" Target="../media/image48.png"/><Relationship Id="rId10" Type="http://schemas.openxmlformats.org/officeDocument/2006/relationships/image" Target="../media/image11.jpg"/><Relationship Id="rId12" Type="http://schemas.openxmlformats.org/officeDocument/2006/relationships/image" Target="../media/image42.png"/><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0.xml.rels><?xml version="1.0" encoding="UTF-8" standalone="yes"?><Relationships xmlns="http://schemas.openxmlformats.org/package/2006/relationships"><Relationship Id="rId11" Type="http://schemas.openxmlformats.org/officeDocument/2006/relationships/image" Target="../media/image51.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1.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2.xml.rels><?xml version="1.0" encoding="UTF-8" standalone="yes"?><Relationships xmlns="http://schemas.openxmlformats.org/package/2006/relationships"><Relationship Id="rId11" Type="http://schemas.openxmlformats.org/officeDocument/2006/relationships/image" Target="../media/image47.png"/><Relationship Id="rId10" Type="http://schemas.openxmlformats.org/officeDocument/2006/relationships/image" Target="../media/image11.jpg"/><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3.xml.rels><?xml version="1.0" encoding="UTF-8" standalone="yes"?><Relationships xmlns="http://schemas.openxmlformats.org/package/2006/relationships"><Relationship Id="rId10" Type="http://schemas.openxmlformats.org/officeDocument/2006/relationships/image" Target="../media/image45.png"/><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34.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31.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26.png"/><Relationship Id="rId6" Type="http://schemas.openxmlformats.org/officeDocument/2006/relationships/image" Target="../media/image23.png"/><Relationship Id="rId7" Type="http://schemas.openxmlformats.org/officeDocument/2006/relationships/image" Target="../media/image40.png"/><Relationship Id="rId8" Type="http://schemas.openxmlformats.org/officeDocument/2006/relationships/image" Target="../media/image22.png"/></Relationships>
</file>

<file path=ppt/slides/_rels/slide36.xml.rels><?xml version="1.0" encoding="UTF-8" standalone="yes"?><Relationships xmlns="http://schemas.openxmlformats.org/package/2006/relationships"><Relationship Id="rId11" Type="http://schemas.openxmlformats.org/officeDocument/2006/relationships/image" Target="../media/image50.png"/><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31.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49.png"/><Relationship Id="rId6" Type="http://schemas.openxmlformats.org/officeDocument/2006/relationships/image" Target="../media/image23.png"/><Relationship Id="rId7" Type="http://schemas.openxmlformats.org/officeDocument/2006/relationships/image" Target="../media/image40.png"/><Relationship Id="rId8" Type="http://schemas.openxmlformats.org/officeDocument/2006/relationships/image" Target="../media/image22.png"/></Relationships>
</file>

<file path=ppt/slides/_rels/slide38.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39.xml.rels><?xml version="1.0" encoding="UTF-8" standalone="yes"?><Relationships xmlns="http://schemas.openxmlformats.org/package/2006/relationships"><Relationship Id="rId11" Type="http://schemas.openxmlformats.org/officeDocument/2006/relationships/image" Target="../media/image54.png"/><Relationship Id="rId10" Type="http://schemas.openxmlformats.org/officeDocument/2006/relationships/image" Target="../media/image11.jpg"/><Relationship Id="rId13" Type="http://schemas.openxmlformats.org/officeDocument/2006/relationships/image" Target="../media/image53.png"/><Relationship Id="rId12" Type="http://schemas.openxmlformats.org/officeDocument/2006/relationships/image" Target="../media/image55.png"/><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0.xml.rels><?xml version="1.0" encoding="UTF-8" standalone="yes"?><Relationships xmlns="http://schemas.openxmlformats.org/package/2006/relationships"><Relationship Id="rId11" Type="http://schemas.openxmlformats.org/officeDocument/2006/relationships/image" Target="../media/image65.png"/><Relationship Id="rId10" Type="http://schemas.openxmlformats.org/officeDocument/2006/relationships/image" Target="../media/image11.jpg"/><Relationship Id="rId12" Type="http://schemas.openxmlformats.org/officeDocument/2006/relationships/image" Target="../media/image63.png"/><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1.xml.rels><?xml version="1.0" encoding="UTF-8" standalone="yes"?><Relationships xmlns="http://schemas.openxmlformats.org/package/2006/relationships"><Relationship Id="rId11" Type="http://schemas.openxmlformats.org/officeDocument/2006/relationships/image" Target="../media/image58.png"/><Relationship Id="rId10" Type="http://schemas.openxmlformats.org/officeDocument/2006/relationships/image" Target="../media/image11.jpg"/><Relationship Id="rId12" Type="http://schemas.openxmlformats.org/officeDocument/2006/relationships/image" Target="../media/image56.png"/><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36.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2.xml.rels><?xml version="1.0" encoding="UTF-8" standalone="yes"?><Relationships xmlns="http://schemas.openxmlformats.org/package/2006/relationships"><Relationship Id="rId11" Type="http://schemas.openxmlformats.org/officeDocument/2006/relationships/image" Target="../media/image60.png"/><Relationship Id="rId10" Type="http://schemas.openxmlformats.org/officeDocument/2006/relationships/image" Target="../media/image11.jpg"/><Relationship Id="rId12" Type="http://schemas.openxmlformats.org/officeDocument/2006/relationships/image" Target="../media/image59.png"/><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3.xml.rels><?xml version="1.0" encoding="UTF-8" standalone="yes"?><Relationships xmlns="http://schemas.openxmlformats.org/package/2006/relationships"><Relationship Id="rId11" Type="http://schemas.openxmlformats.org/officeDocument/2006/relationships/image" Target="../media/image60.png"/><Relationship Id="rId10" Type="http://schemas.openxmlformats.org/officeDocument/2006/relationships/image" Target="../media/image11.jpg"/><Relationship Id="rId12" Type="http://schemas.openxmlformats.org/officeDocument/2006/relationships/image" Target="../media/image59.png"/><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4.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11.jpg"/><Relationship Id="rId12"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5.xml.rels><?xml version="1.0" encoding="UTF-8" standalone="yes"?><Relationships xmlns="http://schemas.openxmlformats.org/package/2006/relationships"><Relationship Id="rId11" Type="http://schemas.openxmlformats.org/officeDocument/2006/relationships/image" Target="../media/image57.png"/><Relationship Id="rId10" Type="http://schemas.openxmlformats.org/officeDocument/2006/relationships/image" Target="../media/image11.jpg"/><Relationship Id="rId12"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46.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47.xml.rels><?xml version="1.0" encoding="UTF-8" standalone="yes"?><Relationships xmlns="http://schemas.openxmlformats.org/package/2006/relationships"><Relationship Id="rId11" Type="http://schemas.openxmlformats.org/officeDocument/2006/relationships/image" Target="../media/image66.png"/><Relationship Id="rId10" Type="http://schemas.openxmlformats.org/officeDocument/2006/relationships/image" Target="../media/image64.png"/><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1.png"/><Relationship Id="rId4" Type="http://schemas.openxmlformats.org/officeDocument/2006/relationships/image" Target="../media/image19.png"/><Relationship Id="rId9" Type="http://schemas.openxmlformats.org/officeDocument/2006/relationships/image" Target="../media/image29.png"/><Relationship Id="rId5" Type="http://schemas.openxmlformats.org/officeDocument/2006/relationships/image" Target="../media/image49.png"/><Relationship Id="rId6" Type="http://schemas.openxmlformats.org/officeDocument/2006/relationships/image" Target="../media/image23.png"/><Relationship Id="rId7" Type="http://schemas.openxmlformats.org/officeDocument/2006/relationships/image" Target="../media/image40.png"/><Relationship Id="rId8" Type="http://schemas.openxmlformats.org/officeDocument/2006/relationships/image" Target="../media/image22.png"/></Relationships>
</file>

<file path=ppt/slides/_rels/slide50.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51.xml.rels><?xml version="1.0" encoding="UTF-8" standalone="yes"?><Relationships xmlns="http://schemas.openxmlformats.org/package/2006/relationships"><Relationship Id="rId10" Type="http://schemas.openxmlformats.org/officeDocument/2006/relationships/image" Target="../media/image11.jpg"/><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2.png"/><Relationship Id="rId4" Type="http://schemas.openxmlformats.org/officeDocument/2006/relationships/image" Target="../media/image3.jpg"/><Relationship Id="rId9" Type="http://schemas.openxmlformats.org/officeDocument/2006/relationships/image" Target="../media/image8.jpg"/><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4.png"/><Relationship Id="rId8"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3.jpg"/><Relationship Id="rId4" Type="http://schemas.openxmlformats.org/officeDocument/2006/relationships/image" Target="../media/image1.png"/><Relationship Id="rId9" Type="http://schemas.openxmlformats.org/officeDocument/2006/relationships/image" Target="../media/image11.jp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image" Target="../media/image6.png"/><Relationship Id="rId8"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1"/>
          <p:cNvSpPr txBox="1"/>
          <p:nvPr/>
        </p:nvSpPr>
        <p:spPr>
          <a:xfrm>
            <a:off x="914400" y="2651760"/>
            <a:ext cx="10362900" cy="1508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600"/>
              <a:buFont typeface="Arial"/>
              <a:buNone/>
            </a:pPr>
            <a:r>
              <a:rPr b="1" i="0" lang="en-US" sz="4600" u="none" cap="none" strike="noStrike">
                <a:solidFill>
                  <a:srgbClr val="F8FAFC"/>
                </a:solidFill>
                <a:latin typeface="Poppins"/>
                <a:ea typeface="Poppins"/>
                <a:cs typeface="Poppins"/>
                <a:sym typeface="Poppins"/>
              </a:rPr>
              <a:t>Social Media Effects on Mental Health</a:t>
            </a:r>
            <a:endParaRPr b="0" i="0" sz="1400" u="none" cap="none" strike="noStrike">
              <a:solidFill>
                <a:srgbClr val="000000"/>
              </a:solidFill>
              <a:latin typeface="Arial"/>
              <a:ea typeface="Arial"/>
              <a:cs typeface="Arial"/>
              <a:sym typeface="Arial"/>
            </a:endParaRPr>
          </a:p>
        </p:txBody>
      </p:sp>
      <p:sp>
        <p:nvSpPr>
          <p:cNvPr id="164" name="Google Shape;164;p1"/>
          <p:cNvSpPr txBox="1"/>
          <p:nvPr/>
        </p:nvSpPr>
        <p:spPr>
          <a:xfrm>
            <a:off x="3073150" y="4386571"/>
            <a:ext cx="5787900" cy="43084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chemeClr val="lt1"/>
                </a:solidFill>
                <a:latin typeface="Calibri"/>
                <a:ea typeface="Calibri"/>
                <a:cs typeface="Calibri"/>
                <a:sym typeface="Calibri"/>
              </a:rPr>
              <a:t>Vered Shaulov   •   Elya </a:t>
            </a:r>
            <a:r>
              <a:rPr b="0" i="0" lang="en-US" sz="2200" u="none" cap="none" strike="noStrike">
                <a:solidFill>
                  <a:schemeClr val="lt1"/>
                </a:solidFill>
                <a:latin typeface="Calibri"/>
                <a:ea typeface="Calibri"/>
                <a:cs typeface="Calibri"/>
                <a:sym typeface="Calibri"/>
              </a:rPr>
              <a:t>Davar</a:t>
            </a:r>
            <a:r>
              <a:rPr b="0" i="0" lang="en-US" sz="2000" u="none" cap="none" strike="noStrike">
                <a:solidFill>
                  <a:schemeClr val="lt1"/>
                </a:solidFill>
                <a:latin typeface="Calibri"/>
                <a:ea typeface="Calibri"/>
                <a:cs typeface="Calibri"/>
                <a:sym typeface="Calibri"/>
              </a:rPr>
              <a:t>   •   Liav Samiya</a:t>
            </a:r>
            <a:endParaRPr b="0" i="0" sz="1400" u="none" cap="none" strike="noStrike">
              <a:solidFill>
                <a:srgbClr val="000000"/>
              </a:solidFill>
              <a:latin typeface="Calibri"/>
              <a:ea typeface="Calibri"/>
              <a:cs typeface="Calibri"/>
              <a:sym typeface="Calibri"/>
            </a:endParaRPr>
          </a:p>
        </p:txBody>
      </p:sp>
      <p:sp>
        <p:nvSpPr>
          <p:cNvPr id="165" name="Google Shape;165;p1"/>
          <p:cNvSpPr txBox="1"/>
          <p:nvPr/>
        </p:nvSpPr>
        <p:spPr>
          <a:xfrm>
            <a:off x="2083600" y="1686725"/>
            <a:ext cx="7767000" cy="523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2200"/>
              <a:buFont typeface="Arial"/>
              <a:buNone/>
            </a:pPr>
            <a:r>
              <a:rPr b="0" i="0" lang="en-US" sz="2200" u="none" cap="none" strike="noStrike">
                <a:solidFill>
                  <a:schemeClr val="lt1"/>
                </a:solidFill>
                <a:latin typeface="Calibri"/>
                <a:ea typeface="Calibri"/>
                <a:cs typeface="Calibri"/>
                <a:sym typeface="Calibri"/>
              </a:rPr>
              <a:t>Advanced Clustering &amp; Analysis</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69" name="Shape 169"/>
        <p:cNvGrpSpPr/>
        <p:nvPr/>
      </p:nvGrpSpPr>
      <p:grpSpPr>
        <a:xfrm>
          <a:off x="0" y="0"/>
          <a:ext cx="0" cy="0"/>
          <a:chOff x="0" y="0"/>
          <a:chExt cx="0" cy="0"/>
        </a:xfrm>
      </p:grpSpPr>
      <p:sp>
        <p:nvSpPr>
          <p:cNvPr id="170" name="Google Shape;170;g3ef41cf2314_0_64"/>
          <p:cNvSpPr txBox="1"/>
          <p:nvPr/>
        </p:nvSpPr>
        <p:spPr>
          <a:xfrm>
            <a:off x="295200" y="2405437"/>
            <a:ext cx="11601600" cy="138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38BDF8"/>
                </a:solidFill>
                <a:latin typeface="Urbanist"/>
                <a:ea typeface="Urbanist"/>
                <a:cs typeface="Urbanist"/>
                <a:sym typeface="Urbanist"/>
              </a:rPr>
              <a:t>Part 1: </a:t>
            </a:r>
            <a:r>
              <a:rPr b="0" i="0" lang="en-US" sz="3600" u="none" cap="none" strike="noStrike">
                <a:solidFill>
                  <a:srgbClr val="38BDF8"/>
                </a:solidFill>
                <a:latin typeface="Poppins SemiBold"/>
                <a:ea typeface="Poppins SemiBold"/>
                <a:cs typeface="Poppins SemiBold"/>
                <a:sym typeface="Poppins SemiBold"/>
              </a:rPr>
              <a:t>Dataset &amp; Objectives</a:t>
            </a:r>
            <a:endParaRPr b="0" i="0" sz="14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500"/>
              <a:buFont typeface="Arial"/>
              <a:buNone/>
            </a:pPr>
            <a:r>
              <a:t/>
            </a:r>
            <a:endParaRPr b="1" i="0" sz="4500" u="none" cap="none" strike="noStrike">
              <a:solidFill>
                <a:srgbClr val="38BDF8"/>
              </a:solidFill>
              <a:latin typeface="Urbanist"/>
              <a:ea typeface="Urbanist"/>
              <a:cs typeface="Urbanist"/>
              <a:sym typeface="Urbanist"/>
            </a:endParaRPr>
          </a:p>
        </p:txBody>
      </p:sp>
      <p:sp>
        <p:nvSpPr>
          <p:cNvPr id="171" name="Google Shape;171;g3ef41cf2314_0_64"/>
          <p:cNvSpPr txBox="1"/>
          <p:nvPr/>
        </p:nvSpPr>
        <p:spPr>
          <a:xfrm>
            <a:off x="2285925" y="3281737"/>
            <a:ext cx="7620000" cy="92333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000"/>
              <a:buFont typeface="Arial"/>
              <a:buNone/>
            </a:pPr>
            <a:r>
              <a:rPr b="0" i="0" lang="en-US" sz="2000" u="none" cap="none" strike="noStrike">
                <a:solidFill>
                  <a:srgbClr val="CBD5E1"/>
                </a:solidFill>
                <a:latin typeface="Calibri"/>
                <a:ea typeface="Calibri"/>
                <a:cs typeface="Calibri"/>
                <a:sym typeface="Calibri"/>
              </a:rPr>
              <a:t>The foundation of our exploratory data analysis and the core questions driving our models</a:t>
            </a:r>
            <a:endParaRPr b="0" i="0" sz="1600" u="none" cap="none" strike="noStrike">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g3ef41cf2314_0_0"/>
          <p:cNvSpPr txBox="1"/>
          <p:nvPr/>
        </p:nvSpPr>
        <p:spPr>
          <a:xfrm>
            <a:off x="731520" y="457200"/>
            <a:ext cx="82296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Social Media in the Courtroom</a:t>
            </a:r>
            <a:endParaRPr b="1" i="0" sz="2600" u="none" cap="none" strike="noStrike">
              <a:solidFill>
                <a:srgbClr val="F8FAFC"/>
              </a:solidFill>
              <a:latin typeface="Poppins"/>
              <a:ea typeface="Poppins"/>
              <a:cs typeface="Poppins"/>
              <a:sym typeface="Poppins"/>
            </a:endParaRPr>
          </a:p>
        </p:txBody>
      </p:sp>
      <p:grpSp>
        <p:nvGrpSpPr>
          <p:cNvPr id="178" name="Google Shape;178;g3ef41cf2314_0_0"/>
          <p:cNvGrpSpPr/>
          <p:nvPr/>
        </p:nvGrpSpPr>
        <p:grpSpPr>
          <a:xfrm>
            <a:off x="9664721" y="132225"/>
            <a:ext cx="2449204" cy="341906"/>
            <a:chOff x="9619565" y="209082"/>
            <a:chExt cx="2449204" cy="341906"/>
          </a:xfrm>
        </p:grpSpPr>
        <p:pic>
          <p:nvPicPr>
            <p:cNvPr id="179" name="Google Shape;179;g3ef41cf2314_0_0"/>
            <p:cNvPicPr preferRelativeResize="0"/>
            <p:nvPr/>
          </p:nvPicPr>
          <p:blipFill rotWithShape="1">
            <a:blip r:embed="rId4">
              <a:alphaModFix/>
            </a:blip>
            <a:srcRect b="0" l="0" r="0" t="0"/>
            <a:stretch/>
          </p:blipFill>
          <p:spPr>
            <a:xfrm>
              <a:off x="9974731" y="211740"/>
              <a:ext cx="331660" cy="331660"/>
            </a:xfrm>
            <a:prstGeom prst="rect">
              <a:avLst/>
            </a:prstGeom>
            <a:noFill/>
            <a:ln>
              <a:noFill/>
            </a:ln>
          </p:spPr>
        </p:pic>
        <p:pic>
          <p:nvPicPr>
            <p:cNvPr id="180" name="Google Shape;180;g3ef41cf2314_0_0"/>
            <p:cNvPicPr preferRelativeResize="0"/>
            <p:nvPr/>
          </p:nvPicPr>
          <p:blipFill rotWithShape="1">
            <a:blip r:embed="rId5">
              <a:alphaModFix/>
            </a:blip>
            <a:srcRect b="0" l="0" r="0" t="0"/>
            <a:stretch/>
          </p:blipFill>
          <p:spPr>
            <a:xfrm>
              <a:off x="9619565" y="216673"/>
              <a:ext cx="337984" cy="326726"/>
            </a:xfrm>
            <a:prstGeom prst="rect">
              <a:avLst/>
            </a:prstGeom>
            <a:noFill/>
            <a:ln>
              <a:noFill/>
            </a:ln>
          </p:spPr>
        </p:pic>
        <p:pic>
          <p:nvPicPr>
            <p:cNvPr id="181" name="Google Shape;181;g3ef41cf2314_0_0"/>
            <p:cNvPicPr preferRelativeResize="0"/>
            <p:nvPr/>
          </p:nvPicPr>
          <p:blipFill rotWithShape="1">
            <a:blip r:embed="rId6">
              <a:alphaModFix/>
            </a:blip>
            <a:srcRect b="0" l="0" r="0" t="0"/>
            <a:stretch/>
          </p:blipFill>
          <p:spPr>
            <a:xfrm flipH="1">
              <a:off x="11000365" y="216673"/>
              <a:ext cx="331661" cy="334315"/>
            </a:xfrm>
            <a:prstGeom prst="rect">
              <a:avLst/>
            </a:prstGeom>
            <a:noFill/>
            <a:ln>
              <a:noFill/>
            </a:ln>
          </p:spPr>
        </p:pic>
        <p:pic>
          <p:nvPicPr>
            <p:cNvPr id="182" name="Google Shape;182;g3ef41cf2314_0_0"/>
            <p:cNvPicPr preferRelativeResize="0"/>
            <p:nvPr/>
          </p:nvPicPr>
          <p:blipFill rotWithShape="1">
            <a:blip r:embed="rId7">
              <a:alphaModFix/>
            </a:blip>
            <a:srcRect b="0" l="0" r="0" t="0"/>
            <a:stretch/>
          </p:blipFill>
          <p:spPr>
            <a:xfrm>
              <a:off x="11349209" y="209083"/>
              <a:ext cx="351187" cy="331661"/>
            </a:xfrm>
            <a:prstGeom prst="rect">
              <a:avLst/>
            </a:prstGeom>
            <a:noFill/>
            <a:ln>
              <a:noFill/>
            </a:ln>
          </p:spPr>
        </p:pic>
        <p:pic>
          <p:nvPicPr>
            <p:cNvPr id="183" name="Google Shape;183;g3ef41cf2314_0_0"/>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84" name="Google Shape;184;g3ef41cf2314_0_0"/>
            <p:cNvPicPr preferRelativeResize="0"/>
            <p:nvPr/>
          </p:nvPicPr>
          <p:blipFill rotWithShape="1">
            <a:blip r:embed="rId9">
              <a:alphaModFix/>
            </a:blip>
            <a:srcRect b="0" l="0" r="0" t="0"/>
            <a:stretch/>
          </p:blipFill>
          <p:spPr>
            <a:xfrm>
              <a:off x="10323574" y="209083"/>
              <a:ext cx="308421" cy="334315"/>
            </a:xfrm>
            <a:prstGeom prst="rect">
              <a:avLst/>
            </a:prstGeom>
            <a:noFill/>
            <a:ln>
              <a:noFill/>
            </a:ln>
          </p:spPr>
        </p:pic>
        <p:pic>
          <p:nvPicPr>
            <p:cNvPr id="185" name="Google Shape;185;g3ef41cf2314_0_0"/>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186" name="Google Shape;186;g3ef41cf2314_0_0"/>
          <p:cNvPicPr preferRelativeResize="0"/>
          <p:nvPr/>
        </p:nvPicPr>
        <p:blipFill rotWithShape="1">
          <a:blip r:embed="rId11">
            <a:alphaModFix/>
          </a:blip>
          <a:srcRect b="8806" l="23549" r="7955" t="4950"/>
          <a:stretch/>
        </p:blipFill>
        <p:spPr>
          <a:xfrm>
            <a:off x="349860" y="1617093"/>
            <a:ext cx="4026932" cy="4361378"/>
          </a:xfrm>
          <a:prstGeom prst="rect">
            <a:avLst/>
          </a:prstGeom>
          <a:noFill/>
          <a:ln>
            <a:noFill/>
          </a:ln>
        </p:spPr>
      </p:pic>
      <p:pic>
        <p:nvPicPr>
          <p:cNvPr id="187" name="Google Shape;187;g3ef41cf2314_0_0"/>
          <p:cNvPicPr preferRelativeResize="0"/>
          <p:nvPr/>
        </p:nvPicPr>
        <p:blipFill rotWithShape="1">
          <a:blip r:embed="rId12">
            <a:alphaModFix/>
          </a:blip>
          <a:srcRect b="0" l="0" r="0" t="0"/>
          <a:stretch/>
        </p:blipFill>
        <p:spPr>
          <a:xfrm>
            <a:off x="4627876" y="1223963"/>
            <a:ext cx="2936248" cy="2708733"/>
          </a:xfrm>
          <a:prstGeom prst="rect">
            <a:avLst/>
          </a:prstGeom>
          <a:noFill/>
          <a:ln>
            <a:noFill/>
          </a:ln>
        </p:spPr>
      </p:pic>
      <p:pic>
        <p:nvPicPr>
          <p:cNvPr id="188" name="Google Shape;188;g3ef41cf2314_0_0"/>
          <p:cNvPicPr preferRelativeResize="0"/>
          <p:nvPr/>
        </p:nvPicPr>
        <p:blipFill rotWithShape="1">
          <a:blip r:embed="rId13">
            <a:alphaModFix/>
          </a:blip>
          <a:srcRect b="0" l="0" r="0" t="0"/>
          <a:stretch/>
        </p:blipFill>
        <p:spPr>
          <a:xfrm>
            <a:off x="5406448" y="4077186"/>
            <a:ext cx="4613439" cy="2509476"/>
          </a:xfrm>
          <a:prstGeom prst="rect">
            <a:avLst/>
          </a:prstGeom>
          <a:noFill/>
          <a:ln>
            <a:noFill/>
          </a:ln>
        </p:spPr>
      </p:pic>
      <p:pic>
        <p:nvPicPr>
          <p:cNvPr id="189" name="Google Shape;189;g3ef41cf2314_0_0"/>
          <p:cNvPicPr preferRelativeResize="0"/>
          <p:nvPr/>
        </p:nvPicPr>
        <p:blipFill rotWithShape="1">
          <a:blip r:embed="rId14">
            <a:alphaModFix/>
          </a:blip>
          <a:srcRect b="0" l="0" r="0" t="0"/>
          <a:stretch/>
        </p:blipFill>
        <p:spPr>
          <a:xfrm>
            <a:off x="7815208" y="1094290"/>
            <a:ext cx="3250619" cy="282191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193" name="Shape 193"/>
        <p:cNvGrpSpPr/>
        <p:nvPr/>
      </p:nvGrpSpPr>
      <p:grpSpPr>
        <a:xfrm>
          <a:off x="0" y="0"/>
          <a:ext cx="0" cy="0"/>
          <a:chOff x="0" y="0"/>
          <a:chExt cx="0" cy="0"/>
        </a:xfrm>
      </p:grpSpPr>
      <p:sp>
        <p:nvSpPr>
          <p:cNvPr id="194" name="Google Shape;194;p2"/>
          <p:cNvSpPr txBox="1"/>
          <p:nvPr/>
        </p:nvSpPr>
        <p:spPr>
          <a:xfrm>
            <a:off x="731520" y="457200"/>
            <a:ext cx="4875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Why This Topic ❓</a:t>
            </a:r>
            <a:endParaRPr b="0" i="0" sz="1800" u="none" cap="none" strike="noStrike">
              <a:solidFill>
                <a:schemeClr val="dk1"/>
              </a:solidFill>
              <a:latin typeface="Calibri"/>
              <a:ea typeface="Calibri"/>
              <a:cs typeface="Calibri"/>
              <a:sym typeface="Calibri"/>
            </a:endParaRPr>
          </a:p>
        </p:txBody>
      </p:sp>
      <p:grpSp>
        <p:nvGrpSpPr>
          <p:cNvPr id="195" name="Google Shape;195;p2"/>
          <p:cNvGrpSpPr/>
          <p:nvPr/>
        </p:nvGrpSpPr>
        <p:grpSpPr>
          <a:xfrm>
            <a:off x="9664721" y="132225"/>
            <a:ext cx="2449204" cy="341908"/>
            <a:chOff x="9619565" y="209082"/>
            <a:chExt cx="2449204" cy="341908"/>
          </a:xfrm>
        </p:grpSpPr>
        <p:pic>
          <p:nvPicPr>
            <p:cNvPr id="196" name="Google Shape;196;p2"/>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97" name="Google Shape;197;p2"/>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98" name="Google Shape;198;p2"/>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99" name="Google Shape;199;p2"/>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200" name="Google Shape;200;p2"/>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201" name="Google Shape;201;p2"/>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202" name="Google Shape;202;p2"/>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203" name="Google Shape;203;p2"/>
          <p:cNvGrpSpPr/>
          <p:nvPr/>
        </p:nvGrpSpPr>
        <p:grpSpPr>
          <a:xfrm>
            <a:off x="693584" y="5616685"/>
            <a:ext cx="11107190" cy="784115"/>
            <a:chOff x="534200" y="1463375"/>
            <a:chExt cx="6298115" cy="1423663"/>
          </a:xfrm>
        </p:grpSpPr>
        <p:sp>
          <p:nvSpPr>
            <p:cNvPr id="204" name="Google Shape;204;p2"/>
            <p:cNvSpPr/>
            <p:nvPr/>
          </p:nvSpPr>
          <p:spPr>
            <a:xfrm>
              <a:off x="534200" y="1463375"/>
              <a:ext cx="6298115" cy="1423663"/>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05" name="Google Shape;205;p2"/>
            <p:cNvSpPr/>
            <p:nvPr/>
          </p:nvSpPr>
          <p:spPr>
            <a:xfrm>
              <a:off x="709284" y="1636717"/>
              <a:ext cx="5776500" cy="100810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2600"/>
                <a:buFont typeface="Arial"/>
                <a:buNone/>
              </a:pPr>
              <a:r>
                <a:rPr b="0" i="0" lang="en-US" sz="1800" u="none" cap="none" strike="noStrike">
                  <a:solidFill>
                    <a:schemeClr val="lt1"/>
                  </a:solidFill>
                  <a:latin typeface="Calibri"/>
                  <a:ea typeface="Calibri"/>
                  <a:cs typeface="Calibri"/>
                  <a:sym typeface="Calibri"/>
                </a:rPr>
                <a:t>We chose this topic out of personal connection: as daily social media users, we wanted to investigate whether our own habits carry measurable psychological costs</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6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206" name="Google Shape;206;p2"/>
          <p:cNvPicPr preferRelativeResize="0"/>
          <p:nvPr/>
        </p:nvPicPr>
        <p:blipFill rotWithShape="1">
          <a:blip r:embed="rId11">
            <a:alphaModFix/>
          </a:blip>
          <a:srcRect b="17668" l="0" r="26515" t="0"/>
          <a:stretch/>
        </p:blipFill>
        <p:spPr>
          <a:xfrm>
            <a:off x="731521" y="1145355"/>
            <a:ext cx="4221346" cy="3391581"/>
          </a:xfrm>
          <a:prstGeom prst="rect">
            <a:avLst/>
          </a:prstGeom>
          <a:noFill/>
          <a:ln>
            <a:noFill/>
          </a:ln>
        </p:spPr>
      </p:pic>
      <p:pic>
        <p:nvPicPr>
          <p:cNvPr id="207" name="Google Shape;207;p2"/>
          <p:cNvPicPr preferRelativeResize="0"/>
          <p:nvPr/>
        </p:nvPicPr>
        <p:blipFill rotWithShape="1">
          <a:blip r:embed="rId12">
            <a:alphaModFix/>
          </a:blip>
          <a:srcRect b="16199" l="0" r="26761" t="0"/>
          <a:stretch/>
        </p:blipFill>
        <p:spPr>
          <a:xfrm>
            <a:off x="5150398" y="1145354"/>
            <a:ext cx="4177474" cy="3391581"/>
          </a:xfrm>
          <a:prstGeom prst="rect">
            <a:avLst/>
          </a:prstGeom>
          <a:noFill/>
          <a:ln>
            <a:noFill/>
          </a:ln>
        </p:spPr>
      </p:pic>
      <p:pic>
        <p:nvPicPr>
          <p:cNvPr id="208" name="Google Shape;208;p2"/>
          <p:cNvPicPr preferRelativeResize="0"/>
          <p:nvPr/>
        </p:nvPicPr>
        <p:blipFill rotWithShape="1">
          <a:blip r:embed="rId11">
            <a:alphaModFix/>
          </a:blip>
          <a:srcRect b="63881" l="70687" r="6608" t="20606"/>
          <a:stretch/>
        </p:blipFill>
        <p:spPr>
          <a:xfrm>
            <a:off x="9634350" y="2274919"/>
            <a:ext cx="2166424" cy="1132449"/>
          </a:xfrm>
          <a:prstGeom prst="rect">
            <a:avLst/>
          </a:prstGeom>
          <a:noFill/>
          <a:ln>
            <a:noFill/>
          </a:ln>
        </p:spPr>
      </p:pic>
      <p:grpSp>
        <p:nvGrpSpPr>
          <p:cNvPr id="209" name="Google Shape;209;p2"/>
          <p:cNvGrpSpPr/>
          <p:nvPr/>
        </p:nvGrpSpPr>
        <p:grpSpPr>
          <a:xfrm>
            <a:off x="693584" y="4732489"/>
            <a:ext cx="11107190" cy="784115"/>
            <a:chOff x="694462" y="4824450"/>
            <a:chExt cx="4379100" cy="1576350"/>
          </a:xfrm>
        </p:grpSpPr>
        <p:sp>
          <p:nvSpPr>
            <p:cNvPr id="210" name="Google Shape;210;p2"/>
            <p:cNvSpPr/>
            <p:nvPr/>
          </p:nvSpPr>
          <p:spPr>
            <a:xfrm>
              <a:off x="694462" y="4824450"/>
              <a:ext cx="4379100" cy="157635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1" name="Google Shape;211;p2"/>
            <p:cNvSpPr txBox="1"/>
            <p:nvPr/>
          </p:nvSpPr>
          <p:spPr>
            <a:xfrm>
              <a:off x="778582" y="4962945"/>
              <a:ext cx="4210858" cy="129935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0" i="0" lang="en-US" sz="1800" u="none" cap="none" strike="noStrike">
                  <a:solidFill>
                    <a:schemeClr val="lt1"/>
                  </a:solidFill>
                  <a:latin typeface="Calibri"/>
                  <a:ea typeface="Calibri"/>
                  <a:cs typeface="Calibri"/>
                  <a:sym typeface="Calibri"/>
                </a:rPr>
                <a:t>The </a:t>
              </a:r>
              <a:r>
                <a:rPr b="1" i="0" lang="en-US" sz="1800" u="none" cap="none" strike="noStrike">
                  <a:solidFill>
                    <a:schemeClr val="lt1"/>
                  </a:solidFill>
                  <a:latin typeface="Calibri"/>
                  <a:ea typeface="Calibri"/>
                  <a:cs typeface="Calibri"/>
                  <a:sym typeface="Calibri"/>
                </a:rPr>
                <a:t>World Happiness Report</a:t>
              </a:r>
              <a:r>
                <a:rPr b="0" i="0" lang="en-US" sz="1800" u="none" cap="none" strike="noStrike">
                  <a:solidFill>
                    <a:schemeClr val="lt1"/>
                  </a:solidFill>
                  <a:latin typeface="Calibri"/>
                  <a:ea typeface="Calibri"/>
                  <a:cs typeface="Calibri"/>
                  <a:sym typeface="Calibri"/>
                </a:rPr>
                <a:t> and recent digital well-being studies consistently link rising social media use to declining mental health outcomes especially among younger populations</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sp>
        <p:nvSpPr>
          <p:cNvPr id="216" name="Google Shape;216;g3ef41cf2314_0_153"/>
          <p:cNvSpPr txBox="1"/>
          <p:nvPr/>
        </p:nvSpPr>
        <p:spPr>
          <a:xfrm>
            <a:off x="731520" y="457200"/>
            <a:ext cx="48750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THE PROJECT QUESTIONS ❓</a:t>
            </a:r>
            <a:endParaRPr b="0" i="0" sz="1800" u="none" cap="none" strike="noStrike">
              <a:solidFill>
                <a:schemeClr val="dk1"/>
              </a:solidFill>
              <a:latin typeface="Calibri"/>
              <a:ea typeface="Calibri"/>
              <a:cs typeface="Calibri"/>
              <a:sym typeface="Calibri"/>
            </a:endParaRPr>
          </a:p>
        </p:txBody>
      </p:sp>
      <p:sp>
        <p:nvSpPr>
          <p:cNvPr id="217" name="Google Shape;217;g3ef41cf2314_0_153"/>
          <p:cNvSpPr/>
          <p:nvPr/>
        </p:nvSpPr>
        <p:spPr>
          <a:xfrm>
            <a:off x="914400" y="1645920"/>
            <a:ext cx="5029200" cy="182880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8" name="Google Shape;218;g3ef41cf2314_0_153"/>
          <p:cNvSpPr/>
          <p:nvPr/>
        </p:nvSpPr>
        <p:spPr>
          <a:xfrm>
            <a:off x="6217920" y="1645920"/>
            <a:ext cx="5029200" cy="182880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19" name="Google Shape;219;g3ef41cf2314_0_153"/>
          <p:cNvSpPr/>
          <p:nvPr/>
        </p:nvSpPr>
        <p:spPr>
          <a:xfrm>
            <a:off x="914400" y="3931920"/>
            <a:ext cx="5029200" cy="182880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20" name="Google Shape;220;g3ef41cf2314_0_153"/>
          <p:cNvSpPr/>
          <p:nvPr/>
        </p:nvSpPr>
        <p:spPr>
          <a:xfrm>
            <a:off x="6217920" y="3931920"/>
            <a:ext cx="5029200" cy="1828800"/>
          </a:xfrm>
          <a:prstGeom prst="rect">
            <a:avLst/>
          </a:prstGeom>
          <a:solidFill>
            <a:srgbClr val="14203F"/>
          </a:solidFill>
          <a:ln cap="flat" cmpd="sng" w="9525">
            <a:solidFill>
              <a:srgbClr val="22C55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365750" spcFirstLastPara="1" rIns="365750" wrap="square" tIns="36575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221" name="Google Shape;221;g3ef41cf2314_0_153"/>
          <p:cNvGrpSpPr/>
          <p:nvPr/>
        </p:nvGrpSpPr>
        <p:grpSpPr>
          <a:xfrm>
            <a:off x="9664721" y="132225"/>
            <a:ext cx="2449204" cy="341906"/>
            <a:chOff x="9619565" y="209082"/>
            <a:chExt cx="2449204" cy="341906"/>
          </a:xfrm>
        </p:grpSpPr>
        <p:pic>
          <p:nvPicPr>
            <p:cNvPr id="222" name="Google Shape;222;g3ef41cf2314_0_153"/>
            <p:cNvPicPr preferRelativeResize="0"/>
            <p:nvPr/>
          </p:nvPicPr>
          <p:blipFill rotWithShape="1">
            <a:blip r:embed="rId4">
              <a:alphaModFix/>
            </a:blip>
            <a:srcRect b="0" l="0" r="0" t="0"/>
            <a:stretch/>
          </p:blipFill>
          <p:spPr>
            <a:xfrm>
              <a:off x="9974731" y="211740"/>
              <a:ext cx="331660" cy="331660"/>
            </a:xfrm>
            <a:prstGeom prst="rect">
              <a:avLst/>
            </a:prstGeom>
            <a:noFill/>
            <a:ln>
              <a:noFill/>
            </a:ln>
          </p:spPr>
        </p:pic>
        <p:pic>
          <p:nvPicPr>
            <p:cNvPr id="223" name="Google Shape;223;g3ef41cf2314_0_153"/>
            <p:cNvPicPr preferRelativeResize="0"/>
            <p:nvPr/>
          </p:nvPicPr>
          <p:blipFill rotWithShape="1">
            <a:blip r:embed="rId5">
              <a:alphaModFix/>
            </a:blip>
            <a:srcRect b="0" l="0" r="0" t="0"/>
            <a:stretch/>
          </p:blipFill>
          <p:spPr>
            <a:xfrm>
              <a:off x="9619565" y="216673"/>
              <a:ext cx="337984" cy="326726"/>
            </a:xfrm>
            <a:prstGeom prst="rect">
              <a:avLst/>
            </a:prstGeom>
            <a:noFill/>
            <a:ln>
              <a:noFill/>
            </a:ln>
          </p:spPr>
        </p:pic>
        <p:pic>
          <p:nvPicPr>
            <p:cNvPr id="224" name="Google Shape;224;g3ef41cf2314_0_153"/>
            <p:cNvPicPr preferRelativeResize="0"/>
            <p:nvPr/>
          </p:nvPicPr>
          <p:blipFill rotWithShape="1">
            <a:blip r:embed="rId6">
              <a:alphaModFix/>
            </a:blip>
            <a:srcRect b="0" l="0" r="0" t="0"/>
            <a:stretch/>
          </p:blipFill>
          <p:spPr>
            <a:xfrm flipH="1">
              <a:off x="11000365" y="216673"/>
              <a:ext cx="331661" cy="334315"/>
            </a:xfrm>
            <a:prstGeom prst="rect">
              <a:avLst/>
            </a:prstGeom>
            <a:noFill/>
            <a:ln>
              <a:noFill/>
            </a:ln>
          </p:spPr>
        </p:pic>
        <p:pic>
          <p:nvPicPr>
            <p:cNvPr id="225" name="Google Shape;225;g3ef41cf2314_0_153"/>
            <p:cNvPicPr preferRelativeResize="0"/>
            <p:nvPr/>
          </p:nvPicPr>
          <p:blipFill rotWithShape="1">
            <a:blip r:embed="rId7">
              <a:alphaModFix/>
            </a:blip>
            <a:srcRect b="0" l="0" r="0" t="0"/>
            <a:stretch/>
          </p:blipFill>
          <p:spPr>
            <a:xfrm>
              <a:off x="11349209" y="209083"/>
              <a:ext cx="351187" cy="331661"/>
            </a:xfrm>
            <a:prstGeom prst="rect">
              <a:avLst/>
            </a:prstGeom>
            <a:noFill/>
            <a:ln>
              <a:noFill/>
            </a:ln>
          </p:spPr>
        </p:pic>
        <p:pic>
          <p:nvPicPr>
            <p:cNvPr id="226" name="Google Shape;226;g3ef41cf2314_0_153"/>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227" name="Google Shape;227;g3ef41cf2314_0_153"/>
            <p:cNvPicPr preferRelativeResize="0"/>
            <p:nvPr/>
          </p:nvPicPr>
          <p:blipFill rotWithShape="1">
            <a:blip r:embed="rId9">
              <a:alphaModFix/>
            </a:blip>
            <a:srcRect b="0" l="0" r="0" t="0"/>
            <a:stretch/>
          </p:blipFill>
          <p:spPr>
            <a:xfrm>
              <a:off x="10323574" y="209083"/>
              <a:ext cx="308421" cy="334315"/>
            </a:xfrm>
            <a:prstGeom prst="rect">
              <a:avLst/>
            </a:prstGeom>
            <a:noFill/>
            <a:ln>
              <a:noFill/>
            </a:ln>
          </p:spPr>
        </p:pic>
        <p:pic>
          <p:nvPicPr>
            <p:cNvPr id="228" name="Google Shape;228;g3ef41cf2314_0_153"/>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229" name="Google Shape;229;g3ef41cf2314_0_153"/>
          <p:cNvSpPr txBox="1"/>
          <p:nvPr/>
        </p:nvSpPr>
        <p:spPr>
          <a:xfrm>
            <a:off x="1328209" y="2237153"/>
            <a:ext cx="4201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Does more screen time correlate with high-risk mental states?</a:t>
            </a:r>
            <a:endParaRPr b="0" i="0" sz="1400" u="none" cap="none" strike="noStrike">
              <a:solidFill>
                <a:srgbClr val="000000"/>
              </a:solidFill>
              <a:latin typeface="Arial"/>
              <a:ea typeface="Arial"/>
              <a:cs typeface="Arial"/>
              <a:sym typeface="Arial"/>
            </a:endParaRPr>
          </a:p>
        </p:txBody>
      </p:sp>
      <p:sp>
        <p:nvSpPr>
          <p:cNvPr id="230" name="Google Shape;230;g3ef41cf2314_0_153"/>
          <p:cNvSpPr txBox="1"/>
          <p:nvPr/>
        </p:nvSpPr>
        <p:spPr>
          <a:xfrm>
            <a:off x="6631729" y="2237152"/>
            <a:ext cx="4201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Do negative online interactions affect mood and sleep?</a:t>
            </a:r>
            <a:endParaRPr b="0" i="0" sz="1400" u="none" cap="none" strike="noStrike">
              <a:solidFill>
                <a:srgbClr val="000000"/>
              </a:solidFill>
              <a:latin typeface="Arial"/>
              <a:ea typeface="Arial"/>
              <a:cs typeface="Arial"/>
              <a:sym typeface="Arial"/>
            </a:endParaRPr>
          </a:p>
        </p:txBody>
      </p:sp>
      <p:sp>
        <p:nvSpPr>
          <p:cNvPr id="231" name="Google Shape;231;g3ef41cf2314_0_153"/>
          <p:cNvSpPr txBox="1"/>
          <p:nvPr/>
        </p:nvSpPr>
        <p:spPr>
          <a:xfrm>
            <a:off x="1404991" y="4384653"/>
            <a:ext cx="4201500" cy="9234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How do populations group themselves based on screen engagement and mental state across different ages?</a:t>
            </a:r>
            <a:endParaRPr b="0" i="0" sz="1400" u="none" cap="none" strike="noStrike">
              <a:solidFill>
                <a:srgbClr val="000000"/>
              </a:solidFill>
              <a:latin typeface="Arial"/>
              <a:ea typeface="Arial"/>
              <a:cs typeface="Arial"/>
              <a:sym typeface="Arial"/>
            </a:endParaRPr>
          </a:p>
        </p:txBody>
      </p:sp>
      <p:sp>
        <p:nvSpPr>
          <p:cNvPr id="232" name="Google Shape;232;g3ef41cf2314_0_153"/>
          <p:cNvSpPr txBox="1"/>
          <p:nvPr/>
        </p:nvSpPr>
        <p:spPr>
          <a:xfrm>
            <a:off x="6631779" y="4246053"/>
            <a:ext cx="42015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Does the choice of the primary social media platform, alongside user age, correlates with user anxiety or stress levels?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6" name="Shape 236"/>
        <p:cNvGrpSpPr/>
        <p:nvPr/>
      </p:nvGrpSpPr>
      <p:grpSpPr>
        <a:xfrm>
          <a:off x="0" y="0"/>
          <a:ext cx="0" cy="0"/>
          <a:chOff x="0" y="0"/>
          <a:chExt cx="0" cy="0"/>
        </a:xfrm>
      </p:grpSpPr>
      <p:sp>
        <p:nvSpPr>
          <p:cNvPr id="237" name="Google Shape;237;p3"/>
          <p:cNvSpPr txBox="1"/>
          <p:nvPr/>
        </p:nvSpPr>
        <p:spPr>
          <a:xfrm>
            <a:off x="731520" y="457200"/>
            <a:ext cx="822960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THE DATASET OVERVIEW</a:t>
            </a:r>
            <a:endParaRPr b="0" i="0" sz="1400" u="none" cap="none" strike="noStrike">
              <a:solidFill>
                <a:srgbClr val="000000"/>
              </a:solidFill>
              <a:latin typeface="Arial"/>
              <a:ea typeface="Arial"/>
              <a:cs typeface="Arial"/>
              <a:sym typeface="Arial"/>
            </a:endParaRPr>
          </a:p>
        </p:txBody>
      </p:sp>
      <p:sp>
        <p:nvSpPr>
          <p:cNvPr id="238" name="Google Shape;238;p3"/>
          <p:cNvSpPr/>
          <p:nvPr/>
        </p:nvSpPr>
        <p:spPr>
          <a:xfrm>
            <a:off x="731520" y="1645920"/>
            <a:ext cx="2560320" cy="219456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00D2FF"/>
                </a:solidFill>
                <a:latin typeface="Calibri"/>
                <a:ea typeface="Calibri"/>
                <a:cs typeface="Calibri"/>
                <a:sym typeface="Calibri"/>
              </a:rPr>
              <a:t>5,000</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F8FAFC"/>
                </a:solidFill>
                <a:latin typeface="Calibri"/>
                <a:ea typeface="Calibri"/>
                <a:cs typeface="Calibri"/>
                <a:sym typeface="Calibri"/>
              </a:rPr>
              <a:t>RESPONSES</a:t>
            </a:r>
            <a:endParaRPr b="0" i="0" sz="14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Questionnaire rows</a:t>
            </a:r>
            <a:endParaRPr b="0" i="0" sz="1400" u="none" cap="none" strike="noStrike">
              <a:solidFill>
                <a:srgbClr val="000000"/>
              </a:solidFill>
              <a:latin typeface="Arial"/>
              <a:ea typeface="Arial"/>
              <a:cs typeface="Arial"/>
              <a:sym typeface="Arial"/>
            </a:endParaRPr>
          </a:p>
        </p:txBody>
      </p:sp>
      <p:sp>
        <p:nvSpPr>
          <p:cNvPr id="239" name="Google Shape;239;p3"/>
          <p:cNvSpPr/>
          <p:nvPr/>
        </p:nvSpPr>
        <p:spPr>
          <a:xfrm>
            <a:off x="3429000" y="1645920"/>
            <a:ext cx="2560320" cy="219456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D946EF"/>
                </a:solidFill>
                <a:latin typeface="Calibri"/>
                <a:ea typeface="Calibri"/>
                <a:cs typeface="Calibri"/>
                <a:sym typeface="Calibri"/>
              </a:rPr>
              <a:t>15</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8FAFC"/>
                </a:solidFill>
                <a:latin typeface="Calibri"/>
                <a:ea typeface="Calibri"/>
                <a:cs typeface="Calibri"/>
                <a:sym typeface="Calibri"/>
              </a:rPr>
              <a:t>FEATURES</a:t>
            </a:r>
            <a:endParaRPr b="0" i="0" sz="12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Columns total</a:t>
            </a:r>
            <a:endParaRPr b="0" i="0" sz="1400" u="none" cap="none" strike="noStrike">
              <a:solidFill>
                <a:srgbClr val="000000"/>
              </a:solidFill>
              <a:latin typeface="Arial"/>
              <a:ea typeface="Arial"/>
              <a:cs typeface="Arial"/>
              <a:sym typeface="Arial"/>
            </a:endParaRPr>
          </a:p>
        </p:txBody>
      </p:sp>
      <p:sp>
        <p:nvSpPr>
          <p:cNvPr id="240" name="Google Shape;240;p3"/>
          <p:cNvSpPr/>
          <p:nvPr/>
        </p:nvSpPr>
        <p:spPr>
          <a:xfrm>
            <a:off x="6126480" y="1645920"/>
            <a:ext cx="2560320" cy="219456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22C55E"/>
                </a:solidFill>
                <a:latin typeface="Calibri"/>
                <a:ea typeface="Calibri"/>
                <a:cs typeface="Calibri"/>
                <a:sym typeface="Calibri"/>
              </a:rPr>
              <a:t>3,949</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8FAFC"/>
                </a:solidFill>
                <a:latin typeface="Calibri"/>
                <a:ea typeface="Calibri"/>
                <a:cs typeface="Calibri"/>
                <a:sym typeface="Calibri"/>
              </a:rPr>
              <a:t>USERS</a:t>
            </a:r>
            <a:endParaRPr b="0" i="0" sz="12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Clean profiles</a:t>
            </a:r>
            <a:endParaRPr b="0" i="0" sz="1400" u="none" cap="none" strike="noStrike">
              <a:solidFill>
                <a:srgbClr val="000000"/>
              </a:solidFill>
              <a:latin typeface="Arial"/>
              <a:ea typeface="Arial"/>
              <a:cs typeface="Arial"/>
              <a:sym typeface="Arial"/>
            </a:endParaRPr>
          </a:p>
        </p:txBody>
      </p:sp>
      <p:sp>
        <p:nvSpPr>
          <p:cNvPr id="241" name="Google Shape;241;p3"/>
          <p:cNvSpPr/>
          <p:nvPr/>
        </p:nvSpPr>
        <p:spPr>
          <a:xfrm>
            <a:off x="8823960" y="1645920"/>
            <a:ext cx="2560320" cy="2194560"/>
          </a:xfrm>
          <a:prstGeom prst="rect">
            <a:avLst/>
          </a:prstGeom>
          <a:solidFill>
            <a:srgbClr val="14203F"/>
          </a:solidFill>
          <a:ln cap="flat" cmpd="sng" w="9525">
            <a:solidFill>
              <a:srgbClr val="28375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4400"/>
              <a:buFont typeface="Arial"/>
              <a:buNone/>
            </a:pPr>
            <a:r>
              <a:rPr b="1" i="0" lang="en-US" sz="4400" u="none" cap="none" strike="noStrike">
                <a:solidFill>
                  <a:srgbClr val="F97316"/>
                </a:solidFill>
                <a:latin typeface="Calibri"/>
                <a:ea typeface="Calibri"/>
                <a:cs typeface="Calibri"/>
                <a:sym typeface="Calibri"/>
              </a:rPr>
              <a:t>2</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rgbClr val="F8FAFC"/>
                </a:solidFill>
                <a:latin typeface="Calibri"/>
                <a:ea typeface="Calibri"/>
                <a:cs typeface="Calibri"/>
                <a:sym typeface="Calibri"/>
              </a:rPr>
              <a:t>YEARS</a:t>
            </a:r>
            <a:endParaRPr b="0" i="0" sz="12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chemeClr val="lt1"/>
                </a:solidFill>
                <a:latin typeface="Calibri"/>
                <a:ea typeface="Calibri"/>
                <a:cs typeface="Calibri"/>
                <a:sym typeface="Calibri"/>
              </a:rPr>
              <a:t>2024 – 2025</a:t>
            </a:r>
            <a:endParaRPr b="0" i="0" sz="1400" u="none" cap="none" strike="noStrike">
              <a:solidFill>
                <a:srgbClr val="000000"/>
              </a:solidFill>
              <a:latin typeface="Arial"/>
              <a:ea typeface="Arial"/>
              <a:cs typeface="Arial"/>
              <a:sym typeface="Arial"/>
            </a:endParaRPr>
          </a:p>
        </p:txBody>
      </p:sp>
      <p:sp>
        <p:nvSpPr>
          <p:cNvPr id="242" name="Google Shape;242;p3"/>
          <p:cNvSpPr/>
          <p:nvPr/>
        </p:nvSpPr>
        <p:spPr>
          <a:xfrm>
            <a:off x="731520" y="4297680"/>
            <a:ext cx="10728655" cy="13716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243" name="Google Shape;243;p3"/>
          <p:cNvSpPr txBox="1"/>
          <p:nvPr/>
        </p:nvSpPr>
        <p:spPr>
          <a:xfrm>
            <a:off x="1668113" y="4598759"/>
            <a:ext cx="8855468" cy="7694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00D2FF"/>
                </a:solidFill>
                <a:latin typeface="Calibri"/>
                <a:ea typeface="Calibri"/>
                <a:cs typeface="Calibri"/>
                <a:sym typeface="Calibri"/>
              </a:rPr>
              <a:t>7 Platforms Tracked:</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000"/>
              <a:buFont typeface="Arial"/>
              <a:buNone/>
            </a:pPr>
            <a:r>
              <a:rPr b="0" i="0" lang="en-US" sz="2000" u="none" cap="none" strike="noStrike">
                <a:solidFill>
                  <a:srgbClr val="F8FAFC"/>
                </a:solidFill>
                <a:latin typeface="Calibri"/>
                <a:ea typeface="Calibri"/>
                <a:cs typeface="Calibri"/>
                <a:sym typeface="Calibri"/>
              </a:rPr>
              <a:t>Facebook  •  Instagram  •  TikTok  •  WhatsApp  •  YouTube  •  Twitter  •  Snapchat</a:t>
            </a:r>
            <a:endParaRPr b="0" i="0" sz="1400" u="none" cap="none" strike="noStrike">
              <a:solidFill>
                <a:srgbClr val="000000"/>
              </a:solidFill>
              <a:latin typeface="Arial"/>
              <a:ea typeface="Arial"/>
              <a:cs typeface="Arial"/>
              <a:sym typeface="Arial"/>
            </a:endParaRPr>
          </a:p>
        </p:txBody>
      </p:sp>
      <p:grpSp>
        <p:nvGrpSpPr>
          <p:cNvPr id="244" name="Google Shape;244;p3"/>
          <p:cNvGrpSpPr/>
          <p:nvPr/>
        </p:nvGrpSpPr>
        <p:grpSpPr>
          <a:xfrm>
            <a:off x="9664721" y="132225"/>
            <a:ext cx="2449204" cy="341908"/>
            <a:chOff x="9619565" y="209082"/>
            <a:chExt cx="2449204" cy="341908"/>
          </a:xfrm>
        </p:grpSpPr>
        <p:pic>
          <p:nvPicPr>
            <p:cNvPr id="245" name="Google Shape;245;p3"/>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246" name="Google Shape;246;p3"/>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247" name="Google Shape;247;p3"/>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248" name="Google Shape;248;p3"/>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249" name="Google Shape;249;p3"/>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250" name="Google Shape;250;p3"/>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251" name="Google Shape;251;p3"/>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6" name="Shape 256"/>
        <p:cNvGrpSpPr/>
        <p:nvPr/>
      </p:nvGrpSpPr>
      <p:grpSpPr>
        <a:xfrm>
          <a:off x="0" y="0"/>
          <a:ext cx="0" cy="0"/>
          <a:chOff x="0" y="0"/>
          <a:chExt cx="0" cy="0"/>
        </a:xfrm>
      </p:grpSpPr>
      <p:sp>
        <p:nvSpPr>
          <p:cNvPr id="257" name="Google Shape;257;p4"/>
          <p:cNvSpPr txBox="1"/>
          <p:nvPr/>
        </p:nvSpPr>
        <p:spPr>
          <a:xfrm>
            <a:off x="731520" y="457200"/>
            <a:ext cx="822960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DATASET STRUCTURE</a:t>
            </a:r>
            <a:endParaRPr b="0" i="0" sz="1400" u="none" cap="none" strike="noStrike">
              <a:solidFill>
                <a:srgbClr val="000000"/>
              </a:solidFill>
              <a:latin typeface="Arial"/>
              <a:ea typeface="Arial"/>
              <a:cs typeface="Arial"/>
              <a:sym typeface="Arial"/>
            </a:endParaRPr>
          </a:p>
        </p:txBody>
      </p:sp>
      <p:sp>
        <p:nvSpPr>
          <p:cNvPr id="258" name="Google Shape;258;p4"/>
          <p:cNvSpPr txBox="1"/>
          <p:nvPr/>
        </p:nvSpPr>
        <p:spPr>
          <a:xfrm>
            <a:off x="914400" y="1645920"/>
            <a:ext cx="4754880" cy="8617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D2FF"/>
                </a:solidFill>
                <a:latin typeface="Calibri"/>
                <a:ea typeface="Calibri"/>
                <a:cs typeface="Calibri"/>
                <a:sym typeface="Calibri"/>
              </a:rPr>
              <a:t>📁 Originals Columns </a:t>
            </a:r>
            <a:endParaRPr b="0" i="0" sz="2400" u="none" cap="none" strike="noStrike">
              <a:solidFill>
                <a:schemeClr val="dk1"/>
              </a:solidFill>
              <a:latin typeface="Calibri"/>
              <a:ea typeface="Calibri"/>
              <a:cs typeface="Calibri"/>
              <a:sym typeface="Calibri"/>
            </a:endParaRPr>
          </a:p>
          <a:p>
            <a:pPr indent="-171450" lvl="0" marL="285750" marR="0" rtl="0" algn="l">
              <a:lnSpc>
                <a:spcPct val="100000"/>
              </a:lnSpc>
              <a:spcBef>
                <a:spcPts val="1200"/>
              </a:spcBef>
              <a:spcAft>
                <a:spcPts val="0"/>
              </a:spcAft>
              <a:buClr>
                <a:srgbClr val="F8FAFC"/>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4"/>
          <p:cNvSpPr txBox="1"/>
          <p:nvPr/>
        </p:nvSpPr>
        <p:spPr>
          <a:xfrm>
            <a:off x="6217920" y="1645920"/>
            <a:ext cx="5029200" cy="163121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D2FF"/>
                </a:solidFill>
                <a:latin typeface="Calibri"/>
                <a:ea typeface="Calibri"/>
                <a:cs typeface="Calibri"/>
                <a:sym typeface="Calibri"/>
              </a:rPr>
              <a:t>📊 Derived Ratios , Metrics &amp; columns added</a:t>
            </a:r>
            <a:endParaRPr b="0" i="0" sz="1400" u="none" cap="none" strike="noStrike">
              <a:solidFill>
                <a:srgbClr val="000000"/>
              </a:solidFill>
              <a:latin typeface="Arial"/>
              <a:ea typeface="Arial"/>
              <a:cs typeface="Arial"/>
              <a:sym typeface="Arial"/>
            </a:endParaRPr>
          </a:p>
          <a:p>
            <a:pPr indent="-171450" lvl="0" marL="285750" marR="0" rtl="0" algn="l">
              <a:lnSpc>
                <a:spcPct val="100000"/>
              </a:lnSpc>
              <a:spcBef>
                <a:spcPts val="1200"/>
              </a:spcBef>
              <a:spcAft>
                <a:spcPts val="0"/>
              </a:spcAft>
              <a:buClr>
                <a:srgbClr val="F8FAFC"/>
              </a:buClr>
              <a:buSzPts val="1800"/>
              <a:buFont typeface="Arial"/>
              <a:buNone/>
            </a:pPr>
            <a:r>
              <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120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0" name="Google Shape;260;p4"/>
          <p:cNvSpPr txBox="1"/>
          <p:nvPr/>
        </p:nvSpPr>
        <p:spPr>
          <a:xfrm>
            <a:off x="6335239" y="2523405"/>
            <a:ext cx="4117094" cy="1711366"/>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ID</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Daily screen time without social media</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Screen time media ratio</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Activity to screen ratio</a:t>
            </a:r>
            <a:endParaRPr b="0" i="0" sz="1400" u="none" cap="none" strike="noStrike">
              <a:solidFill>
                <a:srgbClr val="000000"/>
              </a:solidFill>
              <a:latin typeface="Arial"/>
              <a:ea typeface="Arial"/>
              <a:cs typeface="Arial"/>
              <a:sym typeface="Arial"/>
            </a:endParaRPr>
          </a:p>
        </p:txBody>
      </p:sp>
      <p:sp>
        <p:nvSpPr>
          <p:cNvPr id="261" name="Google Shape;261;p4"/>
          <p:cNvSpPr txBox="1"/>
          <p:nvPr/>
        </p:nvSpPr>
        <p:spPr>
          <a:xfrm>
            <a:off x="1073677" y="2150361"/>
            <a:ext cx="4117094" cy="3788858"/>
          </a:xfrm>
          <a:prstGeom prst="rect">
            <a:avLst/>
          </a:prstGeom>
          <a:noFill/>
          <a:ln>
            <a:noFill/>
          </a:ln>
        </p:spPr>
        <p:txBody>
          <a:bodyPr anchorCtr="0" anchor="t" bIns="45700" lIns="91425" spcFirstLastPara="1" rIns="91425" wrap="square" tIns="45700">
            <a:spAutoFit/>
          </a:bodyPr>
          <a:lstStyle/>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Age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Platforms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Daily screen time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Social media time</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Negatives/Positives interactions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Sleep hours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Physical activity level</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Anxiety/Stress/Mood levels</a:t>
            </a:r>
            <a:endParaRPr b="0" i="0" sz="1400" u="none" cap="none" strike="noStrike">
              <a:solidFill>
                <a:srgbClr val="000000"/>
              </a:solidFill>
              <a:latin typeface="Arial"/>
              <a:ea typeface="Arial"/>
              <a:cs typeface="Arial"/>
              <a:sym typeface="Arial"/>
            </a:endParaRPr>
          </a:p>
          <a:p>
            <a:pPr indent="-285750" lvl="0" marL="285750" marR="0" rtl="0" algn="l">
              <a:lnSpc>
                <a:spcPct val="150000"/>
              </a:lnSpc>
              <a:spcBef>
                <a:spcPts val="0"/>
              </a:spcBef>
              <a:spcAft>
                <a:spcPts val="0"/>
              </a:spcAft>
              <a:buClr>
                <a:schemeClr val="lt1"/>
              </a:buClr>
              <a:buSzPts val="1800"/>
              <a:buFont typeface="Arial"/>
              <a:buChar char="•"/>
            </a:pPr>
            <a:r>
              <a:rPr b="0" i="0" lang="en-US" sz="1800" u="none" cap="none" strike="noStrike">
                <a:solidFill>
                  <a:schemeClr val="lt1"/>
                </a:solidFill>
                <a:latin typeface="Calibri"/>
                <a:ea typeface="Calibri"/>
                <a:cs typeface="Calibri"/>
                <a:sym typeface="Calibri"/>
              </a:rPr>
              <a:t>Mental state</a:t>
            </a:r>
            <a:endParaRPr b="0" i="0" sz="1400" u="none" cap="none" strike="noStrike">
              <a:solidFill>
                <a:srgbClr val="000000"/>
              </a:solidFill>
              <a:latin typeface="Arial"/>
              <a:ea typeface="Arial"/>
              <a:cs typeface="Arial"/>
              <a:sym typeface="Arial"/>
            </a:endParaRPr>
          </a:p>
        </p:txBody>
      </p:sp>
      <p:grpSp>
        <p:nvGrpSpPr>
          <p:cNvPr id="262" name="Google Shape;262;p4"/>
          <p:cNvGrpSpPr/>
          <p:nvPr/>
        </p:nvGrpSpPr>
        <p:grpSpPr>
          <a:xfrm>
            <a:off x="9664721" y="132225"/>
            <a:ext cx="2449204" cy="341908"/>
            <a:chOff x="9619565" y="209082"/>
            <a:chExt cx="2449204" cy="341908"/>
          </a:xfrm>
        </p:grpSpPr>
        <p:pic>
          <p:nvPicPr>
            <p:cNvPr id="263" name="Google Shape;263;p4"/>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264" name="Google Shape;264;p4"/>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265" name="Google Shape;265;p4"/>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266" name="Google Shape;266;p4"/>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267" name="Google Shape;267;p4"/>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268" name="Google Shape;268;p4"/>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269" name="Google Shape;269;p4"/>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273" name="Shape 273"/>
        <p:cNvGrpSpPr/>
        <p:nvPr/>
      </p:nvGrpSpPr>
      <p:grpSpPr>
        <a:xfrm>
          <a:off x="0" y="0"/>
          <a:ext cx="0" cy="0"/>
          <a:chOff x="0" y="0"/>
          <a:chExt cx="0" cy="0"/>
        </a:xfrm>
      </p:grpSpPr>
      <p:sp>
        <p:nvSpPr>
          <p:cNvPr id="274" name="Google Shape;274;p5"/>
          <p:cNvSpPr txBox="1"/>
          <p:nvPr/>
        </p:nvSpPr>
        <p:spPr>
          <a:xfrm>
            <a:off x="731520" y="457200"/>
            <a:ext cx="8229600" cy="7315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ANALYSIS PIPELINE &amp; DATA INTEGRITY</a:t>
            </a:r>
            <a:endParaRPr b="0" i="0" sz="1400" u="none" cap="none" strike="noStrike">
              <a:solidFill>
                <a:srgbClr val="000000"/>
              </a:solidFill>
              <a:latin typeface="Arial"/>
              <a:ea typeface="Arial"/>
              <a:cs typeface="Arial"/>
              <a:sym typeface="Arial"/>
            </a:endParaRPr>
          </a:p>
        </p:txBody>
      </p:sp>
      <p:sp>
        <p:nvSpPr>
          <p:cNvPr id="275" name="Google Shape;275;p5"/>
          <p:cNvSpPr/>
          <p:nvPr/>
        </p:nvSpPr>
        <p:spPr>
          <a:xfrm>
            <a:off x="914400" y="2011680"/>
            <a:ext cx="4937760" cy="3200400"/>
          </a:xfrm>
          <a:prstGeom prst="rect">
            <a:avLst/>
          </a:prstGeom>
          <a:solidFill>
            <a:srgbClr val="14203F"/>
          </a:solidFill>
          <a:ln cap="flat" cmpd="sng" w="9525">
            <a:solidFill>
              <a:srgbClr val="EF446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F8FAFC"/>
              </a:solidFill>
              <a:latin typeface="Inter"/>
              <a:ea typeface="Inter"/>
              <a:cs typeface="Inter"/>
              <a:sym typeface="Inter"/>
            </a:endParaRPr>
          </a:p>
        </p:txBody>
      </p:sp>
      <p:sp>
        <p:nvSpPr>
          <p:cNvPr id="276" name="Google Shape;276;p5"/>
          <p:cNvSpPr/>
          <p:nvPr/>
        </p:nvSpPr>
        <p:spPr>
          <a:xfrm>
            <a:off x="6217920" y="2011680"/>
            <a:ext cx="4937760" cy="3200400"/>
          </a:xfrm>
          <a:prstGeom prst="rect">
            <a:avLst/>
          </a:prstGeom>
          <a:solidFill>
            <a:srgbClr val="14203F"/>
          </a:solidFill>
          <a:ln cap="flat" cmpd="sng" w="9525">
            <a:solidFill>
              <a:srgbClr val="22C55E"/>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chemeClr val="lt1"/>
              </a:solidFill>
              <a:latin typeface="Calibri"/>
              <a:ea typeface="Calibri"/>
              <a:cs typeface="Calibri"/>
              <a:sym typeface="Calibri"/>
            </a:endParaRPr>
          </a:p>
        </p:txBody>
      </p:sp>
      <p:sp>
        <p:nvSpPr>
          <p:cNvPr id="277" name="Google Shape;277;p5"/>
          <p:cNvSpPr txBox="1"/>
          <p:nvPr/>
        </p:nvSpPr>
        <p:spPr>
          <a:xfrm>
            <a:off x="1307434" y="3145058"/>
            <a:ext cx="4117094"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Initially considered artificially injecting 5% noise (including missing values, typos, and extreme outliers) to simulate messy real-world environments</a:t>
            </a:r>
            <a:endParaRPr b="0" i="0" sz="1400" u="none" cap="none" strike="noStrike">
              <a:solidFill>
                <a:srgbClr val="000000"/>
              </a:solidFill>
              <a:latin typeface="Arial"/>
              <a:ea typeface="Arial"/>
              <a:cs typeface="Arial"/>
              <a:sym typeface="Arial"/>
            </a:endParaRPr>
          </a:p>
        </p:txBody>
      </p:sp>
      <p:sp>
        <p:nvSpPr>
          <p:cNvPr id="278" name="Google Shape;278;p5"/>
          <p:cNvSpPr txBox="1"/>
          <p:nvPr/>
        </p:nvSpPr>
        <p:spPr>
          <a:xfrm>
            <a:off x="6611754" y="2660652"/>
            <a:ext cx="4117094"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22C55E"/>
                </a:solidFill>
                <a:latin typeface="Calibri"/>
                <a:ea typeface="Calibri"/>
                <a:cs typeface="Calibri"/>
                <a:sym typeface="Calibri"/>
              </a:rPr>
              <a:t>✅ Final Decision (Selected)</a:t>
            </a:r>
            <a:endParaRPr b="0" i="0" sz="1400" u="none" cap="none" strike="noStrike">
              <a:solidFill>
                <a:srgbClr val="000000"/>
              </a:solidFill>
              <a:latin typeface="Arial"/>
              <a:ea typeface="Arial"/>
              <a:cs typeface="Arial"/>
              <a:sym typeface="Arial"/>
            </a:endParaRPr>
          </a:p>
        </p:txBody>
      </p:sp>
      <p:sp>
        <p:nvSpPr>
          <p:cNvPr id="279" name="Google Shape;279;p5"/>
          <p:cNvSpPr txBox="1"/>
          <p:nvPr/>
        </p:nvSpPr>
        <p:spPr>
          <a:xfrm>
            <a:off x="6750173" y="3145058"/>
            <a:ext cx="4117094" cy="14772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Ultimately chose not to corrupt the dataset.</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Instead, we maintained the original, clean data to preserve the absolute integrity of the genuine statistical patterns</a:t>
            </a:r>
            <a:endParaRPr b="0" i="0" sz="1400" u="none" cap="none" strike="noStrike">
              <a:solidFill>
                <a:srgbClr val="000000"/>
              </a:solidFill>
              <a:latin typeface="Arial"/>
              <a:ea typeface="Arial"/>
              <a:cs typeface="Arial"/>
              <a:sym typeface="Arial"/>
            </a:endParaRPr>
          </a:p>
        </p:txBody>
      </p:sp>
      <p:sp>
        <p:nvSpPr>
          <p:cNvPr id="280" name="Google Shape;280;p5"/>
          <p:cNvSpPr txBox="1"/>
          <p:nvPr/>
        </p:nvSpPr>
        <p:spPr>
          <a:xfrm>
            <a:off x="317125" y="2660652"/>
            <a:ext cx="609771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B7687D"/>
                </a:solidFill>
                <a:latin typeface="Calibri"/>
                <a:ea typeface="Calibri"/>
                <a:cs typeface="Calibri"/>
                <a:sym typeface="Calibri"/>
              </a:rPr>
              <a:t>❌ Initial Approach (Rejected)</a:t>
            </a:r>
            <a:endParaRPr b="0" i="0" sz="1400" u="none" cap="none" strike="noStrike">
              <a:solidFill>
                <a:srgbClr val="000000"/>
              </a:solidFill>
              <a:latin typeface="Arial"/>
              <a:ea typeface="Arial"/>
              <a:cs typeface="Arial"/>
              <a:sym typeface="Arial"/>
            </a:endParaRPr>
          </a:p>
        </p:txBody>
      </p:sp>
      <p:grpSp>
        <p:nvGrpSpPr>
          <p:cNvPr id="281" name="Google Shape;281;p5"/>
          <p:cNvGrpSpPr/>
          <p:nvPr/>
        </p:nvGrpSpPr>
        <p:grpSpPr>
          <a:xfrm>
            <a:off x="9664721" y="132225"/>
            <a:ext cx="2449204" cy="341908"/>
            <a:chOff x="9619565" y="209082"/>
            <a:chExt cx="2449204" cy="341908"/>
          </a:xfrm>
        </p:grpSpPr>
        <p:pic>
          <p:nvPicPr>
            <p:cNvPr id="282" name="Google Shape;282;p5"/>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283" name="Google Shape;283;p5"/>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284" name="Google Shape;284;p5"/>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285" name="Google Shape;285;p5"/>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286" name="Google Shape;286;p5"/>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287" name="Google Shape;287;p5"/>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288" name="Google Shape;288;p5"/>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2" name="Shape 292"/>
        <p:cNvGrpSpPr/>
        <p:nvPr/>
      </p:nvGrpSpPr>
      <p:grpSpPr>
        <a:xfrm>
          <a:off x="0" y="0"/>
          <a:ext cx="0" cy="0"/>
          <a:chOff x="0" y="0"/>
          <a:chExt cx="0" cy="0"/>
        </a:xfrm>
      </p:grpSpPr>
      <p:sp>
        <p:nvSpPr>
          <p:cNvPr id="293" name="Google Shape;293;g3ef1b092390_1_0"/>
          <p:cNvSpPr txBox="1"/>
          <p:nvPr/>
        </p:nvSpPr>
        <p:spPr>
          <a:xfrm>
            <a:off x="731520" y="457200"/>
            <a:ext cx="82296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Data Preprocessing &amp; Engineering </a:t>
            </a:r>
            <a:endParaRPr b="0" i="0" sz="1400" u="none" cap="none" strike="noStrike">
              <a:solidFill>
                <a:srgbClr val="000000"/>
              </a:solidFill>
              <a:latin typeface="Arial"/>
              <a:ea typeface="Arial"/>
              <a:cs typeface="Arial"/>
              <a:sym typeface="Arial"/>
            </a:endParaRPr>
          </a:p>
        </p:txBody>
      </p:sp>
      <p:grpSp>
        <p:nvGrpSpPr>
          <p:cNvPr id="294" name="Google Shape;294;g3ef1b092390_1_0"/>
          <p:cNvGrpSpPr/>
          <p:nvPr/>
        </p:nvGrpSpPr>
        <p:grpSpPr>
          <a:xfrm>
            <a:off x="9664721" y="132225"/>
            <a:ext cx="2449204" cy="341906"/>
            <a:chOff x="9619565" y="209082"/>
            <a:chExt cx="2449204" cy="341906"/>
          </a:xfrm>
        </p:grpSpPr>
        <p:pic>
          <p:nvPicPr>
            <p:cNvPr id="295" name="Google Shape;295;g3ef1b092390_1_0"/>
            <p:cNvPicPr preferRelativeResize="0"/>
            <p:nvPr/>
          </p:nvPicPr>
          <p:blipFill rotWithShape="1">
            <a:blip r:embed="rId4">
              <a:alphaModFix/>
            </a:blip>
            <a:srcRect b="0" l="0" r="0" t="0"/>
            <a:stretch/>
          </p:blipFill>
          <p:spPr>
            <a:xfrm>
              <a:off x="9974731" y="211740"/>
              <a:ext cx="331660" cy="331660"/>
            </a:xfrm>
            <a:prstGeom prst="rect">
              <a:avLst/>
            </a:prstGeom>
            <a:noFill/>
            <a:ln>
              <a:noFill/>
            </a:ln>
          </p:spPr>
        </p:pic>
        <p:pic>
          <p:nvPicPr>
            <p:cNvPr id="296" name="Google Shape;296;g3ef1b092390_1_0"/>
            <p:cNvPicPr preferRelativeResize="0"/>
            <p:nvPr/>
          </p:nvPicPr>
          <p:blipFill rotWithShape="1">
            <a:blip r:embed="rId5">
              <a:alphaModFix/>
            </a:blip>
            <a:srcRect b="0" l="0" r="0" t="0"/>
            <a:stretch/>
          </p:blipFill>
          <p:spPr>
            <a:xfrm>
              <a:off x="9619565" y="216673"/>
              <a:ext cx="337984" cy="326726"/>
            </a:xfrm>
            <a:prstGeom prst="rect">
              <a:avLst/>
            </a:prstGeom>
            <a:noFill/>
            <a:ln>
              <a:noFill/>
            </a:ln>
          </p:spPr>
        </p:pic>
        <p:pic>
          <p:nvPicPr>
            <p:cNvPr id="297" name="Google Shape;297;g3ef1b092390_1_0"/>
            <p:cNvPicPr preferRelativeResize="0"/>
            <p:nvPr/>
          </p:nvPicPr>
          <p:blipFill rotWithShape="1">
            <a:blip r:embed="rId6">
              <a:alphaModFix/>
            </a:blip>
            <a:srcRect b="0" l="0" r="0" t="0"/>
            <a:stretch/>
          </p:blipFill>
          <p:spPr>
            <a:xfrm flipH="1">
              <a:off x="11000365" y="216673"/>
              <a:ext cx="331661" cy="334315"/>
            </a:xfrm>
            <a:prstGeom prst="rect">
              <a:avLst/>
            </a:prstGeom>
            <a:noFill/>
            <a:ln>
              <a:noFill/>
            </a:ln>
          </p:spPr>
        </p:pic>
        <p:pic>
          <p:nvPicPr>
            <p:cNvPr id="298" name="Google Shape;298;g3ef1b092390_1_0"/>
            <p:cNvPicPr preferRelativeResize="0"/>
            <p:nvPr/>
          </p:nvPicPr>
          <p:blipFill rotWithShape="1">
            <a:blip r:embed="rId7">
              <a:alphaModFix/>
            </a:blip>
            <a:srcRect b="0" l="0" r="0" t="0"/>
            <a:stretch/>
          </p:blipFill>
          <p:spPr>
            <a:xfrm>
              <a:off x="11349209" y="209083"/>
              <a:ext cx="351187" cy="331661"/>
            </a:xfrm>
            <a:prstGeom prst="rect">
              <a:avLst/>
            </a:prstGeom>
            <a:noFill/>
            <a:ln>
              <a:noFill/>
            </a:ln>
          </p:spPr>
        </p:pic>
        <p:pic>
          <p:nvPicPr>
            <p:cNvPr id="299" name="Google Shape;299;g3ef1b092390_1_0"/>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300" name="Google Shape;300;g3ef1b092390_1_0"/>
            <p:cNvPicPr preferRelativeResize="0"/>
            <p:nvPr/>
          </p:nvPicPr>
          <p:blipFill rotWithShape="1">
            <a:blip r:embed="rId9">
              <a:alphaModFix/>
            </a:blip>
            <a:srcRect b="0" l="0" r="0" t="0"/>
            <a:stretch/>
          </p:blipFill>
          <p:spPr>
            <a:xfrm>
              <a:off x="10323574" y="209083"/>
              <a:ext cx="308421" cy="334315"/>
            </a:xfrm>
            <a:prstGeom prst="rect">
              <a:avLst/>
            </a:prstGeom>
            <a:noFill/>
            <a:ln>
              <a:noFill/>
            </a:ln>
          </p:spPr>
        </p:pic>
        <p:pic>
          <p:nvPicPr>
            <p:cNvPr id="301" name="Google Shape;301;g3ef1b092390_1_0"/>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302" name="Google Shape;302;g3ef1b092390_1_0"/>
          <p:cNvGrpSpPr/>
          <p:nvPr/>
        </p:nvGrpSpPr>
        <p:grpSpPr>
          <a:xfrm>
            <a:off x="78435" y="2172373"/>
            <a:ext cx="12035513" cy="2513064"/>
            <a:chOff x="78255" y="1520168"/>
            <a:chExt cx="12035513" cy="2513064"/>
          </a:xfrm>
        </p:grpSpPr>
        <p:grpSp>
          <p:nvGrpSpPr>
            <p:cNvPr id="303" name="Google Shape;303;g3ef1b092390_1_0"/>
            <p:cNvGrpSpPr/>
            <p:nvPr/>
          </p:nvGrpSpPr>
          <p:grpSpPr>
            <a:xfrm>
              <a:off x="78255" y="1520168"/>
              <a:ext cx="4403100" cy="2513049"/>
              <a:chOff x="245765" y="1339631"/>
              <a:chExt cx="4403100" cy="2513049"/>
            </a:xfrm>
          </p:grpSpPr>
          <p:grpSp>
            <p:nvGrpSpPr>
              <p:cNvPr id="304" name="Google Shape;304;g3ef1b092390_1_0"/>
              <p:cNvGrpSpPr/>
              <p:nvPr/>
            </p:nvGrpSpPr>
            <p:grpSpPr>
              <a:xfrm>
                <a:off x="245765" y="1339631"/>
                <a:ext cx="4403100" cy="492367"/>
                <a:chOff x="-172853" y="1803854"/>
                <a:chExt cx="4403100" cy="711000"/>
              </a:xfrm>
            </p:grpSpPr>
            <p:sp>
              <p:nvSpPr>
                <p:cNvPr id="305" name="Google Shape;305;g3ef1b092390_1_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6" name="Google Shape;306;g3ef1b092390_1_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Strategic Encoding </a:t>
                  </a:r>
                  <a:endParaRPr b="0" i="0" sz="1400" u="none" cap="none" strike="noStrike">
                    <a:solidFill>
                      <a:srgbClr val="000000"/>
                    </a:solidFill>
                    <a:latin typeface="Arial"/>
                    <a:ea typeface="Arial"/>
                    <a:cs typeface="Arial"/>
                    <a:sym typeface="Arial"/>
                  </a:endParaRPr>
                </a:p>
              </p:txBody>
            </p:sp>
          </p:grpSp>
          <p:grpSp>
            <p:nvGrpSpPr>
              <p:cNvPr id="307" name="Google Shape;307;g3ef1b092390_1_0"/>
              <p:cNvGrpSpPr/>
              <p:nvPr/>
            </p:nvGrpSpPr>
            <p:grpSpPr>
              <a:xfrm>
                <a:off x="727383" y="2080880"/>
                <a:ext cx="3439822" cy="1771800"/>
                <a:chOff x="727383" y="2080880"/>
                <a:chExt cx="3439822" cy="1771800"/>
              </a:xfrm>
            </p:grpSpPr>
            <p:sp>
              <p:nvSpPr>
                <p:cNvPr id="308" name="Google Shape;308;g3ef1b092390_1_0"/>
                <p:cNvSpPr/>
                <p:nvPr/>
              </p:nvSpPr>
              <p:spPr>
                <a:xfrm>
                  <a:off x="727405" y="2080880"/>
                  <a:ext cx="3439800" cy="17718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09" name="Google Shape;309;g3ef1b092390_1_0"/>
                <p:cNvSpPr txBox="1"/>
                <p:nvPr/>
              </p:nvSpPr>
              <p:spPr>
                <a:xfrm>
                  <a:off x="727383" y="2366486"/>
                  <a:ext cx="3439800" cy="1200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Applied Ordinal Encoding to 'Mental State' (Healthy=0, Stressed=1, At Risk=2) to preserve its inherent severity hierarchy</a:t>
                  </a:r>
                  <a:endParaRPr b="0" i="0" sz="1400" u="none" cap="none" strike="noStrike">
                    <a:solidFill>
                      <a:srgbClr val="000000"/>
                    </a:solidFill>
                    <a:latin typeface="Arial"/>
                    <a:ea typeface="Arial"/>
                    <a:cs typeface="Arial"/>
                    <a:sym typeface="Arial"/>
                  </a:endParaRPr>
                </a:p>
              </p:txBody>
            </p:sp>
          </p:grpSp>
        </p:grpSp>
        <p:grpSp>
          <p:nvGrpSpPr>
            <p:cNvPr id="310" name="Google Shape;310;g3ef1b092390_1_0"/>
            <p:cNvGrpSpPr/>
            <p:nvPr/>
          </p:nvGrpSpPr>
          <p:grpSpPr>
            <a:xfrm>
              <a:off x="3894461" y="1520168"/>
              <a:ext cx="4403100" cy="2513052"/>
              <a:chOff x="4086587" y="1339631"/>
              <a:chExt cx="4403100" cy="2513052"/>
            </a:xfrm>
          </p:grpSpPr>
          <p:grpSp>
            <p:nvGrpSpPr>
              <p:cNvPr id="311" name="Google Shape;311;g3ef1b092390_1_0"/>
              <p:cNvGrpSpPr/>
              <p:nvPr/>
            </p:nvGrpSpPr>
            <p:grpSpPr>
              <a:xfrm>
                <a:off x="4086587" y="1339631"/>
                <a:ext cx="4403100" cy="492367"/>
                <a:chOff x="-172853" y="1803854"/>
                <a:chExt cx="4403100" cy="711000"/>
              </a:xfrm>
            </p:grpSpPr>
            <p:sp>
              <p:nvSpPr>
                <p:cNvPr id="312" name="Google Shape;312;g3ef1b092390_1_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3" name="Google Shape;313;g3ef1b092390_1_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Preventing Bias</a:t>
                  </a:r>
                  <a:endParaRPr b="0" i="0" sz="1400" u="none" cap="none" strike="noStrike">
                    <a:solidFill>
                      <a:srgbClr val="000000"/>
                    </a:solidFill>
                    <a:latin typeface="Arial"/>
                    <a:ea typeface="Arial"/>
                    <a:cs typeface="Arial"/>
                    <a:sym typeface="Arial"/>
                  </a:endParaRPr>
                </a:p>
              </p:txBody>
            </p:sp>
          </p:grpSp>
          <p:grpSp>
            <p:nvGrpSpPr>
              <p:cNvPr id="314" name="Google Shape;314;g3ef1b092390_1_0"/>
              <p:cNvGrpSpPr/>
              <p:nvPr/>
            </p:nvGrpSpPr>
            <p:grpSpPr>
              <a:xfrm>
                <a:off x="4568221" y="2080883"/>
                <a:ext cx="3439822" cy="1771800"/>
                <a:chOff x="727399" y="2080883"/>
                <a:chExt cx="3439822" cy="1771800"/>
              </a:xfrm>
            </p:grpSpPr>
            <p:sp>
              <p:nvSpPr>
                <p:cNvPr id="315" name="Google Shape;315;g3ef1b092390_1_0"/>
                <p:cNvSpPr/>
                <p:nvPr/>
              </p:nvSpPr>
              <p:spPr>
                <a:xfrm>
                  <a:off x="727399" y="2080883"/>
                  <a:ext cx="3439800" cy="17718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16" name="Google Shape;316;g3ef1b092390_1_0"/>
                <p:cNvSpPr txBox="1"/>
                <p:nvPr/>
              </p:nvSpPr>
              <p:spPr>
                <a:xfrm>
                  <a:off x="727421" y="2228036"/>
                  <a:ext cx="3439800" cy="1477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Calibri"/>
                      <a:ea typeface="Calibri"/>
                      <a:cs typeface="Calibri"/>
                      <a:sym typeface="Calibri"/>
                    </a:rPr>
                    <a:t>Utilized One-Hot Encoding for nominal features like 'Platform' and 'Gender' to prevent models from inferring false mathematical relationships </a:t>
                  </a:r>
                  <a:endParaRPr b="0" i="0" sz="1400" u="none" cap="none" strike="noStrike">
                    <a:solidFill>
                      <a:schemeClr val="dk1"/>
                    </a:solidFill>
                    <a:latin typeface="Arial"/>
                    <a:ea typeface="Arial"/>
                    <a:cs typeface="Arial"/>
                    <a:sym typeface="Arial"/>
                  </a:endParaRPr>
                </a:p>
              </p:txBody>
            </p:sp>
          </p:grpSp>
        </p:grpSp>
        <p:grpSp>
          <p:nvGrpSpPr>
            <p:cNvPr id="317" name="Google Shape;317;g3ef1b092390_1_0"/>
            <p:cNvGrpSpPr/>
            <p:nvPr/>
          </p:nvGrpSpPr>
          <p:grpSpPr>
            <a:xfrm>
              <a:off x="7710668" y="1520168"/>
              <a:ext cx="4403100" cy="2513064"/>
              <a:chOff x="7927409" y="1339631"/>
              <a:chExt cx="4403100" cy="2513064"/>
            </a:xfrm>
          </p:grpSpPr>
          <p:grpSp>
            <p:nvGrpSpPr>
              <p:cNvPr id="318" name="Google Shape;318;g3ef1b092390_1_0"/>
              <p:cNvGrpSpPr/>
              <p:nvPr/>
            </p:nvGrpSpPr>
            <p:grpSpPr>
              <a:xfrm>
                <a:off x="7927409" y="1339631"/>
                <a:ext cx="4403100" cy="492367"/>
                <a:chOff x="-172853" y="1803854"/>
                <a:chExt cx="4403100" cy="711000"/>
              </a:xfrm>
            </p:grpSpPr>
            <p:sp>
              <p:nvSpPr>
                <p:cNvPr id="319" name="Google Shape;319;g3ef1b092390_1_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0" name="Google Shape;320;g3ef1b092390_1_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Min-Max Scaling </a:t>
                  </a:r>
                  <a:endParaRPr b="1" i="0" sz="2000" u="none" cap="none" strike="noStrike">
                    <a:solidFill>
                      <a:schemeClr val="lt1"/>
                    </a:solidFill>
                    <a:latin typeface="Calibri"/>
                    <a:ea typeface="Calibri"/>
                    <a:cs typeface="Calibri"/>
                    <a:sym typeface="Calibri"/>
                  </a:endParaRPr>
                </a:p>
              </p:txBody>
            </p:sp>
          </p:grpSp>
          <p:grpSp>
            <p:nvGrpSpPr>
              <p:cNvPr id="321" name="Google Shape;321;g3ef1b092390_1_0"/>
              <p:cNvGrpSpPr/>
              <p:nvPr/>
            </p:nvGrpSpPr>
            <p:grpSpPr>
              <a:xfrm>
                <a:off x="8409053" y="2080895"/>
                <a:ext cx="3439824" cy="1771800"/>
                <a:chOff x="727409" y="2080895"/>
                <a:chExt cx="3439824" cy="1771800"/>
              </a:xfrm>
            </p:grpSpPr>
            <p:sp>
              <p:nvSpPr>
                <p:cNvPr id="322" name="Google Shape;322;g3ef1b092390_1_0"/>
                <p:cNvSpPr/>
                <p:nvPr/>
              </p:nvSpPr>
              <p:spPr>
                <a:xfrm>
                  <a:off x="727409" y="2080895"/>
                  <a:ext cx="3439800" cy="17718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23" name="Google Shape;323;g3ef1b092390_1_0"/>
                <p:cNvSpPr txBox="1"/>
                <p:nvPr/>
              </p:nvSpPr>
              <p:spPr>
                <a:xfrm>
                  <a:off x="727433" y="2228032"/>
                  <a:ext cx="3439800" cy="1477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cap="none" strike="noStrike">
                      <a:solidFill>
                        <a:schemeClr val="lt1"/>
                      </a:solidFill>
                      <a:latin typeface="Calibri"/>
                      <a:ea typeface="Calibri"/>
                      <a:cs typeface="Calibri"/>
                      <a:sym typeface="Calibri"/>
                    </a:rPr>
                    <a:t>Standardized all numerical variables to a uniform 0-1 range so large-magnitude features wouldn't dominate the clustering distance calculations</a:t>
                  </a:r>
                  <a:endParaRPr b="0" i="0" sz="1800" u="none" cap="none" strike="noStrike">
                    <a:solidFill>
                      <a:srgbClr val="FFFFFF"/>
                    </a:solidFill>
                    <a:latin typeface="Calibri"/>
                    <a:ea typeface="Calibri"/>
                    <a:cs typeface="Calibri"/>
                    <a:sym typeface="Calibri"/>
                  </a:endParaRPr>
                </a:p>
              </p:txBody>
            </p:sp>
          </p:grpSp>
        </p:gr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7" name="Shape 327"/>
        <p:cNvGrpSpPr/>
        <p:nvPr/>
      </p:nvGrpSpPr>
      <p:grpSpPr>
        <a:xfrm>
          <a:off x="0" y="0"/>
          <a:ext cx="0" cy="0"/>
          <a:chOff x="0" y="0"/>
          <a:chExt cx="0" cy="0"/>
        </a:xfrm>
      </p:grpSpPr>
      <p:sp>
        <p:nvSpPr>
          <p:cNvPr id="328" name="Google Shape;328;p10"/>
          <p:cNvSpPr txBox="1"/>
          <p:nvPr/>
        </p:nvSpPr>
        <p:spPr>
          <a:xfrm>
            <a:off x="295200" y="2405437"/>
            <a:ext cx="11601600" cy="692497"/>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38BDF8"/>
                </a:solidFill>
                <a:latin typeface="Urbanist"/>
                <a:ea typeface="Urbanist"/>
                <a:cs typeface="Urbanist"/>
                <a:sym typeface="Urbanist"/>
              </a:rPr>
              <a:t>Part 2: Theoretical Foundations</a:t>
            </a:r>
            <a:endParaRPr b="0" i="0" sz="4800" u="none" cap="none" strike="noStrike">
              <a:solidFill>
                <a:srgbClr val="000000"/>
              </a:solidFill>
              <a:latin typeface="Arial"/>
              <a:ea typeface="Arial"/>
              <a:cs typeface="Arial"/>
              <a:sym typeface="Arial"/>
            </a:endParaRPr>
          </a:p>
        </p:txBody>
      </p:sp>
      <p:sp>
        <p:nvSpPr>
          <p:cNvPr id="329" name="Google Shape;329;p10"/>
          <p:cNvSpPr txBox="1"/>
          <p:nvPr/>
        </p:nvSpPr>
        <p:spPr>
          <a:xfrm>
            <a:off x="2285925" y="3281737"/>
            <a:ext cx="7620000" cy="923330"/>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000"/>
              <a:buFont typeface="Arial"/>
              <a:buNone/>
            </a:pPr>
            <a:r>
              <a:rPr b="0" i="0" lang="en-US" sz="2000" u="none" cap="none" strike="noStrike">
                <a:solidFill>
                  <a:srgbClr val="CBD5E1"/>
                </a:solidFill>
                <a:latin typeface="Calibri"/>
                <a:ea typeface="Calibri"/>
                <a:cs typeface="Calibri"/>
                <a:sym typeface="Calibri"/>
              </a:rPr>
              <a:t>Exploring the mechanics of Hierarchical Clustering and Gaussian Mixture Models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172A"/>
        </a:solidFill>
      </p:bgPr>
    </p:bg>
    <p:spTree>
      <p:nvGrpSpPr>
        <p:cNvPr id="333" name="Shape 333"/>
        <p:cNvGrpSpPr/>
        <p:nvPr/>
      </p:nvGrpSpPr>
      <p:grpSpPr>
        <a:xfrm>
          <a:off x="0" y="0"/>
          <a:ext cx="0" cy="0"/>
          <a:chOff x="0" y="0"/>
          <a:chExt cx="0" cy="0"/>
        </a:xfrm>
      </p:grpSpPr>
      <p:pic>
        <p:nvPicPr>
          <p:cNvPr descr="image.png" id="334" name="Google Shape;334;g3ef4ae7413f_0_159"/>
          <p:cNvPicPr preferRelativeResize="0"/>
          <p:nvPr/>
        </p:nvPicPr>
        <p:blipFill rotWithShape="1">
          <a:blip r:embed="rId3">
            <a:alphaModFix/>
          </a:blip>
          <a:srcRect b="0" l="0" r="0" t="0"/>
          <a:stretch/>
        </p:blipFill>
        <p:spPr>
          <a:xfrm>
            <a:off x="0" y="14275"/>
            <a:ext cx="12192000" cy="6858000"/>
          </a:xfrm>
          <a:prstGeom prst="rect">
            <a:avLst/>
          </a:prstGeom>
          <a:noFill/>
          <a:ln>
            <a:noFill/>
          </a:ln>
        </p:spPr>
      </p:pic>
      <p:sp>
        <p:nvSpPr>
          <p:cNvPr id="335" name="Google Shape;335;g3ef4ae7413f_0_159"/>
          <p:cNvSpPr txBox="1"/>
          <p:nvPr/>
        </p:nvSpPr>
        <p:spPr>
          <a:xfrm>
            <a:off x="771525" y="196691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36" name="Google Shape;336;g3ef4ae7413f_0_159"/>
          <p:cNvSpPr txBox="1"/>
          <p:nvPr/>
        </p:nvSpPr>
        <p:spPr>
          <a:xfrm>
            <a:off x="809625" y="1966912"/>
            <a:ext cx="5048400" cy="9234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Builds a tree of nested clusters (a </a:t>
            </a:r>
            <a:r>
              <a:rPr b="1" i="0" lang="en-US" sz="1500" u="none" cap="none" strike="noStrike">
                <a:solidFill>
                  <a:srgbClr val="F8FAFC"/>
                </a:solidFill>
                <a:latin typeface="Urbanist"/>
                <a:ea typeface="Urbanist"/>
                <a:cs typeface="Urbanist"/>
                <a:sym typeface="Urbanist"/>
              </a:rPr>
              <a:t>dendrogram</a:t>
            </a:r>
            <a:r>
              <a:rPr b="0" i="0" lang="en-US" sz="1500" u="none" cap="none" strike="noStrike">
                <a:solidFill>
                  <a:srgbClr val="CBD5E1"/>
                </a:solidFill>
                <a:latin typeface="Urbanist Medium"/>
                <a:ea typeface="Urbanist Medium"/>
                <a:cs typeface="Urbanist Medium"/>
                <a:sym typeface="Urbanist Medium"/>
              </a:rPr>
              <a:t>) by iteratively merging the closest groups based on relative distances.</a:t>
            </a:r>
            <a:endParaRPr b="0" i="0" sz="1400" u="none" cap="none" strike="noStrike">
              <a:solidFill>
                <a:srgbClr val="000000"/>
              </a:solidFill>
              <a:latin typeface="Arial"/>
              <a:ea typeface="Arial"/>
              <a:cs typeface="Arial"/>
              <a:sym typeface="Arial"/>
            </a:endParaRPr>
          </a:p>
        </p:txBody>
      </p:sp>
      <p:sp>
        <p:nvSpPr>
          <p:cNvPr id="337" name="Google Shape;337;g3ef4ae7413f_0_159"/>
          <p:cNvSpPr txBox="1"/>
          <p:nvPr/>
        </p:nvSpPr>
        <p:spPr>
          <a:xfrm>
            <a:off x="771525" y="301466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38" name="Google Shape;338;g3ef4ae7413f_0_159"/>
          <p:cNvSpPr txBox="1"/>
          <p:nvPr/>
        </p:nvSpPr>
        <p:spPr>
          <a:xfrm>
            <a:off x="809625" y="3014662"/>
            <a:ext cx="5048400" cy="9234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Utilizes an </a:t>
            </a:r>
            <a:r>
              <a:rPr b="1" i="0" lang="en-US" sz="1500" u="none" cap="none" strike="noStrike">
                <a:solidFill>
                  <a:srgbClr val="F8FAFC"/>
                </a:solidFill>
                <a:latin typeface="Urbanist"/>
                <a:ea typeface="Urbanist"/>
                <a:cs typeface="Urbanist"/>
                <a:sym typeface="Urbanist"/>
              </a:rPr>
              <a:t>agglomerative</a:t>
            </a:r>
            <a:r>
              <a:rPr b="0" i="0" lang="en-US" sz="1500" u="none" cap="none" strike="noStrike">
                <a:solidFill>
                  <a:srgbClr val="CBD5E1"/>
                </a:solidFill>
                <a:latin typeface="Urbanist Medium"/>
                <a:ea typeface="Urbanist Medium"/>
                <a:cs typeface="Urbanist Medium"/>
                <a:sym typeface="Urbanist Medium"/>
              </a:rPr>
              <a:t> approach, meaning it starts with every data point as its own isolated cluster and merges upwards.</a:t>
            </a:r>
            <a:endParaRPr b="0" i="0" sz="1400" u="none" cap="none" strike="noStrike">
              <a:solidFill>
                <a:srgbClr val="000000"/>
              </a:solidFill>
              <a:latin typeface="Arial"/>
              <a:ea typeface="Arial"/>
              <a:cs typeface="Arial"/>
              <a:sym typeface="Arial"/>
            </a:endParaRPr>
          </a:p>
        </p:txBody>
      </p:sp>
      <p:sp>
        <p:nvSpPr>
          <p:cNvPr id="339" name="Google Shape;339;g3ef4ae7413f_0_159"/>
          <p:cNvSpPr txBox="1"/>
          <p:nvPr/>
        </p:nvSpPr>
        <p:spPr>
          <a:xfrm>
            <a:off x="771525" y="406241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40" name="Google Shape;340;g3ef4ae7413f_0_159"/>
          <p:cNvSpPr txBox="1"/>
          <p:nvPr/>
        </p:nvSpPr>
        <p:spPr>
          <a:xfrm>
            <a:off x="809625" y="4062412"/>
            <a:ext cx="5048400" cy="5772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Merges the two nearest clusters at each progressive step until all points belong to one massive, final cluster.</a:t>
            </a:r>
            <a:endParaRPr b="0" i="0" sz="1400" u="none" cap="none" strike="noStrike">
              <a:solidFill>
                <a:srgbClr val="000000"/>
              </a:solidFill>
              <a:latin typeface="Arial"/>
              <a:ea typeface="Arial"/>
              <a:cs typeface="Arial"/>
              <a:sym typeface="Arial"/>
            </a:endParaRPr>
          </a:p>
        </p:txBody>
      </p:sp>
      <p:sp>
        <p:nvSpPr>
          <p:cNvPr id="341" name="Google Shape;341;g3ef4ae7413f_0_159"/>
          <p:cNvSpPr txBox="1"/>
          <p:nvPr/>
        </p:nvSpPr>
        <p:spPr>
          <a:xfrm>
            <a:off x="771525" y="482441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42" name="Google Shape;342;g3ef4ae7413f_0_159"/>
          <p:cNvSpPr txBox="1"/>
          <p:nvPr/>
        </p:nvSpPr>
        <p:spPr>
          <a:xfrm>
            <a:off x="809625" y="4824412"/>
            <a:ext cx="5048400" cy="5772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Provides a deterministic, hard partition of the dataset without computing probabilistic boundaries.</a:t>
            </a:r>
            <a:endParaRPr b="0" i="0" sz="1400" u="none" cap="none" strike="noStrike">
              <a:solidFill>
                <a:srgbClr val="000000"/>
              </a:solidFill>
              <a:latin typeface="Arial"/>
              <a:ea typeface="Arial"/>
              <a:cs typeface="Arial"/>
              <a:sym typeface="Arial"/>
            </a:endParaRPr>
          </a:p>
        </p:txBody>
      </p:sp>
      <p:sp>
        <p:nvSpPr>
          <p:cNvPr id="343" name="Google Shape;343;g3ef4ae7413f_0_159"/>
          <p:cNvSpPr txBox="1"/>
          <p:nvPr/>
        </p:nvSpPr>
        <p:spPr>
          <a:xfrm>
            <a:off x="571500" y="571500"/>
            <a:ext cx="116016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Hierarchical Clustering</a:t>
            </a:r>
            <a:endParaRPr b="0" i="0" sz="1400" u="none" cap="none" strike="noStrike">
              <a:solidFill>
                <a:srgbClr val="000000"/>
              </a:solidFill>
              <a:latin typeface="Arial"/>
              <a:ea typeface="Arial"/>
              <a:cs typeface="Arial"/>
              <a:sym typeface="Arial"/>
            </a:endParaRPr>
          </a:p>
        </p:txBody>
      </p:sp>
      <p:pic>
        <p:nvPicPr>
          <p:cNvPr descr="image.png" id="344" name="Google Shape;344;g3ef4ae7413f_0_159"/>
          <p:cNvPicPr preferRelativeResize="0"/>
          <p:nvPr/>
        </p:nvPicPr>
        <p:blipFill rotWithShape="1">
          <a:blip r:embed="rId4">
            <a:alphaModFix/>
          </a:blip>
          <a:srcRect b="0" l="0" r="0" t="0"/>
          <a:stretch/>
        </p:blipFill>
        <p:spPr>
          <a:xfrm>
            <a:off x="6524800" y="1479337"/>
            <a:ext cx="5286375" cy="4610100"/>
          </a:xfrm>
          <a:prstGeom prst="rect">
            <a:avLst/>
          </a:prstGeom>
          <a:noFill/>
          <a:ln>
            <a:noFill/>
          </a:ln>
        </p:spPr>
      </p:pic>
      <p:pic>
        <p:nvPicPr>
          <p:cNvPr descr="image.png" id="345" name="Google Shape;345;g3ef4ae7413f_0_159"/>
          <p:cNvPicPr preferRelativeResize="0"/>
          <p:nvPr/>
        </p:nvPicPr>
        <p:blipFill rotWithShape="1">
          <a:blip r:embed="rId5">
            <a:alphaModFix/>
          </a:blip>
          <a:srcRect b="0" l="0" r="0" t="0"/>
          <a:stretch/>
        </p:blipFill>
        <p:spPr>
          <a:xfrm>
            <a:off x="6915325" y="3308125"/>
            <a:ext cx="1642625" cy="390525"/>
          </a:xfrm>
          <a:prstGeom prst="rect">
            <a:avLst/>
          </a:prstGeom>
          <a:noFill/>
          <a:ln>
            <a:noFill/>
          </a:ln>
        </p:spPr>
      </p:pic>
      <p:sp>
        <p:nvSpPr>
          <p:cNvPr id="346" name="Google Shape;346;g3ef4ae7413f_0_159"/>
          <p:cNvSpPr txBox="1"/>
          <p:nvPr/>
        </p:nvSpPr>
        <p:spPr>
          <a:xfrm>
            <a:off x="6915325" y="1869862"/>
            <a:ext cx="4730700" cy="34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818CF8"/>
                </a:solidFill>
                <a:latin typeface="Urbanist"/>
                <a:ea typeface="Urbanist"/>
                <a:cs typeface="Urbanist"/>
                <a:sym typeface="Urbanist"/>
              </a:rPr>
              <a:t>Potential Pitfalls</a:t>
            </a:r>
            <a:endParaRPr b="0" i="0" sz="1400" u="none" cap="none" strike="noStrike">
              <a:solidFill>
                <a:srgbClr val="000000"/>
              </a:solidFill>
              <a:latin typeface="Arial"/>
              <a:ea typeface="Arial"/>
              <a:cs typeface="Arial"/>
              <a:sym typeface="Arial"/>
            </a:endParaRPr>
          </a:p>
        </p:txBody>
      </p:sp>
      <p:sp>
        <p:nvSpPr>
          <p:cNvPr id="347" name="Google Shape;347;g3ef4ae7413f_0_159"/>
          <p:cNvSpPr txBox="1"/>
          <p:nvPr/>
        </p:nvSpPr>
        <p:spPr>
          <a:xfrm>
            <a:off x="6915325" y="2365162"/>
            <a:ext cx="4505400" cy="9234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Hierarchical algorithms scale poorly on extremely large datasets without subsampling, suffering from significant time and memory complexity:</a:t>
            </a:r>
            <a:endParaRPr b="0" i="0" sz="1400" u="none" cap="none" strike="noStrike">
              <a:solidFill>
                <a:srgbClr val="000000"/>
              </a:solidFill>
              <a:latin typeface="Arial"/>
              <a:ea typeface="Arial"/>
              <a:cs typeface="Arial"/>
              <a:sym typeface="Arial"/>
            </a:endParaRPr>
          </a:p>
        </p:txBody>
      </p:sp>
      <p:sp>
        <p:nvSpPr>
          <p:cNvPr id="348" name="Google Shape;348;g3ef4ae7413f_0_159"/>
          <p:cNvSpPr txBox="1"/>
          <p:nvPr/>
        </p:nvSpPr>
        <p:spPr>
          <a:xfrm>
            <a:off x="6915325" y="3889162"/>
            <a:ext cx="4505400" cy="1269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Merges are strictly irreversible, meaning early mistakes heavily propagate. Furthermore, it completely lacks built-in handling for noise or extreme outliers.</a:t>
            </a:r>
            <a:endParaRPr b="0" i="0" sz="1400" u="none" cap="none" strike="noStrike">
              <a:solidFill>
                <a:srgbClr val="000000"/>
              </a:solidFill>
              <a:latin typeface="Arial"/>
              <a:ea typeface="Arial"/>
              <a:cs typeface="Arial"/>
              <a:sym typeface="Arial"/>
            </a:endParaRPr>
          </a:p>
        </p:txBody>
      </p:sp>
      <p:pic>
        <p:nvPicPr>
          <p:cNvPr descr="image.png" id="349" name="Google Shape;349;g3ef4ae7413f_0_159"/>
          <p:cNvPicPr preferRelativeResize="0"/>
          <p:nvPr/>
        </p:nvPicPr>
        <p:blipFill rotWithShape="1">
          <a:blip r:embed="rId6">
            <a:alphaModFix/>
          </a:blip>
          <a:srcRect b="0" l="0" r="0" t="0"/>
          <a:stretch/>
        </p:blipFill>
        <p:spPr>
          <a:xfrm>
            <a:off x="7096300" y="3366031"/>
            <a:ext cx="1318766" cy="294530"/>
          </a:xfrm>
          <a:prstGeom prst="rect">
            <a:avLst/>
          </a:prstGeom>
          <a:noFill/>
          <a:ln>
            <a:noFill/>
          </a:ln>
        </p:spPr>
      </p:pic>
      <p:sp>
        <p:nvSpPr>
          <p:cNvPr id="350" name="Google Shape;350;g3ef4ae7413f_0_159"/>
          <p:cNvSpPr txBox="1"/>
          <p:nvPr/>
        </p:nvSpPr>
        <p:spPr>
          <a:xfrm>
            <a:off x="929816" y="6260378"/>
            <a:ext cx="1524300" cy="188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23"/>
              <a:buFont typeface="Arial"/>
              <a:buNone/>
            </a:pPr>
            <a:r>
              <a:rPr b="1" i="0" lang="en-US" sz="1223" u="none" cap="none" strike="noStrike">
                <a:solidFill>
                  <a:srgbClr val="F8FAFC"/>
                </a:solidFill>
                <a:latin typeface="Urbanist"/>
                <a:ea typeface="Urbanist"/>
                <a:cs typeface="Urbanist"/>
                <a:sym typeface="Urbanist"/>
              </a:rPr>
              <a:t>n_clusters</a:t>
            </a:r>
            <a:endParaRPr b="0" i="0" sz="761" u="none" cap="none" strike="noStrike">
              <a:solidFill>
                <a:srgbClr val="000000"/>
              </a:solidFill>
              <a:latin typeface="Arial"/>
              <a:ea typeface="Arial"/>
              <a:cs typeface="Arial"/>
              <a:sym typeface="Arial"/>
            </a:endParaRPr>
          </a:p>
        </p:txBody>
      </p:sp>
      <p:sp>
        <p:nvSpPr>
          <p:cNvPr id="351" name="Google Shape;351;g3ef4ae7413f_0_159"/>
          <p:cNvSpPr txBox="1"/>
          <p:nvPr/>
        </p:nvSpPr>
        <p:spPr>
          <a:xfrm>
            <a:off x="1846784" y="6260378"/>
            <a:ext cx="1524300" cy="188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23"/>
              <a:buFont typeface="Arial"/>
              <a:buNone/>
            </a:pPr>
            <a:r>
              <a:rPr b="1" i="0" lang="en-US" sz="1223" u="none" cap="none" strike="noStrike">
                <a:solidFill>
                  <a:srgbClr val="F8FAFC"/>
                </a:solidFill>
                <a:latin typeface="Urbanist"/>
                <a:ea typeface="Urbanist"/>
                <a:cs typeface="Urbanist"/>
                <a:sym typeface="Urbanist"/>
              </a:rPr>
              <a:t>linkage</a:t>
            </a:r>
            <a:endParaRPr b="0" i="0" sz="761" u="none" cap="none" strike="noStrike">
              <a:solidFill>
                <a:srgbClr val="000000"/>
              </a:solidFill>
              <a:latin typeface="Arial"/>
              <a:ea typeface="Arial"/>
              <a:cs typeface="Arial"/>
              <a:sym typeface="Arial"/>
            </a:endParaRPr>
          </a:p>
        </p:txBody>
      </p:sp>
      <p:sp>
        <p:nvSpPr>
          <p:cNvPr id="352" name="Google Shape;352;g3ef4ae7413f_0_159"/>
          <p:cNvSpPr txBox="1"/>
          <p:nvPr/>
        </p:nvSpPr>
        <p:spPr>
          <a:xfrm>
            <a:off x="2488357" y="6260378"/>
            <a:ext cx="1524300" cy="188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223"/>
              <a:buFont typeface="Arial"/>
              <a:buNone/>
            </a:pPr>
            <a:r>
              <a:rPr b="1" i="0" lang="en-US" sz="1223" u="none" cap="none" strike="noStrike">
                <a:solidFill>
                  <a:srgbClr val="F8FAFC"/>
                </a:solidFill>
                <a:latin typeface="Urbanist"/>
                <a:ea typeface="Urbanist"/>
                <a:cs typeface="Urbanist"/>
                <a:sym typeface="Urbanist"/>
              </a:rPr>
              <a:t>metric</a:t>
            </a:r>
            <a:endParaRPr b="0" i="0" sz="761" u="none" cap="none" strike="noStrike">
              <a:solidFill>
                <a:srgbClr val="000000"/>
              </a:solidFill>
              <a:latin typeface="Arial"/>
              <a:ea typeface="Arial"/>
              <a:cs typeface="Arial"/>
              <a:sym typeface="Arial"/>
            </a:endParaRPr>
          </a:p>
        </p:txBody>
      </p:sp>
      <p:pic>
        <p:nvPicPr>
          <p:cNvPr descr="image.png" id="353" name="Google Shape;353;g3ef4ae7413f_0_159"/>
          <p:cNvPicPr preferRelativeResize="0"/>
          <p:nvPr/>
        </p:nvPicPr>
        <p:blipFill rotWithShape="1">
          <a:blip r:embed="rId7">
            <a:alphaModFix/>
          </a:blip>
          <a:srcRect b="0" l="0" r="0" t="0"/>
          <a:stretch/>
        </p:blipFill>
        <p:spPr>
          <a:xfrm>
            <a:off x="921683" y="5877124"/>
            <a:ext cx="228702" cy="248597"/>
          </a:xfrm>
          <a:prstGeom prst="rect">
            <a:avLst/>
          </a:prstGeom>
          <a:noFill/>
          <a:ln>
            <a:noFill/>
          </a:ln>
        </p:spPr>
      </p:pic>
      <p:pic>
        <p:nvPicPr>
          <p:cNvPr descr="image.png" id="354" name="Google Shape;354;g3ef4ae7413f_0_159"/>
          <p:cNvPicPr preferRelativeResize="0"/>
          <p:nvPr/>
        </p:nvPicPr>
        <p:blipFill rotWithShape="1">
          <a:blip r:embed="rId8">
            <a:alphaModFix/>
          </a:blip>
          <a:srcRect b="0" l="0" r="0" t="0"/>
          <a:stretch/>
        </p:blipFill>
        <p:spPr>
          <a:xfrm>
            <a:off x="1781475" y="5877124"/>
            <a:ext cx="285878" cy="248597"/>
          </a:xfrm>
          <a:prstGeom prst="rect">
            <a:avLst/>
          </a:prstGeom>
          <a:noFill/>
          <a:ln>
            <a:noFill/>
          </a:ln>
        </p:spPr>
      </p:pic>
      <p:pic>
        <p:nvPicPr>
          <p:cNvPr descr="image.png" id="355" name="Google Shape;355;g3ef4ae7413f_0_159"/>
          <p:cNvPicPr preferRelativeResize="0"/>
          <p:nvPr/>
        </p:nvPicPr>
        <p:blipFill rotWithShape="1">
          <a:blip r:embed="rId9">
            <a:alphaModFix/>
          </a:blip>
          <a:srcRect b="0" l="0" r="0" t="0"/>
          <a:stretch/>
        </p:blipFill>
        <p:spPr>
          <a:xfrm>
            <a:off x="2480214" y="5877124"/>
            <a:ext cx="228712" cy="248597"/>
          </a:xfrm>
          <a:prstGeom prst="rect">
            <a:avLst/>
          </a:prstGeom>
          <a:noFill/>
          <a:ln>
            <a:noFill/>
          </a:ln>
        </p:spPr>
      </p:pic>
      <p:sp>
        <p:nvSpPr>
          <p:cNvPr id="356" name="Google Shape;356;g3ef4ae7413f_0_159"/>
          <p:cNvSpPr txBox="1"/>
          <p:nvPr/>
        </p:nvSpPr>
        <p:spPr>
          <a:xfrm>
            <a:off x="906614" y="5587050"/>
            <a:ext cx="2216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8FAFC"/>
                </a:solidFill>
                <a:latin typeface="Urbanist"/>
                <a:ea typeface="Urbanist"/>
                <a:cs typeface="Urbanist"/>
                <a:sym typeface="Urbanist"/>
              </a:rPr>
              <a:t>hyperparameters:</a:t>
            </a:r>
            <a:endParaRPr b="0" i="0" sz="16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F172A"/>
        </a:solidFill>
      </p:bgPr>
    </p:bg>
    <p:spTree>
      <p:nvGrpSpPr>
        <p:cNvPr id="360" name="Shape 360"/>
        <p:cNvGrpSpPr/>
        <p:nvPr/>
      </p:nvGrpSpPr>
      <p:grpSpPr>
        <a:xfrm>
          <a:off x="0" y="0"/>
          <a:ext cx="0" cy="0"/>
          <a:chOff x="0" y="0"/>
          <a:chExt cx="0" cy="0"/>
        </a:xfrm>
      </p:grpSpPr>
      <p:pic>
        <p:nvPicPr>
          <p:cNvPr descr="image.png" id="361" name="Google Shape;361;g3ef4ae7413f_0_18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2" name="Google Shape;362;g3ef4ae7413f_0_185"/>
          <p:cNvPicPr preferRelativeResize="0"/>
          <p:nvPr/>
        </p:nvPicPr>
        <p:blipFill rotWithShape="1">
          <a:blip r:embed="rId4">
            <a:alphaModFix/>
          </a:blip>
          <a:srcRect b="0" l="0" r="0" t="0"/>
          <a:stretch/>
        </p:blipFill>
        <p:spPr>
          <a:xfrm>
            <a:off x="6334125" y="1662112"/>
            <a:ext cx="5286375" cy="3810000"/>
          </a:xfrm>
          <a:prstGeom prst="rect">
            <a:avLst/>
          </a:prstGeom>
          <a:noFill/>
          <a:ln>
            <a:noFill/>
          </a:ln>
        </p:spPr>
      </p:pic>
      <p:sp>
        <p:nvSpPr>
          <p:cNvPr id="363" name="Google Shape;363;g3ef4ae7413f_0_185"/>
          <p:cNvSpPr txBox="1"/>
          <p:nvPr/>
        </p:nvSpPr>
        <p:spPr>
          <a:xfrm>
            <a:off x="771525" y="196691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64" name="Google Shape;364;g3ef4ae7413f_0_185"/>
          <p:cNvSpPr txBox="1"/>
          <p:nvPr/>
        </p:nvSpPr>
        <p:spPr>
          <a:xfrm>
            <a:off x="809625" y="1966912"/>
            <a:ext cx="5048400" cy="9234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Models the data comprehensively as a weighted sum of </a:t>
            </a:r>
            <a:r>
              <a:rPr b="1" i="0" lang="en-US" sz="1500" u="none" cap="none" strike="noStrike">
                <a:solidFill>
                  <a:srgbClr val="F8FAFC"/>
                </a:solidFill>
                <a:latin typeface="Urbanist"/>
                <a:ea typeface="Urbanist"/>
                <a:cs typeface="Urbanist"/>
                <a:sym typeface="Urbanist"/>
              </a:rPr>
              <a:t>K independent Gaussian distributions</a:t>
            </a:r>
            <a:r>
              <a:rPr b="0" i="0" lang="en-US" sz="1500" u="none" cap="none" strike="noStrike">
                <a:solidFill>
                  <a:srgbClr val="CBD5E1"/>
                </a:solidFill>
                <a:latin typeface="Urbanist Medium"/>
                <a:ea typeface="Urbanist Medium"/>
                <a:cs typeface="Urbanist Medium"/>
                <a:sym typeface="Urbanist Medium"/>
              </a:rPr>
              <a:t>, each possessing its own mean and covariance.</a:t>
            </a:r>
            <a:endParaRPr b="0" i="0" sz="1400" u="none" cap="none" strike="noStrike">
              <a:solidFill>
                <a:srgbClr val="000000"/>
              </a:solidFill>
              <a:latin typeface="Arial"/>
              <a:ea typeface="Arial"/>
              <a:cs typeface="Arial"/>
              <a:sym typeface="Arial"/>
            </a:endParaRPr>
          </a:p>
        </p:txBody>
      </p:sp>
      <p:sp>
        <p:nvSpPr>
          <p:cNvPr id="365" name="Google Shape;365;g3ef4ae7413f_0_185"/>
          <p:cNvSpPr txBox="1"/>
          <p:nvPr/>
        </p:nvSpPr>
        <p:spPr>
          <a:xfrm>
            <a:off x="771525" y="301466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66" name="Google Shape;366;g3ef4ae7413f_0_185"/>
          <p:cNvSpPr txBox="1"/>
          <p:nvPr/>
        </p:nvSpPr>
        <p:spPr>
          <a:xfrm>
            <a:off x="809625" y="3014662"/>
            <a:ext cx="5048400" cy="12699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Unlike hard-assignment methods, GMM is intrinsically </a:t>
            </a:r>
            <a:r>
              <a:rPr b="1" i="0" lang="en-US" sz="1500" u="none" cap="none" strike="noStrike">
                <a:solidFill>
                  <a:srgbClr val="F8FAFC"/>
                </a:solidFill>
                <a:latin typeface="Urbanist"/>
                <a:ea typeface="Urbanist"/>
                <a:cs typeface="Urbanist"/>
                <a:sym typeface="Urbanist"/>
              </a:rPr>
              <a:t>probabilistic</a:t>
            </a:r>
            <a:r>
              <a:rPr b="0" i="0" lang="en-US" sz="1500" u="none" cap="none" strike="noStrike">
                <a:solidFill>
                  <a:srgbClr val="CBD5E1"/>
                </a:solidFill>
                <a:latin typeface="Urbanist Medium"/>
                <a:ea typeface="Urbanist Medium"/>
                <a:cs typeface="Urbanist Medium"/>
                <a:sym typeface="Urbanist Medium"/>
              </a:rPr>
              <a:t>: every individual point receives a strict probability of belonging to each specific cluster (soft assignment).</a:t>
            </a:r>
            <a:endParaRPr b="0" i="0" sz="1400" u="none" cap="none" strike="noStrike">
              <a:solidFill>
                <a:srgbClr val="000000"/>
              </a:solidFill>
              <a:latin typeface="Arial"/>
              <a:ea typeface="Arial"/>
              <a:cs typeface="Arial"/>
              <a:sym typeface="Arial"/>
            </a:endParaRPr>
          </a:p>
        </p:txBody>
      </p:sp>
      <p:sp>
        <p:nvSpPr>
          <p:cNvPr id="367" name="Google Shape;367;g3ef4ae7413f_0_185"/>
          <p:cNvSpPr txBox="1"/>
          <p:nvPr/>
        </p:nvSpPr>
        <p:spPr>
          <a:xfrm>
            <a:off x="771525" y="4348162"/>
            <a:ext cx="38100" cy="2310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a:t>
            </a:r>
            <a:endParaRPr b="0" i="0" sz="1400" u="none" cap="none" strike="noStrike">
              <a:solidFill>
                <a:srgbClr val="000000"/>
              </a:solidFill>
              <a:latin typeface="Arial"/>
              <a:ea typeface="Arial"/>
              <a:cs typeface="Arial"/>
              <a:sym typeface="Arial"/>
            </a:endParaRPr>
          </a:p>
        </p:txBody>
      </p:sp>
      <p:sp>
        <p:nvSpPr>
          <p:cNvPr id="368" name="Google Shape;368;g3ef4ae7413f_0_185"/>
          <p:cNvSpPr txBox="1"/>
          <p:nvPr/>
        </p:nvSpPr>
        <p:spPr>
          <a:xfrm>
            <a:off x="809625" y="4348162"/>
            <a:ext cx="5048400" cy="923400"/>
          </a:xfrm>
          <a:prstGeom prst="rect">
            <a:avLst/>
          </a:prstGeom>
          <a:noFill/>
          <a:ln>
            <a:noFill/>
          </a:ln>
        </p:spPr>
        <p:txBody>
          <a:bodyPr anchorCtr="0" anchor="t" bIns="0" lIns="3810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Complex parameters are iteratively estimated and refined using the powerful </a:t>
            </a:r>
            <a:r>
              <a:rPr b="1" i="0" lang="en-US" sz="1500" u="none" cap="none" strike="noStrike">
                <a:solidFill>
                  <a:srgbClr val="F8FAFC"/>
                </a:solidFill>
                <a:latin typeface="Urbanist"/>
                <a:ea typeface="Urbanist"/>
                <a:cs typeface="Urbanist"/>
                <a:sym typeface="Urbanist"/>
              </a:rPr>
              <a:t>Expectation-Maximization (EM)</a:t>
            </a:r>
            <a:r>
              <a:rPr b="0" i="0" lang="en-US" sz="1500" u="none" cap="none" strike="noStrike">
                <a:solidFill>
                  <a:srgbClr val="CBD5E1"/>
                </a:solidFill>
                <a:latin typeface="Urbanist Medium"/>
                <a:ea typeface="Urbanist Medium"/>
                <a:cs typeface="Urbanist Medium"/>
                <a:sym typeface="Urbanist Medium"/>
              </a:rPr>
              <a:t> algorithm.</a:t>
            </a:r>
            <a:endParaRPr b="0" i="0" sz="1400" u="none" cap="none" strike="noStrike">
              <a:solidFill>
                <a:srgbClr val="000000"/>
              </a:solidFill>
              <a:latin typeface="Arial"/>
              <a:ea typeface="Arial"/>
              <a:cs typeface="Arial"/>
              <a:sym typeface="Arial"/>
            </a:endParaRPr>
          </a:p>
        </p:txBody>
      </p:sp>
      <p:sp>
        <p:nvSpPr>
          <p:cNvPr id="369" name="Google Shape;369;g3ef4ae7413f_0_185"/>
          <p:cNvSpPr txBox="1"/>
          <p:nvPr/>
        </p:nvSpPr>
        <p:spPr>
          <a:xfrm>
            <a:off x="571500" y="571500"/>
            <a:ext cx="11601600" cy="400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Gaussian Mixture Models (GMM)</a:t>
            </a:r>
            <a:endParaRPr b="1" i="0" sz="2600" u="none" cap="none" strike="noStrike">
              <a:solidFill>
                <a:srgbClr val="F8FAFC"/>
              </a:solidFill>
              <a:latin typeface="Poppins"/>
              <a:ea typeface="Poppins"/>
              <a:cs typeface="Poppins"/>
              <a:sym typeface="Poppins"/>
            </a:endParaRPr>
          </a:p>
        </p:txBody>
      </p:sp>
      <p:sp>
        <p:nvSpPr>
          <p:cNvPr id="370" name="Google Shape;370;g3ef4ae7413f_0_185"/>
          <p:cNvSpPr txBox="1"/>
          <p:nvPr/>
        </p:nvSpPr>
        <p:spPr>
          <a:xfrm>
            <a:off x="921205" y="5587050"/>
            <a:ext cx="2216100" cy="246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600"/>
              <a:buFont typeface="Arial"/>
              <a:buNone/>
            </a:pPr>
            <a:r>
              <a:rPr b="1" i="0" lang="en-US" sz="1600" u="none" cap="none" strike="noStrike">
                <a:solidFill>
                  <a:srgbClr val="F8FAFC"/>
                </a:solidFill>
                <a:latin typeface="Urbanist"/>
                <a:ea typeface="Urbanist"/>
                <a:cs typeface="Urbanist"/>
                <a:sym typeface="Urbanist"/>
              </a:rPr>
              <a:t>hyperparameters:</a:t>
            </a:r>
            <a:endParaRPr b="0" i="0" sz="1600" u="none" cap="none" strike="noStrike">
              <a:solidFill>
                <a:srgbClr val="000000"/>
              </a:solidFill>
              <a:latin typeface="Arial"/>
              <a:ea typeface="Arial"/>
              <a:cs typeface="Arial"/>
              <a:sym typeface="Arial"/>
            </a:endParaRPr>
          </a:p>
        </p:txBody>
      </p:sp>
      <p:sp>
        <p:nvSpPr>
          <p:cNvPr id="371" name="Google Shape;371;g3ef4ae7413f_0_185"/>
          <p:cNvSpPr txBox="1"/>
          <p:nvPr/>
        </p:nvSpPr>
        <p:spPr>
          <a:xfrm>
            <a:off x="930000" y="6261481"/>
            <a:ext cx="1461000" cy="16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1"/>
              <a:buFont typeface="Arial"/>
              <a:buNone/>
            </a:pPr>
            <a:r>
              <a:rPr b="1" i="0" lang="en-US" sz="1081" u="none" cap="none" strike="noStrike">
                <a:solidFill>
                  <a:srgbClr val="F8FAFC"/>
                </a:solidFill>
                <a:latin typeface="Urbanist"/>
                <a:ea typeface="Urbanist"/>
                <a:cs typeface="Urbanist"/>
                <a:sym typeface="Urbanist"/>
              </a:rPr>
              <a:t>n_components</a:t>
            </a:r>
            <a:endParaRPr b="0" i="0" sz="672" u="none" cap="none" strike="noStrike">
              <a:solidFill>
                <a:srgbClr val="000000"/>
              </a:solidFill>
              <a:latin typeface="Arial"/>
              <a:ea typeface="Arial"/>
              <a:cs typeface="Arial"/>
              <a:sym typeface="Arial"/>
            </a:endParaRPr>
          </a:p>
        </p:txBody>
      </p:sp>
      <p:sp>
        <p:nvSpPr>
          <p:cNvPr id="372" name="Google Shape;372;g3ef4ae7413f_0_185"/>
          <p:cNvSpPr txBox="1"/>
          <p:nvPr/>
        </p:nvSpPr>
        <p:spPr>
          <a:xfrm>
            <a:off x="1957413" y="6261481"/>
            <a:ext cx="1461000" cy="16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1"/>
              <a:buFont typeface="Arial"/>
              <a:buNone/>
            </a:pPr>
            <a:r>
              <a:rPr b="1" i="0" lang="en-US" sz="1081" u="none" cap="none" strike="noStrike">
                <a:solidFill>
                  <a:srgbClr val="F8FAFC"/>
                </a:solidFill>
                <a:latin typeface="Urbanist"/>
                <a:ea typeface="Urbanist"/>
                <a:cs typeface="Urbanist"/>
                <a:sym typeface="Urbanist"/>
              </a:rPr>
              <a:t>covariance_type</a:t>
            </a:r>
            <a:endParaRPr b="0" i="0" sz="672" u="none" cap="none" strike="noStrike">
              <a:solidFill>
                <a:srgbClr val="000000"/>
              </a:solidFill>
              <a:latin typeface="Arial"/>
              <a:ea typeface="Arial"/>
              <a:cs typeface="Arial"/>
              <a:sym typeface="Arial"/>
            </a:endParaRPr>
          </a:p>
        </p:txBody>
      </p:sp>
      <p:sp>
        <p:nvSpPr>
          <p:cNvPr id="373" name="Google Shape;373;g3ef4ae7413f_0_185"/>
          <p:cNvSpPr txBox="1"/>
          <p:nvPr/>
        </p:nvSpPr>
        <p:spPr>
          <a:xfrm>
            <a:off x="3105479" y="6261481"/>
            <a:ext cx="1461000" cy="16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81"/>
              <a:buFont typeface="Arial"/>
              <a:buNone/>
            </a:pPr>
            <a:r>
              <a:rPr b="1" i="0" lang="en-US" sz="1081" u="none" cap="none" strike="noStrike">
                <a:solidFill>
                  <a:srgbClr val="F8FAFC"/>
                </a:solidFill>
                <a:latin typeface="Urbanist"/>
                <a:ea typeface="Urbanist"/>
                <a:cs typeface="Urbanist"/>
                <a:sym typeface="Urbanist"/>
              </a:rPr>
              <a:t>n_init</a:t>
            </a:r>
            <a:endParaRPr b="0" i="0" sz="672" u="none" cap="none" strike="noStrike">
              <a:solidFill>
                <a:srgbClr val="000000"/>
              </a:solidFill>
              <a:latin typeface="Arial"/>
              <a:ea typeface="Arial"/>
              <a:cs typeface="Arial"/>
              <a:sym typeface="Arial"/>
            </a:endParaRPr>
          </a:p>
        </p:txBody>
      </p:sp>
      <p:pic>
        <p:nvPicPr>
          <p:cNvPr descr="image.png" id="374" name="Google Shape;374;g3ef4ae7413f_0_185"/>
          <p:cNvPicPr preferRelativeResize="0"/>
          <p:nvPr/>
        </p:nvPicPr>
        <p:blipFill rotWithShape="1">
          <a:blip r:embed="rId5">
            <a:alphaModFix/>
          </a:blip>
          <a:srcRect b="0" l="0" r="0" t="0"/>
          <a:stretch/>
        </p:blipFill>
        <p:spPr>
          <a:xfrm>
            <a:off x="930000" y="5922950"/>
            <a:ext cx="246622" cy="219587"/>
          </a:xfrm>
          <a:prstGeom prst="rect">
            <a:avLst/>
          </a:prstGeom>
          <a:noFill/>
          <a:ln>
            <a:noFill/>
          </a:ln>
        </p:spPr>
      </p:pic>
      <p:pic>
        <p:nvPicPr>
          <p:cNvPr descr="image.png" id="375" name="Google Shape;375;g3ef4ae7413f_0_185"/>
          <p:cNvPicPr preferRelativeResize="0"/>
          <p:nvPr/>
        </p:nvPicPr>
        <p:blipFill rotWithShape="1">
          <a:blip r:embed="rId6">
            <a:alphaModFix/>
          </a:blip>
          <a:srcRect b="0" l="0" r="0" t="0"/>
          <a:stretch/>
        </p:blipFill>
        <p:spPr>
          <a:xfrm>
            <a:off x="1942821" y="5922950"/>
            <a:ext cx="219223" cy="219588"/>
          </a:xfrm>
          <a:prstGeom prst="rect">
            <a:avLst/>
          </a:prstGeom>
          <a:noFill/>
          <a:ln>
            <a:noFill/>
          </a:ln>
        </p:spPr>
      </p:pic>
      <p:pic>
        <p:nvPicPr>
          <p:cNvPr descr="image.png" id="376" name="Google Shape;376;g3ef4ae7413f_0_185"/>
          <p:cNvPicPr preferRelativeResize="0"/>
          <p:nvPr/>
        </p:nvPicPr>
        <p:blipFill rotWithShape="1">
          <a:blip r:embed="rId7">
            <a:alphaModFix/>
          </a:blip>
          <a:srcRect b="0" l="0" r="0" t="0"/>
          <a:stretch/>
        </p:blipFill>
        <p:spPr>
          <a:xfrm>
            <a:off x="3076296" y="5922950"/>
            <a:ext cx="219223" cy="219588"/>
          </a:xfrm>
          <a:prstGeom prst="rect">
            <a:avLst/>
          </a:prstGeom>
          <a:noFill/>
          <a:ln>
            <a:noFill/>
          </a:ln>
        </p:spPr>
      </p:pic>
      <p:sp>
        <p:nvSpPr>
          <p:cNvPr id="377" name="Google Shape;377;g3ef4ae7413f_0_185"/>
          <p:cNvSpPr txBox="1"/>
          <p:nvPr/>
        </p:nvSpPr>
        <p:spPr>
          <a:xfrm>
            <a:off x="6570021" y="1800225"/>
            <a:ext cx="4730700" cy="346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250"/>
              <a:buFont typeface="Arial"/>
              <a:buNone/>
            </a:pPr>
            <a:r>
              <a:rPr b="1" i="0" lang="en-US" sz="2250" u="none" cap="none" strike="noStrike">
                <a:solidFill>
                  <a:srgbClr val="818CF8"/>
                </a:solidFill>
                <a:latin typeface="Urbanist"/>
                <a:ea typeface="Urbanist"/>
                <a:cs typeface="Urbanist"/>
                <a:sym typeface="Urbanist"/>
              </a:rPr>
              <a:t>Potential Pitfalls</a:t>
            </a:r>
            <a:endParaRPr b="0" i="0" sz="1400" u="none" cap="none" strike="noStrike">
              <a:solidFill>
                <a:srgbClr val="000000"/>
              </a:solidFill>
              <a:latin typeface="Arial"/>
              <a:ea typeface="Arial"/>
              <a:cs typeface="Arial"/>
              <a:sym typeface="Arial"/>
            </a:endParaRPr>
          </a:p>
        </p:txBody>
      </p:sp>
      <p:sp>
        <p:nvSpPr>
          <p:cNvPr id="378" name="Google Shape;378;g3ef4ae7413f_0_185"/>
          <p:cNvSpPr txBox="1"/>
          <p:nvPr/>
        </p:nvSpPr>
        <p:spPr>
          <a:xfrm>
            <a:off x="6570021" y="2295525"/>
            <a:ext cx="4505400" cy="1269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GMM explicitly assumes each cluster is roughly Gaussian, causing it to aggressively struggle with non-Gaussian, irregular shapes (e.g., rigid rings or crescents).</a:t>
            </a:r>
            <a:endParaRPr b="0" i="0" sz="1400" u="none" cap="none" strike="noStrike">
              <a:solidFill>
                <a:srgbClr val="000000"/>
              </a:solidFill>
              <a:latin typeface="Arial"/>
              <a:ea typeface="Arial"/>
              <a:cs typeface="Arial"/>
              <a:sym typeface="Arial"/>
            </a:endParaRPr>
          </a:p>
        </p:txBody>
      </p:sp>
      <p:sp>
        <p:nvSpPr>
          <p:cNvPr id="379" name="Google Shape;379;g3ef4ae7413f_0_185"/>
          <p:cNvSpPr txBox="1"/>
          <p:nvPr/>
        </p:nvSpPr>
        <p:spPr>
          <a:xfrm>
            <a:off x="6570021" y="3581400"/>
            <a:ext cx="4505400" cy="1269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SzPts val="1500"/>
              <a:buFont typeface="Arial"/>
              <a:buNone/>
            </a:pPr>
            <a:r>
              <a:rPr b="0" i="0" lang="en-US" sz="1500" u="none" cap="none" strike="noStrike">
                <a:solidFill>
                  <a:srgbClr val="CBD5E1"/>
                </a:solidFill>
                <a:latin typeface="Urbanist Medium"/>
                <a:ea typeface="Urbanist Medium"/>
                <a:cs typeface="Urbanist Medium"/>
                <a:sym typeface="Urbanist Medium"/>
              </a:rPr>
              <a:t>It remains highly sensitive to its initialization and is prone to settling in poor local optima. Components can completely collapse to a singular covariance when features significantly outnumber actual data.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3" name="Shape 383"/>
        <p:cNvGrpSpPr/>
        <p:nvPr/>
      </p:nvGrpSpPr>
      <p:grpSpPr>
        <a:xfrm>
          <a:off x="0" y="0"/>
          <a:ext cx="0" cy="0"/>
          <a:chOff x="0" y="0"/>
          <a:chExt cx="0" cy="0"/>
        </a:xfrm>
      </p:grpSpPr>
      <p:sp>
        <p:nvSpPr>
          <p:cNvPr id="384" name="Google Shape;384;p6"/>
          <p:cNvSpPr txBox="1"/>
          <p:nvPr/>
        </p:nvSpPr>
        <p:spPr>
          <a:xfrm>
            <a:off x="731520" y="457200"/>
            <a:ext cx="82296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CLUSTERING ALGORITHMS Recap</a:t>
            </a:r>
            <a:endParaRPr b="0" i="0" sz="1400" u="none" cap="none" strike="noStrike">
              <a:solidFill>
                <a:srgbClr val="000000"/>
              </a:solidFill>
              <a:latin typeface="Arial"/>
              <a:ea typeface="Arial"/>
              <a:cs typeface="Arial"/>
              <a:sym typeface="Arial"/>
            </a:endParaRPr>
          </a:p>
        </p:txBody>
      </p:sp>
      <p:grpSp>
        <p:nvGrpSpPr>
          <p:cNvPr id="385" name="Google Shape;385;p6"/>
          <p:cNvGrpSpPr/>
          <p:nvPr/>
        </p:nvGrpSpPr>
        <p:grpSpPr>
          <a:xfrm>
            <a:off x="286535" y="1590159"/>
            <a:ext cx="6097712" cy="2485880"/>
            <a:chOff x="288703" y="1645920"/>
            <a:chExt cx="6097712" cy="2485880"/>
          </a:xfrm>
        </p:grpSpPr>
        <p:sp>
          <p:nvSpPr>
            <p:cNvPr id="386" name="Google Shape;386;p6"/>
            <p:cNvSpPr/>
            <p:nvPr/>
          </p:nvSpPr>
          <p:spPr>
            <a:xfrm>
              <a:off x="914400" y="1645920"/>
              <a:ext cx="4846320" cy="248588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387" name="Google Shape;387;p6"/>
            <p:cNvGrpSpPr/>
            <p:nvPr/>
          </p:nvGrpSpPr>
          <p:grpSpPr>
            <a:xfrm>
              <a:off x="288703" y="1977154"/>
              <a:ext cx="6097712" cy="1821374"/>
              <a:chOff x="288703" y="1977154"/>
              <a:chExt cx="6097712" cy="1821374"/>
            </a:xfrm>
          </p:grpSpPr>
          <p:sp>
            <p:nvSpPr>
              <p:cNvPr id="388" name="Google Shape;388;p6"/>
              <p:cNvSpPr txBox="1"/>
              <p:nvPr/>
            </p:nvSpPr>
            <p:spPr>
              <a:xfrm>
                <a:off x="1245775" y="2321241"/>
                <a:ext cx="4327889" cy="1477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Builds a deterministic tree (dendrogram) by iteratively merging closest groups</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a:t>
                </a:r>
                <a:r>
                  <a:rPr b="1" i="0" lang="en-US" sz="1800" u="none" cap="none" strike="noStrike">
                    <a:solidFill>
                      <a:srgbClr val="22C55E"/>
                    </a:solidFill>
                    <a:latin typeface="Calibri"/>
                    <a:ea typeface="Calibri"/>
                    <a:cs typeface="Calibri"/>
                    <a:sym typeface="Calibri"/>
                  </a:rPr>
                  <a:t>Pros:</a:t>
                </a:r>
                <a:r>
                  <a:rPr b="0" i="0" lang="en-US" sz="1800" u="none" cap="none" strike="noStrike">
                    <a:solidFill>
                      <a:schemeClr val="lt1"/>
                    </a:solidFill>
                    <a:latin typeface="Calibri"/>
                    <a:ea typeface="Calibri"/>
                    <a:cs typeface="Calibri"/>
                    <a:sym typeface="Calibri"/>
                  </a:rPr>
                  <a:t> Great for rigid group boundaries</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a:t>
                </a:r>
                <a:r>
                  <a:rPr b="1" i="0" lang="en-US" sz="1800" u="none" cap="none" strike="noStrike">
                    <a:solidFill>
                      <a:srgbClr val="B7687D"/>
                    </a:solidFill>
                    <a:latin typeface="Calibri"/>
                    <a:ea typeface="Calibri"/>
                    <a:cs typeface="Calibri"/>
                    <a:sym typeface="Calibri"/>
                  </a:rPr>
                  <a:t>Cons: </a:t>
                </a:r>
                <a:r>
                  <a:rPr b="0" i="0" lang="en-US" sz="1800" u="none" cap="none" strike="noStrike">
                    <a:solidFill>
                      <a:schemeClr val="lt1"/>
                    </a:solidFill>
                    <a:latin typeface="Calibri"/>
                    <a:ea typeface="Calibri"/>
                    <a:cs typeface="Calibri"/>
                    <a:sym typeface="Calibri"/>
                  </a:rPr>
                  <a:t>Scales poorly on large data</a:t>
                </a:r>
                <a:endParaRPr b="0" i="0" sz="1400" u="none" cap="none" strike="noStrike">
                  <a:solidFill>
                    <a:srgbClr val="000000"/>
                  </a:solidFill>
                  <a:latin typeface="Arial"/>
                  <a:ea typeface="Arial"/>
                  <a:cs typeface="Arial"/>
                  <a:sym typeface="Arial"/>
                </a:endParaRPr>
              </a:p>
            </p:txBody>
          </p:sp>
          <p:sp>
            <p:nvSpPr>
              <p:cNvPr id="389" name="Google Shape;389;p6"/>
              <p:cNvSpPr txBox="1"/>
              <p:nvPr/>
            </p:nvSpPr>
            <p:spPr>
              <a:xfrm>
                <a:off x="288703" y="1977154"/>
                <a:ext cx="609771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Hierarchical Clustering</a:t>
                </a:r>
                <a:endParaRPr b="0" i="0" sz="1400" u="none" cap="none" strike="noStrike">
                  <a:solidFill>
                    <a:srgbClr val="000000"/>
                  </a:solidFill>
                  <a:latin typeface="Arial"/>
                  <a:ea typeface="Arial"/>
                  <a:cs typeface="Arial"/>
                  <a:sym typeface="Arial"/>
                </a:endParaRPr>
              </a:p>
            </p:txBody>
          </p:sp>
        </p:grpSp>
      </p:grpSp>
      <p:grpSp>
        <p:nvGrpSpPr>
          <p:cNvPr id="390" name="Google Shape;390;p6"/>
          <p:cNvGrpSpPr/>
          <p:nvPr/>
        </p:nvGrpSpPr>
        <p:grpSpPr>
          <a:xfrm>
            <a:off x="9664721" y="132225"/>
            <a:ext cx="2449204" cy="341908"/>
            <a:chOff x="9619565" y="209082"/>
            <a:chExt cx="2449204" cy="341908"/>
          </a:xfrm>
        </p:grpSpPr>
        <p:pic>
          <p:nvPicPr>
            <p:cNvPr id="391" name="Google Shape;391;p6"/>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392" name="Google Shape;392;p6"/>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393" name="Google Shape;393;p6"/>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394" name="Google Shape;394;p6"/>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395" name="Google Shape;395;p6"/>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396" name="Google Shape;396;p6"/>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397" name="Google Shape;397;p6"/>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398" name="Google Shape;398;p6"/>
          <p:cNvGrpSpPr/>
          <p:nvPr/>
        </p:nvGrpSpPr>
        <p:grpSpPr>
          <a:xfrm>
            <a:off x="5665024" y="1584401"/>
            <a:ext cx="6097712" cy="2485880"/>
            <a:chOff x="5667192" y="1640162"/>
            <a:chExt cx="6097712" cy="2485880"/>
          </a:xfrm>
        </p:grpSpPr>
        <p:sp>
          <p:nvSpPr>
            <p:cNvPr id="399" name="Google Shape;399;p6"/>
            <p:cNvSpPr/>
            <p:nvPr/>
          </p:nvSpPr>
          <p:spPr>
            <a:xfrm>
              <a:off x="6199360" y="1640162"/>
              <a:ext cx="4846320" cy="248588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400" name="Google Shape;400;p6"/>
            <p:cNvGrpSpPr/>
            <p:nvPr/>
          </p:nvGrpSpPr>
          <p:grpSpPr>
            <a:xfrm>
              <a:off x="5667192" y="1981670"/>
              <a:ext cx="6097712" cy="1809923"/>
              <a:chOff x="360863" y="3696424"/>
              <a:chExt cx="6097712" cy="1809923"/>
            </a:xfrm>
          </p:grpSpPr>
          <p:sp>
            <p:nvSpPr>
              <p:cNvPr id="401" name="Google Shape;401;p6"/>
              <p:cNvSpPr txBox="1"/>
              <p:nvPr/>
            </p:nvSpPr>
            <p:spPr>
              <a:xfrm>
                <a:off x="1173615" y="4029060"/>
                <a:ext cx="4327889" cy="14772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 probabilistic approach modeling data as a weighted sum of K Gaussians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a:t>
                </a:r>
                <a:r>
                  <a:rPr b="1" i="0" lang="en-US" sz="1800" u="none" cap="none" strike="noStrike">
                    <a:solidFill>
                      <a:srgbClr val="22C55E"/>
                    </a:solidFill>
                    <a:latin typeface="Calibri"/>
                    <a:ea typeface="Calibri"/>
                    <a:cs typeface="Calibri"/>
                    <a:sym typeface="Calibri"/>
                  </a:rPr>
                  <a:t>Pros:</a:t>
                </a:r>
                <a:r>
                  <a:rPr b="0" i="0" lang="en-US" sz="1800" u="none" cap="none" strike="noStrike">
                    <a:solidFill>
                      <a:schemeClr val="lt1"/>
                    </a:solidFill>
                    <a:latin typeface="Calibri"/>
                    <a:ea typeface="Calibri"/>
                    <a:cs typeface="Calibri"/>
                    <a:sym typeface="Calibri"/>
                  </a:rPr>
                  <a:t> Allows soft assignments</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a:t>
                </a:r>
                <a:r>
                  <a:rPr b="1" i="0" lang="en-US" sz="1800" u="none" cap="none" strike="noStrike">
                    <a:solidFill>
                      <a:srgbClr val="B7687D"/>
                    </a:solidFill>
                    <a:latin typeface="Calibri"/>
                    <a:ea typeface="Calibri"/>
                    <a:cs typeface="Calibri"/>
                    <a:sym typeface="Calibri"/>
                  </a:rPr>
                  <a:t>Cons:</a:t>
                </a:r>
                <a:r>
                  <a:rPr b="0" i="0" lang="en-US" sz="1800" u="none" cap="none" strike="noStrike">
                    <a:solidFill>
                      <a:schemeClr val="lt1"/>
                    </a:solidFill>
                    <a:latin typeface="Calibri"/>
                    <a:ea typeface="Calibri"/>
                    <a:cs typeface="Calibri"/>
                    <a:sym typeface="Calibri"/>
                  </a:rPr>
                  <a:t> Sensitive to initialization</a:t>
                </a:r>
                <a:endParaRPr b="0" i="0" sz="1400" u="none" cap="none" strike="noStrike">
                  <a:solidFill>
                    <a:srgbClr val="000000"/>
                  </a:solidFill>
                  <a:latin typeface="Arial"/>
                  <a:ea typeface="Arial"/>
                  <a:cs typeface="Arial"/>
                  <a:sym typeface="Arial"/>
                </a:endParaRPr>
              </a:p>
            </p:txBody>
          </p:sp>
          <p:sp>
            <p:nvSpPr>
              <p:cNvPr id="402" name="Google Shape;402;p6"/>
              <p:cNvSpPr txBox="1"/>
              <p:nvPr/>
            </p:nvSpPr>
            <p:spPr>
              <a:xfrm>
                <a:off x="360863" y="3696424"/>
                <a:ext cx="6097712" cy="40011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GMM (Gaussian Mixture Model)</a:t>
                </a:r>
                <a:endParaRPr b="0" i="0" sz="1400" u="none" cap="none" strike="noStrike">
                  <a:solidFill>
                    <a:srgbClr val="000000"/>
                  </a:solidFill>
                  <a:latin typeface="Arial"/>
                  <a:ea typeface="Arial"/>
                  <a:cs typeface="Arial"/>
                  <a:sym typeface="Arial"/>
                </a:endParaRPr>
              </a:p>
            </p:txBody>
          </p:sp>
        </p:grpSp>
      </p:grpSp>
      <p:grpSp>
        <p:nvGrpSpPr>
          <p:cNvPr id="403" name="Google Shape;403;p6"/>
          <p:cNvGrpSpPr/>
          <p:nvPr/>
        </p:nvGrpSpPr>
        <p:grpSpPr>
          <a:xfrm>
            <a:off x="912231" y="4524739"/>
            <a:ext cx="10131281" cy="1380100"/>
            <a:chOff x="912231" y="4206240"/>
            <a:chExt cx="10131281" cy="1380100"/>
          </a:xfrm>
        </p:grpSpPr>
        <p:grpSp>
          <p:nvGrpSpPr>
            <p:cNvPr id="404" name="Google Shape;404;p6"/>
            <p:cNvGrpSpPr/>
            <p:nvPr/>
          </p:nvGrpSpPr>
          <p:grpSpPr>
            <a:xfrm>
              <a:off x="912231" y="4206240"/>
              <a:ext cx="10131281" cy="1380100"/>
              <a:chOff x="912231" y="4206240"/>
              <a:chExt cx="10131281" cy="1380100"/>
            </a:xfrm>
          </p:grpSpPr>
          <p:sp>
            <p:nvSpPr>
              <p:cNvPr id="405" name="Google Shape;405;p6"/>
              <p:cNvSpPr/>
              <p:nvPr/>
            </p:nvSpPr>
            <p:spPr>
              <a:xfrm>
                <a:off x="912232" y="4206240"/>
                <a:ext cx="10131280" cy="13801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06" name="Google Shape;406;p6"/>
              <p:cNvSpPr txBox="1"/>
              <p:nvPr/>
            </p:nvSpPr>
            <p:spPr>
              <a:xfrm>
                <a:off x="912231" y="4733797"/>
                <a:ext cx="10113900" cy="64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Mental health and digital habits do not have rigid boundaries</a:t>
                </a:r>
                <a:endParaRPr b="0" i="0" sz="18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GMM provides soft assignments (probabilities of belonging), allowing a nuanced profile breakdown</a:t>
                </a:r>
                <a:endParaRPr b="0" i="0" sz="1800" u="none" cap="none" strike="noStrike">
                  <a:solidFill>
                    <a:schemeClr val="lt1"/>
                  </a:solidFill>
                  <a:latin typeface="Calibri"/>
                  <a:ea typeface="Calibri"/>
                  <a:cs typeface="Calibri"/>
                  <a:sym typeface="Calibri"/>
                </a:endParaRPr>
              </a:p>
            </p:txBody>
          </p:sp>
        </p:grpSp>
        <p:sp>
          <p:nvSpPr>
            <p:cNvPr id="407" name="Google Shape;407;p6"/>
            <p:cNvSpPr txBox="1"/>
            <p:nvPr/>
          </p:nvSpPr>
          <p:spPr>
            <a:xfrm>
              <a:off x="912233" y="4333728"/>
              <a:ext cx="10113762"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Inter"/>
                  <a:ea typeface="Inter"/>
                  <a:cs typeface="Inter"/>
                  <a:sym typeface="Inter"/>
                </a:rPr>
                <a:t>Final choice - GMM</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11" name="Shape 411"/>
        <p:cNvGrpSpPr/>
        <p:nvPr/>
      </p:nvGrpSpPr>
      <p:grpSpPr>
        <a:xfrm>
          <a:off x="0" y="0"/>
          <a:ext cx="0" cy="0"/>
          <a:chOff x="0" y="0"/>
          <a:chExt cx="0" cy="0"/>
        </a:xfrm>
      </p:grpSpPr>
      <p:sp>
        <p:nvSpPr>
          <p:cNvPr id="412" name="Google Shape;412;p16"/>
          <p:cNvSpPr txBox="1"/>
          <p:nvPr/>
        </p:nvSpPr>
        <p:spPr>
          <a:xfrm>
            <a:off x="295200" y="2405437"/>
            <a:ext cx="11601600" cy="138499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500"/>
              <a:buFont typeface="Arial"/>
              <a:buNone/>
            </a:pPr>
            <a:r>
              <a:rPr b="1" i="0" lang="en-US" sz="4500" u="none" cap="none" strike="noStrike">
                <a:solidFill>
                  <a:srgbClr val="38BDF8"/>
                </a:solidFill>
                <a:latin typeface="Urbanist"/>
                <a:ea typeface="Urbanist"/>
                <a:cs typeface="Urbanist"/>
                <a:sym typeface="Urbanist"/>
              </a:rPr>
              <a:t>Part 3: Decision &amp; Justification</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4500"/>
              <a:buFont typeface="Arial"/>
              <a:buNone/>
            </a:pPr>
            <a:r>
              <a:t/>
            </a:r>
            <a:endParaRPr b="1" i="0" sz="4500" u="none" cap="none" strike="noStrike">
              <a:solidFill>
                <a:srgbClr val="38BDF8"/>
              </a:solidFill>
              <a:latin typeface="Urbanist"/>
              <a:ea typeface="Urbanist"/>
              <a:cs typeface="Urbanist"/>
              <a:sym typeface="Urbanist"/>
            </a:endParaRPr>
          </a:p>
        </p:txBody>
      </p:sp>
      <p:sp>
        <p:nvSpPr>
          <p:cNvPr id="413" name="Google Shape;413;p16"/>
          <p:cNvSpPr txBox="1"/>
          <p:nvPr/>
        </p:nvSpPr>
        <p:spPr>
          <a:xfrm>
            <a:off x="2285925" y="3281737"/>
            <a:ext cx="7620000" cy="461665"/>
          </a:xfrm>
          <a:prstGeom prst="rect">
            <a:avLst/>
          </a:prstGeom>
          <a:noFill/>
          <a:ln>
            <a:noFill/>
          </a:ln>
        </p:spPr>
        <p:txBody>
          <a:bodyPr anchorCtr="0" anchor="t" bIns="0" lIns="0" spcFirstLastPara="1" rIns="0" wrap="square" tIns="0">
            <a:spAutoFit/>
          </a:bodyPr>
          <a:lstStyle/>
          <a:p>
            <a:pPr indent="0" lvl="0" marL="0" marR="0" rtl="0" algn="ctr">
              <a:lnSpc>
                <a:spcPct val="150000"/>
              </a:lnSpc>
              <a:spcBef>
                <a:spcPts val="0"/>
              </a:spcBef>
              <a:spcAft>
                <a:spcPts val="0"/>
              </a:spcAft>
              <a:buClr>
                <a:srgbClr val="000000"/>
              </a:buClr>
              <a:buSzPts val="2000"/>
              <a:buFont typeface="Arial"/>
              <a:buNone/>
            </a:pPr>
            <a:r>
              <a:rPr b="0" i="0" lang="en-US" sz="2000" u="none" cap="none" strike="noStrike">
                <a:solidFill>
                  <a:srgbClr val="CBD5E1"/>
                </a:solidFill>
                <a:latin typeface="Calibri"/>
                <a:ea typeface="Calibri"/>
                <a:cs typeface="Calibri"/>
                <a:sym typeface="Calibri"/>
              </a:rPr>
              <a:t>Comparing PCA and NMF</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7"/>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419" name="Google Shape;419;p17"/>
          <p:cNvGrpSpPr/>
          <p:nvPr/>
        </p:nvGrpSpPr>
        <p:grpSpPr>
          <a:xfrm>
            <a:off x="1831097" y="2905125"/>
            <a:ext cx="1289729" cy="1116949"/>
            <a:chOff x="793409" y="2905125"/>
            <a:chExt cx="1289729" cy="1116949"/>
          </a:xfrm>
        </p:grpSpPr>
        <p:sp>
          <p:nvSpPr>
            <p:cNvPr id="420" name="Google Shape;420;p17"/>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421" name="Google Shape;421;p17"/>
            <p:cNvGrpSpPr/>
            <p:nvPr/>
          </p:nvGrpSpPr>
          <p:grpSpPr>
            <a:xfrm>
              <a:off x="1057275" y="2905125"/>
              <a:ext cx="762000" cy="762000"/>
              <a:chOff x="1057275" y="2905125"/>
              <a:chExt cx="762000" cy="762000"/>
            </a:xfrm>
          </p:grpSpPr>
          <p:pic>
            <p:nvPicPr>
              <p:cNvPr descr="image.png" id="422" name="Google Shape;422;p17"/>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423" name="Google Shape;423;p17"/>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424" name="Google Shape;424;p17"/>
          <p:cNvGrpSpPr/>
          <p:nvPr/>
        </p:nvGrpSpPr>
        <p:grpSpPr>
          <a:xfrm>
            <a:off x="6099957" y="2909889"/>
            <a:ext cx="1200150" cy="1374124"/>
            <a:chOff x="4518594" y="2886075"/>
            <a:chExt cx="1200150" cy="1374124"/>
          </a:xfrm>
        </p:grpSpPr>
        <p:sp>
          <p:nvSpPr>
            <p:cNvPr id="425" name="Google Shape;425;p17"/>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426" name="Google Shape;426;p17"/>
            <p:cNvGrpSpPr/>
            <p:nvPr/>
          </p:nvGrpSpPr>
          <p:grpSpPr>
            <a:xfrm>
              <a:off x="4737669" y="2886075"/>
              <a:ext cx="762000" cy="762000"/>
              <a:chOff x="4737669" y="2886075"/>
              <a:chExt cx="762000" cy="762000"/>
            </a:xfrm>
          </p:grpSpPr>
          <p:pic>
            <p:nvPicPr>
              <p:cNvPr descr="image.png" id="427" name="Google Shape;427;p17"/>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428" name="Google Shape;428;p17"/>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429" name="Google Shape;429;p17"/>
          <p:cNvGrpSpPr/>
          <p:nvPr/>
        </p:nvGrpSpPr>
        <p:grpSpPr>
          <a:xfrm>
            <a:off x="2141393" y="2026386"/>
            <a:ext cx="3499418" cy="648950"/>
            <a:chOff x="1066800" y="565507"/>
            <a:chExt cx="4140485" cy="710843"/>
          </a:xfrm>
        </p:grpSpPr>
        <p:sp>
          <p:nvSpPr>
            <p:cNvPr id="430" name="Google Shape;430;p17"/>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31" name="Google Shape;431;p17"/>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432" name="Google Shape;432;p17"/>
          <p:cNvGrpSpPr/>
          <p:nvPr/>
        </p:nvGrpSpPr>
        <p:grpSpPr>
          <a:xfrm>
            <a:off x="3239908" y="2905125"/>
            <a:ext cx="1289729" cy="1350311"/>
            <a:chOff x="2021196" y="2905125"/>
            <a:chExt cx="1289729" cy="1350311"/>
          </a:xfrm>
        </p:grpSpPr>
        <p:grpSp>
          <p:nvGrpSpPr>
            <p:cNvPr id="433" name="Google Shape;433;p17"/>
            <p:cNvGrpSpPr/>
            <p:nvPr/>
          </p:nvGrpSpPr>
          <p:grpSpPr>
            <a:xfrm>
              <a:off x="2284073" y="2905125"/>
              <a:ext cx="762000" cy="762000"/>
              <a:chOff x="2284073" y="2905125"/>
              <a:chExt cx="762000" cy="762000"/>
            </a:xfrm>
          </p:grpSpPr>
          <p:pic>
            <p:nvPicPr>
              <p:cNvPr descr="image.png" id="434" name="Google Shape;434;p17"/>
              <p:cNvPicPr preferRelativeResize="0"/>
              <p:nvPr/>
            </p:nvPicPr>
            <p:blipFill rotWithShape="1">
              <a:blip r:embed="rId3">
                <a:alphaModFix/>
              </a:blip>
              <a:srcRect b="0" l="0" r="0" t="0"/>
              <a:stretch/>
            </p:blipFill>
            <p:spPr>
              <a:xfrm>
                <a:off x="2284073" y="2905125"/>
                <a:ext cx="762000" cy="762000"/>
              </a:xfrm>
              <a:prstGeom prst="rect">
                <a:avLst/>
              </a:prstGeom>
              <a:noFill/>
              <a:ln>
                <a:noFill/>
              </a:ln>
            </p:spPr>
          </p:pic>
          <p:pic>
            <p:nvPicPr>
              <p:cNvPr descr="image.png" id="435" name="Google Shape;435;p17"/>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436" name="Google Shape;436;p17"/>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437" name="Google Shape;437;p17"/>
          <p:cNvGrpSpPr/>
          <p:nvPr/>
        </p:nvGrpSpPr>
        <p:grpSpPr>
          <a:xfrm>
            <a:off x="4612110" y="2901705"/>
            <a:ext cx="1289729" cy="1342221"/>
            <a:chOff x="3244170" y="2905125"/>
            <a:chExt cx="1289729" cy="1342221"/>
          </a:xfrm>
        </p:grpSpPr>
        <p:grpSp>
          <p:nvGrpSpPr>
            <p:cNvPr id="438" name="Google Shape;438;p17"/>
            <p:cNvGrpSpPr/>
            <p:nvPr/>
          </p:nvGrpSpPr>
          <p:grpSpPr>
            <a:xfrm>
              <a:off x="3510871" y="2905125"/>
              <a:ext cx="762000" cy="762000"/>
              <a:chOff x="3510871" y="2905125"/>
              <a:chExt cx="762000" cy="762000"/>
            </a:xfrm>
          </p:grpSpPr>
          <p:pic>
            <p:nvPicPr>
              <p:cNvPr descr="image.png" id="439" name="Google Shape;439;p17"/>
              <p:cNvPicPr preferRelativeResize="0"/>
              <p:nvPr/>
            </p:nvPicPr>
            <p:blipFill rotWithShape="1">
              <a:blip r:embed="rId7">
                <a:alphaModFix/>
              </a:blip>
              <a:srcRect b="0" l="0" r="0" t="0"/>
              <a:stretch/>
            </p:blipFill>
            <p:spPr>
              <a:xfrm>
                <a:off x="3510871" y="2905125"/>
                <a:ext cx="762000" cy="762000"/>
              </a:xfrm>
              <a:prstGeom prst="rect">
                <a:avLst/>
              </a:prstGeom>
              <a:noFill/>
              <a:ln>
                <a:noFill/>
              </a:ln>
            </p:spPr>
          </p:pic>
          <p:pic>
            <p:nvPicPr>
              <p:cNvPr descr="image.png" id="440" name="Google Shape;440;p17"/>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441" name="Google Shape;441;p17"/>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442" name="Google Shape;442;p17"/>
          <p:cNvGrpSpPr/>
          <p:nvPr/>
        </p:nvGrpSpPr>
        <p:grpSpPr>
          <a:xfrm>
            <a:off x="7582989" y="2913215"/>
            <a:ext cx="1200150" cy="1342221"/>
            <a:chOff x="7010400" y="2905125"/>
            <a:chExt cx="1200150" cy="1342221"/>
          </a:xfrm>
        </p:grpSpPr>
        <p:grpSp>
          <p:nvGrpSpPr>
            <p:cNvPr id="443" name="Google Shape;443;p17"/>
            <p:cNvGrpSpPr/>
            <p:nvPr/>
          </p:nvGrpSpPr>
          <p:grpSpPr>
            <a:xfrm>
              <a:off x="7191376" y="2905125"/>
              <a:ext cx="762000" cy="762000"/>
              <a:chOff x="7191376" y="2905125"/>
              <a:chExt cx="762000" cy="762000"/>
            </a:xfrm>
          </p:grpSpPr>
          <p:pic>
            <p:nvPicPr>
              <p:cNvPr descr="image.png" id="444" name="Google Shape;444;p17"/>
              <p:cNvPicPr preferRelativeResize="0"/>
              <p:nvPr/>
            </p:nvPicPr>
            <p:blipFill rotWithShape="1">
              <a:blip r:embed="rId3">
                <a:alphaModFix/>
              </a:blip>
              <a:srcRect b="0" l="0" r="0" t="0"/>
              <a:stretch/>
            </p:blipFill>
            <p:spPr>
              <a:xfrm>
                <a:off x="7191376" y="2905125"/>
                <a:ext cx="762000" cy="762000"/>
              </a:xfrm>
              <a:prstGeom prst="rect">
                <a:avLst/>
              </a:prstGeom>
              <a:noFill/>
              <a:ln>
                <a:noFill/>
              </a:ln>
            </p:spPr>
          </p:pic>
          <p:pic>
            <p:nvPicPr>
              <p:cNvPr descr="image.png" id="445" name="Google Shape;445;p17"/>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446" name="Google Shape;446;p17"/>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447" name="Google Shape;447;p17"/>
          <p:cNvGrpSpPr/>
          <p:nvPr/>
        </p:nvGrpSpPr>
        <p:grpSpPr>
          <a:xfrm>
            <a:off x="9135279" y="2899304"/>
            <a:ext cx="1200150" cy="1304567"/>
            <a:chOff x="6852956" y="4892396"/>
            <a:chExt cx="1200150" cy="1304567"/>
          </a:xfrm>
        </p:grpSpPr>
        <p:grpSp>
          <p:nvGrpSpPr>
            <p:cNvPr id="448" name="Google Shape;448;p17"/>
            <p:cNvGrpSpPr/>
            <p:nvPr/>
          </p:nvGrpSpPr>
          <p:grpSpPr>
            <a:xfrm>
              <a:off x="6852956" y="4892396"/>
              <a:ext cx="1200150" cy="1304567"/>
              <a:chOff x="6977618" y="2905125"/>
              <a:chExt cx="1200150" cy="1304567"/>
            </a:xfrm>
          </p:grpSpPr>
          <p:pic>
            <p:nvPicPr>
              <p:cNvPr descr="image.png" id="449" name="Google Shape;449;p17"/>
              <p:cNvPicPr preferRelativeResize="0"/>
              <p:nvPr/>
            </p:nvPicPr>
            <p:blipFill rotWithShape="1">
              <a:blip r:embed="rId3">
                <a:alphaModFix/>
              </a:blip>
              <a:srcRect b="0" l="0" r="0" t="0"/>
              <a:stretch/>
            </p:blipFill>
            <p:spPr>
              <a:xfrm>
                <a:off x="7191376" y="2905125"/>
                <a:ext cx="762000" cy="762000"/>
              </a:xfrm>
              <a:prstGeom prst="rect">
                <a:avLst/>
              </a:prstGeom>
              <a:noFill/>
              <a:ln>
                <a:noFill/>
              </a:ln>
            </p:spPr>
          </p:pic>
          <p:sp>
            <p:nvSpPr>
              <p:cNvPr id="450" name="Google Shape;450;p17"/>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451" name="Google Shape;451;p17"/>
            <p:cNvPicPr preferRelativeResize="0"/>
            <p:nvPr/>
          </p:nvPicPr>
          <p:blipFill rotWithShape="1">
            <a:blip r:embed="rId8">
              <a:alphaModFix/>
            </a:blip>
            <a:srcRect b="0" l="0" r="0" t="0"/>
            <a:stretch/>
          </p:blipFill>
          <p:spPr>
            <a:xfrm>
              <a:off x="7361989" y="5159096"/>
              <a:ext cx="171450" cy="228600"/>
            </a:xfrm>
            <a:prstGeom prst="rect">
              <a:avLst/>
            </a:prstGeom>
            <a:noFill/>
            <a:ln>
              <a:noFill/>
            </a:ln>
          </p:spPr>
        </p:pic>
      </p:grpSp>
      <p:grpSp>
        <p:nvGrpSpPr>
          <p:cNvPr id="452" name="Google Shape;452;p17"/>
          <p:cNvGrpSpPr/>
          <p:nvPr/>
        </p:nvGrpSpPr>
        <p:grpSpPr>
          <a:xfrm>
            <a:off x="6319032" y="2007408"/>
            <a:ext cx="2307535" cy="648950"/>
            <a:chOff x="1066800" y="565507"/>
            <a:chExt cx="4140485" cy="710843"/>
          </a:xfrm>
        </p:grpSpPr>
        <p:sp>
          <p:nvSpPr>
            <p:cNvPr id="453" name="Google Shape;453;p17"/>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4" name="Google Shape;454;p17"/>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8" name="Shape 458"/>
        <p:cNvGrpSpPr/>
        <p:nvPr/>
      </p:nvGrpSpPr>
      <p:grpSpPr>
        <a:xfrm>
          <a:off x="0" y="0"/>
          <a:ext cx="0" cy="0"/>
          <a:chOff x="0" y="0"/>
          <a:chExt cx="0" cy="0"/>
        </a:xfrm>
      </p:grpSpPr>
      <p:sp>
        <p:nvSpPr>
          <p:cNvPr id="459" name="Google Shape;459;p7"/>
          <p:cNvSpPr txBox="1"/>
          <p:nvPr/>
        </p:nvSpPr>
        <p:spPr>
          <a:xfrm>
            <a:off x="731525" y="474125"/>
            <a:ext cx="65943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Principal component analysis (PCA)</a:t>
            </a:r>
            <a:endParaRPr b="0" i="0" sz="1800" u="none" cap="none" strike="noStrike">
              <a:solidFill>
                <a:schemeClr val="dk1"/>
              </a:solidFill>
              <a:latin typeface="Calibri"/>
              <a:ea typeface="Calibri"/>
              <a:cs typeface="Calibri"/>
              <a:sym typeface="Calibri"/>
            </a:endParaRPr>
          </a:p>
        </p:txBody>
      </p:sp>
      <p:grpSp>
        <p:nvGrpSpPr>
          <p:cNvPr id="460" name="Google Shape;460;p7"/>
          <p:cNvGrpSpPr/>
          <p:nvPr/>
        </p:nvGrpSpPr>
        <p:grpSpPr>
          <a:xfrm>
            <a:off x="557412" y="5779534"/>
            <a:ext cx="11077175" cy="791864"/>
            <a:chOff x="914399" y="4130211"/>
            <a:chExt cx="4587105" cy="1797978"/>
          </a:xfrm>
        </p:grpSpPr>
        <p:sp>
          <p:nvSpPr>
            <p:cNvPr id="461" name="Google Shape;461;p7"/>
            <p:cNvSpPr/>
            <p:nvPr/>
          </p:nvSpPr>
          <p:spPr>
            <a:xfrm>
              <a:off x="914399" y="4130211"/>
              <a:ext cx="4587105" cy="1797978"/>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62" name="Google Shape;462;p7"/>
            <p:cNvSpPr txBox="1"/>
            <p:nvPr/>
          </p:nvSpPr>
          <p:spPr>
            <a:xfrm>
              <a:off x="914399" y="4361734"/>
              <a:ext cx="4587105" cy="1467443"/>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Applied to compress our 15-dimensional space down to core behavioral axes</a:t>
              </a:r>
              <a:endParaRPr b="0" i="0" sz="18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Removes redundant noise and avoids the "curse of dimensionality" before clustering</a:t>
              </a:r>
              <a:endParaRPr b="0" i="0" sz="1400" u="none" cap="none" strike="noStrike">
                <a:solidFill>
                  <a:srgbClr val="000000"/>
                </a:solidFill>
                <a:latin typeface="Arial"/>
                <a:ea typeface="Arial"/>
                <a:cs typeface="Arial"/>
                <a:sym typeface="Arial"/>
              </a:endParaRPr>
            </a:p>
          </p:txBody>
        </p:sp>
      </p:grpSp>
      <p:grpSp>
        <p:nvGrpSpPr>
          <p:cNvPr id="463" name="Google Shape;463;p7"/>
          <p:cNvGrpSpPr/>
          <p:nvPr/>
        </p:nvGrpSpPr>
        <p:grpSpPr>
          <a:xfrm>
            <a:off x="9664721" y="132225"/>
            <a:ext cx="2449204" cy="341908"/>
            <a:chOff x="9619565" y="209082"/>
            <a:chExt cx="2449204" cy="341908"/>
          </a:xfrm>
        </p:grpSpPr>
        <p:pic>
          <p:nvPicPr>
            <p:cNvPr id="464" name="Google Shape;464;p7"/>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465" name="Google Shape;465;p7"/>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466" name="Google Shape;466;p7"/>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467" name="Google Shape;467;p7"/>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468" name="Google Shape;468;p7"/>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469" name="Google Shape;469;p7"/>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470" name="Google Shape;470;p7"/>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471" name="Google Shape;471;p7"/>
          <p:cNvGrpSpPr/>
          <p:nvPr/>
        </p:nvGrpSpPr>
        <p:grpSpPr>
          <a:xfrm>
            <a:off x="300005" y="1776045"/>
            <a:ext cx="3357594" cy="1494940"/>
            <a:chOff x="6779232" y="1518603"/>
            <a:chExt cx="3405081" cy="1642811"/>
          </a:xfrm>
        </p:grpSpPr>
        <p:sp>
          <p:nvSpPr>
            <p:cNvPr id="472" name="Google Shape;472;p7"/>
            <p:cNvSpPr/>
            <p:nvPr/>
          </p:nvSpPr>
          <p:spPr>
            <a:xfrm>
              <a:off x="6779232" y="1518603"/>
              <a:ext cx="3405081" cy="1481451"/>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3" name="Google Shape;473;p7"/>
            <p:cNvSpPr txBox="1"/>
            <p:nvPr/>
          </p:nvSpPr>
          <p:spPr>
            <a:xfrm>
              <a:off x="6927744" y="1596748"/>
              <a:ext cx="3095119" cy="156466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22C55E"/>
                  </a:solidFill>
                  <a:latin typeface="Calibri"/>
                  <a:ea typeface="Calibri"/>
                  <a:cs typeface="Calibri"/>
                  <a:sym typeface="Calibri"/>
                </a:rPr>
                <a:t>Advantages: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Calibri"/>
                  <a:ea typeface="Calibri"/>
                  <a:cs typeface="Calibri"/>
                  <a:sym typeface="Calibri"/>
                </a:rPr>
                <a:t>Highly stable, minimizes reconstruction errors, ideal for denoising</a:t>
              </a:r>
              <a:endParaRPr b="0" i="0" sz="1400" u="none" cap="none" strike="noStrike">
                <a:solidFill>
                  <a:srgbClr val="000000"/>
                </a:solidFill>
                <a:latin typeface="Arial"/>
                <a:ea typeface="Arial"/>
                <a:cs typeface="Arial"/>
                <a:sym typeface="Arial"/>
              </a:endParaRPr>
            </a:p>
          </p:txBody>
        </p:sp>
      </p:grpSp>
      <p:grpSp>
        <p:nvGrpSpPr>
          <p:cNvPr id="474" name="Google Shape;474;p7"/>
          <p:cNvGrpSpPr/>
          <p:nvPr/>
        </p:nvGrpSpPr>
        <p:grpSpPr>
          <a:xfrm>
            <a:off x="300005" y="3372952"/>
            <a:ext cx="3357594" cy="1423829"/>
            <a:chOff x="6779232" y="1518603"/>
            <a:chExt cx="3405081" cy="1481451"/>
          </a:xfrm>
        </p:grpSpPr>
        <p:sp>
          <p:nvSpPr>
            <p:cNvPr id="475" name="Google Shape;475;p7"/>
            <p:cNvSpPr/>
            <p:nvPr/>
          </p:nvSpPr>
          <p:spPr>
            <a:xfrm>
              <a:off x="6779232" y="1518603"/>
              <a:ext cx="3405081" cy="1481451"/>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76" name="Google Shape;476;p7"/>
            <p:cNvSpPr txBox="1"/>
            <p:nvPr/>
          </p:nvSpPr>
          <p:spPr>
            <a:xfrm>
              <a:off x="6934212" y="1634521"/>
              <a:ext cx="3095119"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B7687D"/>
                  </a:solidFill>
                  <a:latin typeface="Calibri"/>
                  <a:ea typeface="Calibri"/>
                  <a:cs typeface="Calibri"/>
                  <a:sym typeface="Calibri"/>
                </a:rPr>
                <a:t>Limitations: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Calibri"/>
                  <a:ea typeface="Calibri"/>
                  <a:cs typeface="Calibri"/>
                  <a:sym typeface="Calibri"/>
                </a:rPr>
                <a:t>Assumes strictly linear structures, misses non-linear spatial geometry</a:t>
              </a:r>
              <a:endParaRPr b="0" i="0" sz="1400" u="none" cap="none" strike="noStrike">
                <a:solidFill>
                  <a:srgbClr val="000000"/>
                </a:solidFill>
                <a:latin typeface="Calibri"/>
                <a:ea typeface="Calibri"/>
                <a:cs typeface="Calibri"/>
                <a:sym typeface="Calibri"/>
              </a:endParaRPr>
            </a:p>
          </p:txBody>
        </p:sp>
      </p:grpSp>
      <p:pic>
        <p:nvPicPr>
          <p:cNvPr id="477" name="Google Shape;477;p7"/>
          <p:cNvPicPr preferRelativeResize="0"/>
          <p:nvPr/>
        </p:nvPicPr>
        <p:blipFill rotWithShape="1">
          <a:blip r:embed="rId11">
            <a:alphaModFix/>
          </a:blip>
          <a:srcRect b="0" l="0" r="0" t="0"/>
          <a:stretch/>
        </p:blipFill>
        <p:spPr>
          <a:xfrm>
            <a:off x="3825596" y="1201247"/>
            <a:ext cx="7808991" cy="434340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1" name="Shape 481"/>
        <p:cNvGrpSpPr/>
        <p:nvPr/>
      </p:nvGrpSpPr>
      <p:grpSpPr>
        <a:xfrm>
          <a:off x="0" y="0"/>
          <a:ext cx="0" cy="0"/>
          <a:chOff x="0" y="0"/>
          <a:chExt cx="0" cy="0"/>
        </a:xfrm>
      </p:grpSpPr>
      <p:sp>
        <p:nvSpPr>
          <p:cNvPr id="482" name="Google Shape;482;p8"/>
          <p:cNvSpPr txBox="1"/>
          <p:nvPr/>
        </p:nvSpPr>
        <p:spPr>
          <a:xfrm>
            <a:off x="731520" y="457200"/>
            <a:ext cx="6285729" cy="4924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Optimal PCA – 7 components</a:t>
            </a:r>
            <a:endParaRPr b="0" i="0" sz="1400" u="none" cap="none" strike="noStrike">
              <a:solidFill>
                <a:srgbClr val="000000"/>
              </a:solidFill>
              <a:latin typeface="Arial"/>
              <a:ea typeface="Arial"/>
              <a:cs typeface="Arial"/>
              <a:sym typeface="Arial"/>
            </a:endParaRPr>
          </a:p>
        </p:txBody>
      </p:sp>
      <p:grpSp>
        <p:nvGrpSpPr>
          <p:cNvPr id="483" name="Google Shape;483;p8"/>
          <p:cNvGrpSpPr/>
          <p:nvPr/>
        </p:nvGrpSpPr>
        <p:grpSpPr>
          <a:xfrm>
            <a:off x="9664721" y="132225"/>
            <a:ext cx="2449204" cy="341908"/>
            <a:chOff x="9619565" y="209082"/>
            <a:chExt cx="2449204" cy="341908"/>
          </a:xfrm>
        </p:grpSpPr>
        <p:pic>
          <p:nvPicPr>
            <p:cNvPr id="484" name="Google Shape;484;p8"/>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485" name="Google Shape;485;p8"/>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486" name="Google Shape;486;p8"/>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487" name="Google Shape;487;p8"/>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488" name="Google Shape;488;p8"/>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489" name="Google Shape;489;p8"/>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490" name="Google Shape;490;p8"/>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491" name="Google Shape;491;p8"/>
          <p:cNvGrpSpPr/>
          <p:nvPr/>
        </p:nvGrpSpPr>
        <p:grpSpPr>
          <a:xfrm>
            <a:off x="2614172" y="5370948"/>
            <a:ext cx="6732027" cy="812487"/>
            <a:chOff x="312902" y="1600680"/>
            <a:chExt cx="4408180" cy="812487"/>
          </a:xfrm>
        </p:grpSpPr>
        <p:sp>
          <p:nvSpPr>
            <p:cNvPr id="492" name="Google Shape;492;p8"/>
            <p:cNvSpPr/>
            <p:nvPr/>
          </p:nvSpPr>
          <p:spPr>
            <a:xfrm>
              <a:off x="312902" y="1600680"/>
              <a:ext cx="4403077"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493" name="Google Shape;493;p8"/>
            <p:cNvSpPr txBox="1"/>
            <p:nvPr/>
          </p:nvSpPr>
          <p:spPr>
            <a:xfrm>
              <a:off x="318005" y="1766836"/>
              <a:ext cx="4403077"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More than 90 percent of the original information is preserved</a:t>
              </a:r>
              <a:endParaRPr b="0" i="0" sz="1400" u="none" cap="none" strike="noStrike">
                <a:solidFill>
                  <a:srgbClr val="000000"/>
                </a:solidFill>
                <a:latin typeface="Arial"/>
                <a:ea typeface="Arial"/>
                <a:cs typeface="Arial"/>
                <a:sym typeface="Arial"/>
              </a:endParaRPr>
            </a:p>
          </p:txBody>
        </p:sp>
      </p:grpSp>
      <p:grpSp>
        <p:nvGrpSpPr>
          <p:cNvPr id="494" name="Google Shape;494;p8"/>
          <p:cNvGrpSpPr/>
          <p:nvPr/>
        </p:nvGrpSpPr>
        <p:grpSpPr>
          <a:xfrm>
            <a:off x="2621965" y="1395324"/>
            <a:ext cx="6716441" cy="3760139"/>
            <a:chOff x="331065" y="2295998"/>
            <a:chExt cx="4456835" cy="2478919"/>
          </a:xfrm>
        </p:grpSpPr>
        <p:pic>
          <p:nvPicPr>
            <p:cNvPr id="495" name="Google Shape;495;p8"/>
            <p:cNvPicPr preferRelativeResize="0"/>
            <p:nvPr/>
          </p:nvPicPr>
          <p:blipFill rotWithShape="1">
            <a:blip r:embed="rId11">
              <a:alphaModFix/>
            </a:blip>
            <a:srcRect b="0" l="0" r="0" t="0"/>
            <a:stretch/>
          </p:blipFill>
          <p:spPr>
            <a:xfrm>
              <a:off x="331065" y="2295998"/>
              <a:ext cx="4456835" cy="2478919"/>
            </a:xfrm>
            <a:prstGeom prst="rect">
              <a:avLst/>
            </a:prstGeom>
            <a:noFill/>
            <a:ln>
              <a:noFill/>
            </a:ln>
          </p:spPr>
        </p:pic>
        <p:sp>
          <p:nvSpPr>
            <p:cNvPr id="496" name="Google Shape;496;p8"/>
            <p:cNvSpPr/>
            <p:nvPr/>
          </p:nvSpPr>
          <p:spPr>
            <a:xfrm>
              <a:off x="1818527" y="2672429"/>
              <a:ext cx="215758" cy="224883"/>
            </a:xfrm>
            <a:prstGeom prst="ellipse">
              <a:avLst/>
            </a:prstGeom>
            <a:noFill/>
            <a:ln cap="flat" cmpd="sng" w="762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13"/>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502" name="Google Shape;502;p13"/>
          <p:cNvGrpSpPr/>
          <p:nvPr/>
        </p:nvGrpSpPr>
        <p:grpSpPr>
          <a:xfrm>
            <a:off x="1831097" y="2905125"/>
            <a:ext cx="1289729" cy="1116949"/>
            <a:chOff x="793409" y="2905125"/>
            <a:chExt cx="1289729" cy="1116949"/>
          </a:xfrm>
        </p:grpSpPr>
        <p:sp>
          <p:nvSpPr>
            <p:cNvPr id="503" name="Google Shape;503;p13"/>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504" name="Google Shape;504;p13"/>
            <p:cNvGrpSpPr/>
            <p:nvPr/>
          </p:nvGrpSpPr>
          <p:grpSpPr>
            <a:xfrm>
              <a:off x="1057275" y="2905125"/>
              <a:ext cx="762000" cy="762000"/>
              <a:chOff x="1057275" y="2905125"/>
              <a:chExt cx="762000" cy="762000"/>
            </a:xfrm>
          </p:grpSpPr>
          <p:pic>
            <p:nvPicPr>
              <p:cNvPr descr="image.png" id="505" name="Google Shape;505;p13"/>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506" name="Google Shape;506;p13"/>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507" name="Google Shape;507;p13"/>
          <p:cNvGrpSpPr/>
          <p:nvPr/>
        </p:nvGrpSpPr>
        <p:grpSpPr>
          <a:xfrm>
            <a:off x="6099957" y="2909889"/>
            <a:ext cx="1200150" cy="1374124"/>
            <a:chOff x="4518594" y="2886075"/>
            <a:chExt cx="1200150" cy="1374124"/>
          </a:xfrm>
        </p:grpSpPr>
        <p:sp>
          <p:nvSpPr>
            <p:cNvPr id="508" name="Google Shape;508;p13"/>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509" name="Google Shape;509;p13"/>
            <p:cNvGrpSpPr/>
            <p:nvPr/>
          </p:nvGrpSpPr>
          <p:grpSpPr>
            <a:xfrm>
              <a:off x="4737669" y="2886075"/>
              <a:ext cx="762000" cy="762000"/>
              <a:chOff x="4737669" y="2886075"/>
              <a:chExt cx="762000" cy="762000"/>
            </a:xfrm>
          </p:grpSpPr>
          <p:pic>
            <p:nvPicPr>
              <p:cNvPr descr="image.png" id="510" name="Google Shape;510;p13"/>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511" name="Google Shape;511;p13"/>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512" name="Google Shape;512;p13"/>
          <p:cNvGrpSpPr/>
          <p:nvPr/>
        </p:nvGrpSpPr>
        <p:grpSpPr>
          <a:xfrm>
            <a:off x="2141393" y="2026386"/>
            <a:ext cx="3499418" cy="648950"/>
            <a:chOff x="1066800" y="565507"/>
            <a:chExt cx="4140485" cy="710843"/>
          </a:xfrm>
        </p:grpSpPr>
        <p:sp>
          <p:nvSpPr>
            <p:cNvPr id="513" name="Google Shape;513;p13"/>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4" name="Google Shape;514;p13"/>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515" name="Google Shape;515;p13"/>
          <p:cNvGrpSpPr/>
          <p:nvPr/>
        </p:nvGrpSpPr>
        <p:grpSpPr>
          <a:xfrm>
            <a:off x="3239908" y="2905125"/>
            <a:ext cx="1289729" cy="1350311"/>
            <a:chOff x="2021196" y="2905125"/>
            <a:chExt cx="1289729" cy="1350311"/>
          </a:xfrm>
        </p:grpSpPr>
        <p:grpSp>
          <p:nvGrpSpPr>
            <p:cNvPr id="516" name="Google Shape;516;p13"/>
            <p:cNvGrpSpPr/>
            <p:nvPr/>
          </p:nvGrpSpPr>
          <p:grpSpPr>
            <a:xfrm>
              <a:off x="2284073" y="2905125"/>
              <a:ext cx="762000" cy="762000"/>
              <a:chOff x="2284073" y="2905125"/>
              <a:chExt cx="762000" cy="762000"/>
            </a:xfrm>
          </p:grpSpPr>
          <p:pic>
            <p:nvPicPr>
              <p:cNvPr descr="image.png" id="517" name="Google Shape;517;p13"/>
              <p:cNvPicPr preferRelativeResize="0"/>
              <p:nvPr/>
            </p:nvPicPr>
            <p:blipFill rotWithShape="1">
              <a:blip r:embed="rId7">
                <a:alphaModFix/>
              </a:blip>
              <a:srcRect b="0" l="0" r="0" t="0"/>
              <a:stretch/>
            </p:blipFill>
            <p:spPr>
              <a:xfrm>
                <a:off x="2284073" y="2905125"/>
                <a:ext cx="762000" cy="762000"/>
              </a:xfrm>
              <a:prstGeom prst="rect">
                <a:avLst/>
              </a:prstGeom>
              <a:noFill/>
              <a:ln>
                <a:noFill/>
              </a:ln>
            </p:spPr>
          </p:pic>
          <p:pic>
            <p:nvPicPr>
              <p:cNvPr descr="image.png" id="518" name="Google Shape;518;p13"/>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519" name="Google Shape;519;p13"/>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520" name="Google Shape;520;p13"/>
          <p:cNvGrpSpPr/>
          <p:nvPr/>
        </p:nvGrpSpPr>
        <p:grpSpPr>
          <a:xfrm>
            <a:off x="4612110" y="2901705"/>
            <a:ext cx="1289729" cy="1342221"/>
            <a:chOff x="3244170" y="2905125"/>
            <a:chExt cx="1289729" cy="1342221"/>
          </a:xfrm>
        </p:grpSpPr>
        <p:grpSp>
          <p:nvGrpSpPr>
            <p:cNvPr id="521" name="Google Shape;521;p13"/>
            <p:cNvGrpSpPr/>
            <p:nvPr/>
          </p:nvGrpSpPr>
          <p:grpSpPr>
            <a:xfrm>
              <a:off x="3510871" y="2905125"/>
              <a:ext cx="762000" cy="762000"/>
              <a:chOff x="3510871" y="2905125"/>
              <a:chExt cx="762000" cy="762000"/>
            </a:xfrm>
          </p:grpSpPr>
          <p:pic>
            <p:nvPicPr>
              <p:cNvPr descr="image.png" id="522" name="Google Shape;522;p13"/>
              <p:cNvPicPr preferRelativeResize="0"/>
              <p:nvPr/>
            </p:nvPicPr>
            <p:blipFill rotWithShape="1">
              <a:blip r:embed="rId8">
                <a:alphaModFix/>
              </a:blip>
              <a:srcRect b="0" l="0" r="0" t="0"/>
              <a:stretch/>
            </p:blipFill>
            <p:spPr>
              <a:xfrm>
                <a:off x="3510871" y="2905125"/>
                <a:ext cx="762000" cy="762000"/>
              </a:xfrm>
              <a:prstGeom prst="rect">
                <a:avLst/>
              </a:prstGeom>
              <a:noFill/>
              <a:ln>
                <a:noFill/>
              </a:ln>
            </p:spPr>
          </p:pic>
          <p:pic>
            <p:nvPicPr>
              <p:cNvPr descr="image.png" id="523" name="Google Shape;523;p13"/>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524" name="Google Shape;524;p13"/>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525" name="Google Shape;525;p13"/>
          <p:cNvGrpSpPr/>
          <p:nvPr/>
        </p:nvGrpSpPr>
        <p:grpSpPr>
          <a:xfrm>
            <a:off x="7582989" y="2913215"/>
            <a:ext cx="1200150" cy="1342221"/>
            <a:chOff x="7010400" y="2905125"/>
            <a:chExt cx="1200150" cy="1342221"/>
          </a:xfrm>
        </p:grpSpPr>
        <p:grpSp>
          <p:nvGrpSpPr>
            <p:cNvPr id="526" name="Google Shape;526;p13"/>
            <p:cNvGrpSpPr/>
            <p:nvPr/>
          </p:nvGrpSpPr>
          <p:grpSpPr>
            <a:xfrm>
              <a:off x="7191376" y="2905125"/>
              <a:ext cx="762000" cy="762000"/>
              <a:chOff x="7191376" y="2905125"/>
              <a:chExt cx="762000" cy="762000"/>
            </a:xfrm>
          </p:grpSpPr>
          <p:pic>
            <p:nvPicPr>
              <p:cNvPr descr="image.png" id="527" name="Google Shape;527;p13"/>
              <p:cNvPicPr preferRelativeResize="0"/>
              <p:nvPr/>
            </p:nvPicPr>
            <p:blipFill rotWithShape="1">
              <a:blip r:embed="rId7">
                <a:alphaModFix/>
              </a:blip>
              <a:srcRect b="0" l="0" r="0" t="0"/>
              <a:stretch/>
            </p:blipFill>
            <p:spPr>
              <a:xfrm>
                <a:off x="7191376" y="2905125"/>
                <a:ext cx="762000" cy="762000"/>
              </a:xfrm>
              <a:prstGeom prst="rect">
                <a:avLst/>
              </a:prstGeom>
              <a:noFill/>
              <a:ln>
                <a:noFill/>
              </a:ln>
            </p:spPr>
          </p:pic>
          <p:pic>
            <p:nvPicPr>
              <p:cNvPr descr="image.png" id="528" name="Google Shape;528;p13"/>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529" name="Google Shape;529;p13"/>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530" name="Google Shape;530;p13"/>
          <p:cNvGrpSpPr/>
          <p:nvPr/>
        </p:nvGrpSpPr>
        <p:grpSpPr>
          <a:xfrm>
            <a:off x="9135279" y="2899304"/>
            <a:ext cx="1200150" cy="1304567"/>
            <a:chOff x="6852956" y="4892396"/>
            <a:chExt cx="1200150" cy="1304567"/>
          </a:xfrm>
        </p:grpSpPr>
        <p:grpSp>
          <p:nvGrpSpPr>
            <p:cNvPr id="531" name="Google Shape;531;p13"/>
            <p:cNvGrpSpPr/>
            <p:nvPr/>
          </p:nvGrpSpPr>
          <p:grpSpPr>
            <a:xfrm>
              <a:off x="6852956" y="4892396"/>
              <a:ext cx="1200150" cy="1304567"/>
              <a:chOff x="6977618" y="2905125"/>
              <a:chExt cx="1200150" cy="1304567"/>
            </a:xfrm>
          </p:grpSpPr>
          <p:pic>
            <p:nvPicPr>
              <p:cNvPr descr="image.png" id="532" name="Google Shape;532;p13"/>
              <p:cNvPicPr preferRelativeResize="0"/>
              <p:nvPr/>
            </p:nvPicPr>
            <p:blipFill rotWithShape="1">
              <a:blip r:embed="rId7">
                <a:alphaModFix/>
              </a:blip>
              <a:srcRect b="0" l="0" r="0" t="0"/>
              <a:stretch/>
            </p:blipFill>
            <p:spPr>
              <a:xfrm>
                <a:off x="7191376" y="2905125"/>
                <a:ext cx="762000" cy="762000"/>
              </a:xfrm>
              <a:prstGeom prst="rect">
                <a:avLst/>
              </a:prstGeom>
              <a:noFill/>
              <a:ln>
                <a:noFill/>
              </a:ln>
            </p:spPr>
          </p:pic>
          <p:sp>
            <p:nvSpPr>
              <p:cNvPr id="533" name="Google Shape;533;p13"/>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534" name="Google Shape;534;p13"/>
            <p:cNvPicPr preferRelativeResize="0"/>
            <p:nvPr/>
          </p:nvPicPr>
          <p:blipFill rotWithShape="1">
            <a:blip r:embed="rId9">
              <a:alphaModFix/>
            </a:blip>
            <a:srcRect b="0" l="0" r="0" t="0"/>
            <a:stretch/>
          </p:blipFill>
          <p:spPr>
            <a:xfrm>
              <a:off x="7361989" y="5159096"/>
              <a:ext cx="171450" cy="228600"/>
            </a:xfrm>
            <a:prstGeom prst="rect">
              <a:avLst/>
            </a:prstGeom>
            <a:noFill/>
            <a:ln>
              <a:noFill/>
            </a:ln>
          </p:spPr>
        </p:pic>
      </p:grpSp>
      <p:grpSp>
        <p:nvGrpSpPr>
          <p:cNvPr id="535" name="Google Shape;535;p13"/>
          <p:cNvGrpSpPr/>
          <p:nvPr/>
        </p:nvGrpSpPr>
        <p:grpSpPr>
          <a:xfrm>
            <a:off x="6319032" y="2007408"/>
            <a:ext cx="2307535" cy="648950"/>
            <a:chOff x="1066800" y="565507"/>
            <a:chExt cx="4140485" cy="710843"/>
          </a:xfrm>
        </p:grpSpPr>
        <p:sp>
          <p:nvSpPr>
            <p:cNvPr id="536" name="Google Shape;536;p13"/>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7" name="Google Shape;537;p13"/>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1" name="Shape 541"/>
        <p:cNvGrpSpPr/>
        <p:nvPr/>
      </p:nvGrpSpPr>
      <p:grpSpPr>
        <a:xfrm>
          <a:off x="0" y="0"/>
          <a:ext cx="0" cy="0"/>
          <a:chOff x="0" y="0"/>
          <a:chExt cx="0" cy="0"/>
        </a:xfrm>
      </p:grpSpPr>
      <p:grpSp>
        <p:nvGrpSpPr>
          <p:cNvPr id="542" name="Google Shape;542;p61"/>
          <p:cNvGrpSpPr/>
          <p:nvPr/>
        </p:nvGrpSpPr>
        <p:grpSpPr>
          <a:xfrm>
            <a:off x="216116" y="1931543"/>
            <a:ext cx="6877018" cy="3616502"/>
            <a:chOff x="5092134" y="1818529"/>
            <a:chExt cx="6877018" cy="3616502"/>
          </a:xfrm>
        </p:grpSpPr>
        <p:pic>
          <p:nvPicPr>
            <p:cNvPr id="543" name="Google Shape;543;p61"/>
            <p:cNvPicPr preferRelativeResize="0"/>
            <p:nvPr/>
          </p:nvPicPr>
          <p:blipFill rotWithShape="1">
            <a:blip r:embed="rId4">
              <a:alphaModFix/>
            </a:blip>
            <a:srcRect b="0" l="0" r="0" t="0"/>
            <a:stretch/>
          </p:blipFill>
          <p:spPr>
            <a:xfrm>
              <a:off x="5092134" y="1818529"/>
              <a:ext cx="6877018" cy="3616502"/>
            </a:xfrm>
            <a:prstGeom prst="rect">
              <a:avLst/>
            </a:prstGeom>
            <a:noFill/>
            <a:ln>
              <a:noFill/>
            </a:ln>
          </p:spPr>
        </p:pic>
        <p:cxnSp>
          <p:nvCxnSpPr>
            <p:cNvPr id="544" name="Google Shape;544;p61"/>
            <p:cNvCxnSpPr/>
            <p:nvPr/>
          </p:nvCxnSpPr>
          <p:spPr>
            <a:xfrm>
              <a:off x="5601441" y="2899810"/>
              <a:ext cx="6298200" cy="0"/>
            </a:xfrm>
            <a:prstGeom prst="straightConnector1">
              <a:avLst/>
            </a:prstGeom>
            <a:noFill/>
            <a:ln cap="flat" cmpd="sng" w="28575">
              <a:solidFill>
                <a:srgbClr val="BD4B48"/>
              </a:solidFill>
              <a:prstDash val="solid"/>
              <a:round/>
              <a:headEnd len="sm" w="sm" type="none"/>
              <a:tailEnd len="sm" w="sm" type="none"/>
            </a:ln>
          </p:spPr>
        </p:cxnSp>
      </p:grpSp>
      <p:sp>
        <p:nvSpPr>
          <p:cNvPr id="545" name="Google Shape;545;p61"/>
          <p:cNvSpPr txBox="1"/>
          <p:nvPr/>
        </p:nvSpPr>
        <p:spPr>
          <a:xfrm>
            <a:off x="731520" y="397461"/>
            <a:ext cx="62856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Optimal PCA – 7 components</a:t>
            </a:r>
            <a:endParaRPr b="0" i="0" sz="1400" u="none" cap="none" strike="noStrike">
              <a:solidFill>
                <a:srgbClr val="000000"/>
              </a:solidFill>
              <a:latin typeface="Arial"/>
              <a:ea typeface="Arial"/>
              <a:cs typeface="Arial"/>
              <a:sym typeface="Arial"/>
            </a:endParaRPr>
          </a:p>
        </p:txBody>
      </p:sp>
      <p:grpSp>
        <p:nvGrpSpPr>
          <p:cNvPr id="546" name="Google Shape;546;p61"/>
          <p:cNvGrpSpPr/>
          <p:nvPr/>
        </p:nvGrpSpPr>
        <p:grpSpPr>
          <a:xfrm>
            <a:off x="9664721" y="132225"/>
            <a:ext cx="2449204" cy="341908"/>
            <a:chOff x="9619565" y="209082"/>
            <a:chExt cx="2449204" cy="341908"/>
          </a:xfrm>
        </p:grpSpPr>
        <p:pic>
          <p:nvPicPr>
            <p:cNvPr id="547" name="Google Shape;547;p61"/>
            <p:cNvPicPr preferRelativeResize="0"/>
            <p:nvPr/>
          </p:nvPicPr>
          <p:blipFill rotWithShape="1">
            <a:blip r:embed="rId5">
              <a:alphaModFix/>
            </a:blip>
            <a:srcRect b="0" l="0" r="0" t="0"/>
            <a:stretch/>
          </p:blipFill>
          <p:spPr>
            <a:xfrm>
              <a:off x="9974731" y="211740"/>
              <a:ext cx="331661" cy="331661"/>
            </a:xfrm>
            <a:prstGeom prst="rect">
              <a:avLst/>
            </a:prstGeom>
            <a:noFill/>
            <a:ln>
              <a:noFill/>
            </a:ln>
          </p:spPr>
        </p:pic>
        <p:pic>
          <p:nvPicPr>
            <p:cNvPr id="548" name="Google Shape;548;p61"/>
            <p:cNvPicPr preferRelativeResize="0"/>
            <p:nvPr/>
          </p:nvPicPr>
          <p:blipFill rotWithShape="1">
            <a:blip r:embed="rId6">
              <a:alphaModFix/>
            </a:blip>
            <a:srcRect b="0" l="0" r="0" t="0"/>
            <a:stretch/>
          </p:blipFill>
          <p:spPr>
            <a:xfrm>
              <a:off x="9619565" y="216673"/>
              <a:ext cx="337984" cy="326728"/>
            </a:xfrm>
            <a:prstGeom prst="rect">
              <a:avLst/>
            </a:prstGeom>
            <a:noFill/>
            <a:ln>
              <a:noFill/>
            </a:ln>
          </p:spPr>
        </p:pic>
        <p:pic>
          <p:nvPicPr>
            <p:cNvPr id="549" name="Google Shape;549;p61"/>
            <p:cNvPicPr preferRelativeResize="0"/>
            <p:nvPr/>
          </p:nvPicPr>
          <p:blipFill rotWithShape="1">
            <a:blip r:embed="rId7">
              <a:alphaModFix/>
            </a:blip>
            <a:srcRect b="0" l="0" r="0" t="0"/>
            <a:stretch/>
          </p:blipFill>
          <p:spPr>
            <a:xfrm flipH="1">
              <a:off x="11000365" y="216673"/>
              <a:ext cx="331661" cy="334317"/>
            </a:xfrm>
            <a:prstGeom prst="rect">
              <a:avLst/>
            </a:prstGeom>
            <a:noFill/>
            <a:ln>
              <a:noFill/>
            </a:ln>
          </p:spPr>
        </p:pic>
        <p:pic>
          <p:nvPicPr>
            <p:cNvPr id="550" name="Google Shape;550;p61"/>
            <p:cNvPicPr preferRelativeResize="0"/>
            <p:nvPr/>
          </p:nvPicPr>
          <p:blipFill rotWithShape="1">
            <a:blip r:embed="rId8">
              <a:alphaModFix/>
            </a:blip>
            <a:srcRect b="0" l="0" r="0" t="0"/>
            <a:stretch/>
          </p:blipFill>
          <p:spPr>
            <a:xfrm>
              <a:off x="11349209" y="209083"/>
              <a:ext cx="351188" cy="331661"/>
            </a:xfrm>
            <a:prstGeom prst="rect">
              <a:avLst/>
            </a:prstGeom>
            <a:noFill/>
            <a:ln>
              <a:noFill/>
            </a:ln>
          </p:spPr>
        </p:pic>
        <p:pic>
          <p:nvPicPr>
            <p:cNvPr id="551" name="Google Shape;551;p61"/>
            <p:cNvPicPr preferRelativeResize="0"/>
            <p:nvPr/>
          </p:nvPicPr>
          <p:blipFill rotWithShape="1">
            <a:blip r:embed="rId9">
              <a:alphaModFix/>
            </a:blip>
            <a:srcRect b="0" l="0" r="0" t="0"/>
            <a:stretch/>
          </p:blipFill>
          <p:spPr>
            <a:xfrm>
              <a:off x="10649177" y="211739"/>
              <a:ext cx="331661" cy="331661"/>
            </a:xfrm>
            <a:prstGeom prst="rect">
              <a:avLst/>
            </a:prstGeom>
            <a:noFill/>
            <a:ln>
              <a:noFill/>
            </a:ln>
          </p:spPr>
        </p:pic>
        <p:pic>
          <p:nvPicPr>
            <p:cNvPr id="552" name="Google Shape;552;p61"/>
            <p:cNvPicPr preferRelativeResize="0"/>
            <p:nvPr/>
          </p:nvPicPr>
          <p:blipFill rotWithShape="1">
            <a:blip r:embed="rId10">
              <a:alphaModFix/>
            </a:blip>
            <a:srcRect b="0" l="0" r="0" t="0"/>
            <a:stretch/>
          </p:blipFill>
          <p:spPr>
            <a:xfrm>
              <a:off x="10323574" y="209083"/>
              <a:ext cx="308421" cy="334317"/>
            </a:xfrm>
            <a:prstGeom prst="rect">
              <a:avLst/>
            </a:prstGeom>
            <a:noFill/>
            <a:ln>
              <a:noFill/>
            </a:ln>
          </p:spPr>
        </p:pic>
        <p:pic>
          <p:nvPicPr>
            <p:cNvPr id="553" name="Google Shape;553;p61"/>
            <p:cNvPicPr preferRelativeResize="0"/>
            <p:nvPr/>
          </p:nvPicPr>
          <p:blipFill rotWithShape="1">
            <a:blip r:embed="rId11">
              <a:alphaModFix/>
            </a:blip>
            <a:srcRect b="0" l="0" r="0" t="0"/>
            <a:stretch/>
          </p:blipFill>
          <p:spPr>
            <a:xfrm>
              <a:off x="11717580" y="209082"/>
              <a:ext cx="351189" cy="324071"/>
            </a:xfrm>
            <a:prstGeom prst="rect">
              <a:avLst/>
            </a:prstGeom>
            <a:noFill/>
            <a:ln>
              <a:noFill/>
            </a:ln>
          </p:spPr>
        </p:pic>
      </p:grpSp>
      <p:pic>
        <p:nvPicPr>
          <p:cNvPr id="554" name="Google Shape;554;p61"/>
          <p:cNvPicPr preferRelativeResize="0"/>
          <p:nvPr/>
        </p:nvPicPr>
        <p:blipFill rotWithShape="1">
          <a:blip r:embed="rId12">
            <a:alphaModFix/>
          </a:blip>
          <a:srcRect b="0" l="0" r="0" t="0"/>
          <a:stretch/>
        </p:blipFill>
        <p:spPr>
          <a:xfrm>
            <a:off x="7233125" y="1931543"/>
            <a:ext cx="4724059" cy="3616502"/>
          </a:xfrm>
          <a:prstGeom prst="rect">
            <a:avLst/>
          </a:prstGeom>
          <a:noFill/>
          <a:ln>
            <a:noFill/>
          </a:ln>
        </p:spPr>
      </p:pic>
      <p:grpSp>
        <p:nvGrpSpPr>
          <p:cNvPr id="555" name="Google Shape;555;p61"/>
          <p:cNvGrpSpPr/>
          <p:nvPr/>
        </p:nvGrpSpPr>
        <p:grpSpPr>
          <a:xfrm>
            <a:off x="197262" y="1192036"/>
            <a:ext cx="11741068" cy="492402"/>
            <a:chOff x="914399" y="4130211"/>
            <a:chExt cx="4587105" cy="1797978"/>
          </a:xfrm>
        </p:grpSpPr>
        <p:sp>
          <p:nvSpPr>
            <p:cNvPr id="556" name="Google Shape;556;p61"/>
            <p:cNvSpPr/>
            <p:nvPr/>
          </p:nvSpPr>
          <p:spPr>
            <a:xfrm>
              <a:off x="914399" y="4130211"/>
              <a:ext cx="4587105" cy="1797978"/>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57" name="Google Shape;557;p61"/>
            <p:cNvSpPr txBox="1"/>
            <p:nvPr/>
          </p:nvSpPr>
          <p:spPr>
            <a:xfrm>
              <a:off x="914399" y="4361734"/>
              <a:ext cx="4587105" cy="134844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 number of clusters - k</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61" name="Shape 561"/>
        <p:cNvGrpSpPr/>
        <p:nvPr/>
      </p:nvGrpSpPr>
      <p:grpSpPr>
        <a:xfrm>
          <a:off x="0" y="0"/>
          <a:ext cx="0" cy="0"/>
          <a:chOff x="0" y="0"/>
          <a:chExt cx="0" cy="0"/>
        </a:xfrm>
      </p:grpSpPr>
      <p:sp>
        <p:nvSpPr>
          <p:cNvPr id="562" name="Google Shape;562;p9"/>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Choosing clusters</a:t>
            </a:r>
            <a:endParaRPr sz="1400">
              <a:solidFill>
                <a:srgbClr val="000000"/>
              </a:solidFill>
              <a:latin typeface="Arial"/>
              <a:ea typeface="Arial"/>
              <a:cs typeface="Arial"/>
              <a:sym typeface="Arial"/>
            </a:endParaRPr>
          </a:p>
        </p:txBody>
      </p:sp>
      <p:grpSp>
        <p:nvGrpSpPr>
          <p:cNvPr id="563" name="Google Shape;563;p9"/>
          <p:cNvGrpSpPr/>
          <p:nvPr/>
        </p:nvGrpSpPr>
        <p:grpSpPr>
          <a:xfrm>
            <a:off x="9664721" y="132225"/>
            <a:ext cx="2449204" cy="341908"/>
            <a:chOff x="9619565" y="209082"/>
            <a:chExt cx="2449204" cy="341908"/>
          </a:xfrm>
        </p:grpSpPr>
        <p:pic>
          <p:nvPicPr>
            <p:cNvPr id="564" name="Google Shape;564;p9"/>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565" name="Google Shape;565;p9"/>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566" name="Google Shape;566;p9"/>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567" name="Google Shape;567;p9"/>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568" name="Google Shape;568;p9"/>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569" name="Google Shape;569;p9"/>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570" name="Google Shape;570;p9"/>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571" name="Google Shape;571;p9"/>
          <p:cNvPicPr preferRelativeResize="0"/>
          <p:nvPr/>
        </p:nvPicPr>
        <p:blipFill rotWithShape="1">
          <a:blip r:embed="rId11">
            <a:alphaModFix/>
          </a:blip>
          <a:srcRect b="0" l="0" r="0" t="0"/>
          <a:stretch/>
        </p:blipFill>
        <p:spPr>
          <a:xfrm>
            <a:off x="5769343" y="1796797"/>
            <a:ext cx="6179384" cy="3671170"/>
          </a:xfrm>
          <a:prstGeom prst="rect">
            <a:avLst/>
          </a:prstGeom>
          <a:noFill/>
          <a:ln>
            <a:noFill/>
          </a:ln>
        </p:spPr>
      </p:pic>
      <p:grpSp>
        <p:nvGrpSpPr>
          <p:cNvPr id="572" name="Google Shape;572;p9"/>
          <p:cNvGrpSpPr/>
          <p:nvPr/>
        </p:nvGrpSpPr>
        <p:grpSpPr>
          <a:xfrm>
            <a:off x="5763225" y="5684749"/>
            <a:ext cx="6191639" cy="388423"/>
            <a:chOff x="312889" y="1600680"/>
            <a:chExt cx="4403100" cy="711006"/>
          </a:xfrm>
        </p:grpSpPr>
        <p:sp>
          <p:nvSpPr>
            <p:cNvPr id="573" name="Google Shape;573;p9"/>
            <p:cNvSpPr/>
            <p:nvPr/>
          </p:nvSpPr>
          <p:spPr>
            <a:xfrm>
              <a:off x="312902" y="1600680"/>
              <a:ext cx="4403077"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4" name="Google Shape;574;p9"/>
            <p:cNvSpPr txBox="1"/>
            <p:nvPr/>
          </p:nvSpPr>
          <p:spPr>
            <a:xfrm>
              <a:off x="312889" y="1618050"/>
              <a:ext cx="4403100" cy="676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K = 8, Shape: Full</a:t>
              </a:r>
              <a:endParaRPr b="0" i="0" sz="1400" u="none" cap="none" strike="noStrike">
                <a:solidFill>
                  <a:srgbClr val="000000"/>
                </a:solidFill>
                <a:latin typeface="Arial"/>
                <a:ea typeface="Arial"/>
                <a:cs typeface="Arial"/>
                <a:sym typeface="Arial"/>
              </a:endParaRPr>
            </a:p>
          </p:txBody>
        </p:sp>
      </p:grpSp>
      <p:grpSp>
        <p:nvGrpSpPr>
          <p:cNvPr id="575" name="Google Shape;575;p9"/>
          <p:cNvGrpSpPr/>
          <p:nvPr/>
        </p:nvGrpSpPr>
        <p:grpSpPr>
          <a:xfrm>
            <a:off x="300425" y="5684762"/>
            <a:ext cx="5290737" cy="388423"/>
            <a:chOff x="312902" y="1600680"/>
            <a:chExt cx="4403077" cy="711006"/>
          </a:xfrm>
        </p:grpSpPr>
        <p:sp>
          <p:nvSpPr>
            <p:cNvPr id="576" name="Google Shape;576;p9"/>
            <p:cNvSpPr/>
            <p:nvPr/>
          </p:nvSpPr>
          <p:spPr>
            <a:xfrm>
              <a:off x="312902" y="1600680"/>
              <a:ext cx="4403077"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577" name="Google Shape;577;p9"/>
            <p:cNvSpPr txBox="1"/>
            <p:nvPr/>
          </p:nvSpPr>
          <p:spPr>
            <a:xfrm>
              <a:off x="312902" y="1633017"/>
              <a:ext cx="4403077" cy="67608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K = 6, Best Linkage: Average</a:t>
              </a:r>
              <a:endParaRPr b="0" i="0" sz="1400" u="none" cap="none" strike="noStrike">
                <a:solidFill>
                  <a:srgbClr val="000000"/>
                </a:solidFill>
                <a:latin typeface="Arial"/>
                <a:ea typeface="Arial"/>
                <a:cs typeface="Arial"/>
                <a:sym typeface="Arial"/>
              </a:endParaRPr>
            </a:p>
          </p:txBody>
        </p:sp>
      </p:grpSp>
      <p:pic>
        <p:nvPicPr>
          <p:cNvPr id="578" name="Google Shape;578;p9"/>
          <p:cNvPicPr preferRelativeResize="0"/>
          <p:nvPr/>
        </p:nvPicPr>
        <p:blipFill rotWithShape="1">
          <a:blip r:embed="rId12">
            <a:alphaModFix/>
          </a:blip>
          <a:srcRect b="0" l="0" r="0" t="0"/>
          <a:stretch/>
        </p:blipFill>
        <p:spPr>
          <a:xfrm>
            <a:off x="300425" y="1789716"/>
            <a:ext cx="5290737" cy="3678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2" name="Shape 582"/>
        <p:cNvGrpSpPr/>
        <p:nvPr/>
      </p:nvGrpSpPr>
      <p:grpSpPr>
        <a:xfrm>
          <a:off x="0" y="0"/>
          <a:ext cx="0" cy="0"/>
          <a:chOff x="0" y="0"/>
          <a:chExt cx="0" cy="0"/>
        </a:xfrm>
      </p:grpSpPr>
      <p:sp>
        <p:nvSpPr>
          <p:cNvPr id="583" name="Google Shape;583;p12"/>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a:t>
            </a:r>
            <a:endParaRPr sz="1400">
              <a:solidFill>
                <a:srgbClr val="000000"/>
              </a:solidFill>
              <a:latin typeface="Arial"/>
              <a:ea typeface="Arial"/>
              <a:cs typeface="Arial"/>
              <a:sym typeface="Arial"/>
            </a:endParaRPr>
          </a:p>
        </p:txBody>
      </p:sp>
      <p:grpSp>
        <p:nvGrpSpPr>
          <p:cNvPr id="584" name="Google Shape;584;p12"/>
          <p:cNvGrpSpPr/>
          <p:nvPr/>
        </p:nvGrpSpPr>
        <p:grpSpPr>
          <a:xfrm>
            <a:off x="9664721" y="132225"/>
            <a:ext cx="2449204" cy="341908"/>
            <a:chOff x="9619565" y="209082"/>
            <a:chExt cx="2449204" cy="341908"/>
          </a:xfrm>
        </p:grpSpPr>
        <p:pic>
          <p:nvPicPr>
            <p:cNvPr id="585" name="Google Shape;585;p12"/>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586" name="Google Shape;586;p12"/>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587" name="Google Shape;587;p12"/>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588" name="Google Shape;588;p12"/>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589" name="Google Shape;589;p12"/>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590" name="Google Shape;590;p12"/>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591" name="Google Shape;591;p12"/>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592" name="Google Shape;592;p12"/>
          <p:cNvPicPr preferRelativeResize="0"/>
          <p:nvPr/>
        </p:nvPicPr>
        <p:blipFill rotWithShape="1">
          <a:blip r:embed="rId11">
            <a:alphaModFix/>
          </a:blip>
          <a:srcRect b="0" l="0" r="0" t="0"/>
          <a:stretch/>
        </p:blipFill>
        <p:spPr>
          <a:xfrm>
            <a:off x="696124" y="1387097"/>
            <a:ext cx="10799751" cy="489646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33"/>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Hierarchical</a:t>
            </a:r>
            <a:endParaRPr sz="1400">
              <a:solidFill>
                <a:srgbClr val="000000"/>
              </a:solidFill>
              <a:latin typeface="Arial"/>
              <a:ea typeface="Arial"/>
              <a:cs typeface="Arial"/>
              <a:sym typeface="Arial"/>
            </a:endParaRPr>
          </a:p>
        </p:txBody>
      </p:sp>
      <p:grpSp>
        <p:nvGrpSpPr>
          <p:cNvPr id="598" name="Google Shape;598;p33"/>
          <p:cNvGrpSpPr/>
          <p:nvPr/>
        </p:nvGrpSpPr>
        <p:grpSpPr>
          <a:xfrm>
            <a:off x="9664721" y="132225"/>
            <a:ext cx="2449204" cy="341908"/>
            <a:chOff x="9619565" y="209082"/>
            <a:chExt cx="2449204" cy="341908"/>
          </a:xfrm>
        </p:grpSpPr>
        <p:pic>
          <p:nvPicPr>
            <p:cNvPr id="599" name="Google Shape;599;p33"/>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600" name="Google Shape;600;p33"/>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601" name="Google Shape;601;p33"/>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602" name="Google Shape;602;p33"/>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603" name="Google Shape;603;p33"/>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604" name="Google Shape;604;p33"/>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605" name="Google Shape;605;p33"/>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pic>
        <p:nvPicPr>
          <p:cNvPr id="606" name="Google Shape;606;p33"/>
          <p:cNvPicPr preferRelativeResize="0"/>
          <p:nvPr/>
        </p:nvPicPr>
        <p:blipFill rotWithShape="1">
          <a:blip r:embed="rId10">
            <a:alphaModFix/>
          </a:blip>
          <a:srcRect b="0" l="0" r="0" t="0"/>
          <a:stretch/>
        </p:blipFill>
        <p:spPr>
          <a:xfrm>
            <a:off x="398817" y="1531961"/>
            <a:ext cx="11394365" cy="465413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610" name="Shape 610"/>
        <p:cNvGrpSpPr/>
        <p:nvPr/>
      </p:nvGrpSpPr>
      <p:grpSpPr>
        <a:xfrm>
          <a:off x="0" y="0"/>
          <a:ext cx="0" cy="0"/>
          <a:chOff x="0" y="0"/>
          <a:chExt cx="0" cy="0"/>
        </a:xfrm>
      </p:grpSpPr>
      <p:sp>
        <p:nvSpPr>
          <p:cNvPr id="611" name="Google Shape;611;p32"/>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Hierarchical</a:t>
            </a:r>
            <a:endParaRPr sz="1400">
              <a:solidFill>
                <a:srgbClr val="000000"/>
              </a:solidFill>
              <a:latin typeface="Arial"/>
              <a:ea typeface="Arial"/>
              <a:cs typeface="Arial"/>
              <a:sym typeface="Arial"/>
            </a:endParaRPr>
          </a:p>
        </p:txBody>
      </p:sp>
      <p:grpSp>
        <p:nvGrpSpPr>
          <p:cNvPr id="612" name="Google Shape;612;p32"/>
          <p:cNvGrpSpPr/>
          <p:nvPr/>
        </p:nvGrpSpPr>
        <p:grpSpPr>
          <a:xfrm>
            <a:off x="9664721" y="132225"/>
            <a:ext cx="2449204" cy="341908"/>
            <a:chOff x="9619565" y="209082"/>
            <a:chExt cx="2449204" cy="341908"/>
          </a:xfrm>
        </p:grpSpPr>
        <p:pic>
          <p:nvPicPr>
            <p:cNvPr id="613" name="Google Shape;613;p32"/>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614" name="Google Shape;614;p32"/>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615" name="Google Shape;615;p32"/>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616" name="Google Shape;616;p32"/>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617" name="Google Shape;617;p32"/>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618" name="Google Shape;618;p32"/>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619" name="Google Shape;619;p32"/>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620" name="Google Shape;620;p32"/>
          <p:cNvPicPr preferRelativeResize="0"/>
          <p:nvPr/>
        </p:nvPicPr>
        <p:blipFill rotWithShape="1">
          <a:blip r:embed="rId11">
            <a:alphaModFix/>
          </a:blip>
          <a:srcRect b="0" l="0" r="0" t="0"/>
          <a:stretch/>
        </p:blipFill>
        <p:spPr>
          <a:xfrm>
            <a:off x="470899" y="1493538"/>
            <a:ext cx="11250202" cy="451611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24" name="Shape 624"/>
        <p:cNvGrpSpPr/>
        <p:nvPr/>
      </p:nvGrpSpPr>
      <p:grpSpPr>
        <a:xfrm>
          <a:off x="0" y="0"/>
          <a:ext cx="0" cy="0"/>
          <a:chOff x="0" y="0"/>
          <a:chExt cx="0" cy="0"/>
        </a:xfrm>
      </p:grpSpPr>
      <p:sp>
        <p:nvSpPr>
          <p:cNvPr id="625" name="Google Shape;625;p34"/>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Hierarchical</a:t>
            </a:r>
            <a:endParaRPr sz="1400">
              <a:solidFill>
                <a:srgbClr val="000000"/>
              </a:solidFill>
              <a:latin typeface="Arial"/>
              <a:ea typeface="Arial"/>
              <a:cs typeface="Arial"/>
              <a:sym typeface="Arial"/>
            </a:endParaRPr>
          </a:p>
        </p:txBody>
      </p:sp>
      <p:grpSp>
        <p:nvGrpSpPr>
          <p:cNvPr id="626" name="Google Shape;626;p34"/>
          <p:cNvGrpSpPr/>
          <p:nvPr/>
        </p:nvGrpSpPr>
        <p:grpSpPr>
          <a:xfrm>
            <a:off x="9664721" y="132225"/>
            <a:ext cx="2449204" cy="341908"/>
            <a:chOff x="9619565" y="209082"/>
            <a:chExt cx="2449204" cy="341908"/>
          </a:xfrm>
        </p:grpSpPr>
        <p:pic>
          <p:nvPicPr>
            <p:cNvPr id="627" name="Google Shape;627;p34"/>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628" name="Google Shape;628;p34"/>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629" name="Google Shape;629;p34"/>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630" name="Google Shape;630;p34"/>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631" name="Google Shape;631;p34"/>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632" name="Google Shape;632;p34"/>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633" name="Google Shape;633;p34"/>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pic>
        <p:nvPicPr>
          <p:cNvPr id="634" name="Google Shape;634;p34"/>
          <p:cNvPicPr preferRelativeResize="0"/>
          <p:nvPr/>
        </p:nvPicPr>
        <p:blipFill rotWithShape="1">
          <a:blip r:embed="rId10">
            <a:alphaModFix/>
          </a:blip>
          <a:srcRect b="0" l="0" r="0" t="0"/>
          <a:stretch/>
        </p:blipFill>
        <p:spPr>
          <a:xfrm>
            <a:off x="223223" y="1371249"/>
            <a:ext cx="11745553" cy="481211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8" name="Shape 638"/>
        <p:cNvGrpSpPr/>
        <p:nvPr/>
      </p:nvGrpSpPr>
      <p:grpSpPr>
        <a:xfrm>
          <a:off x="0" y="0"/>
          <a:ext cx="0" cy="0"/>
          <a:chOff x="0" y="0"/>
          <a:chExt cx="0" cy="0"/>
        </a:xfrm>
      </p:grpSpPr>
      <p:sp>
        <p:nvSpPr>
          <p:cNvPr id="639" name="Google Shape;639;p35"/>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GMM</a:t>
            </a:r>
            <a:endParaRPr sz="1400">
              <a:solidFill>
                <a:srgbClr val="000000"/>
              </a:solidFill>
              <a:latin typeface="Arial"/>
              <a:ea typeface="Arial"/>
              <a:cs typeface="Arial"/>
              <a:sym typeface="Arial"/>
            </a:endParaRPr>
          </a:p>
        </p:txBody>
      </p:sp>
      <p:grpSp>
        <p:nvGrpSpPr>
          <p:cNvPr id="640" name="Google Shape;640;p35"/>
          <p:cNvGrpSpPr/>
          <p:nvPr/>
        </p:nvGrpSpPr>
        <p:grpSpPr>
          <a:xfrm>
            <a:off x="9664721" y="132225"/>
            <a:ext cx="2449204" cy="341908"/>
            <a:chOff x="9619565" y="209082"/>
            <a:chExt cx="2449204" cy="341908"/>
          </a:xfrm>
        </p:grpSpPr>
        <p:pic>
          <p:nvPicPr>
            <p:cNvPr id="641" name="Google Shape;641;p35"/>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642" name="Google Shape;642;p35"/>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643" name="Google Shape;643;p35"/>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644" name="Google Shape;644;p35"/>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645" name="Google Shape;645;p35"/>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646" name="Google Shape;646;p35"/>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647" name="Google Shape;647;p35"/>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648" name="Google Shape;648;p35"/>
          <p:cNvPicPr preferRelativeResize="0"/>
          <p:nvPr/>
        </p:nvPicPr>
        <p:blipFill rotWithShape="1">
          <a:blip r:embed="rId11">
            <a:alphaModFix/>
          </a:blip>
          <a:srcRect b="0" l="0" r="0" t="0"/>
          <a:stretch/>
        </p:blipFill>
        <p:spPr>
          <a:xfrm>
            <a:off x="599327" y="1282816"/>
            <a:ext cx="10993346" cy="449033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52" name="Shape 652"/>
        <p:cNvGrpSpPr/>
        <p:nvPr/>
      </p:nvGrpSpPr>
      <p:grpSpPr>
        <a:xfrm>
          <a:off x="0" y="0"/>
          <a:ext cx="0" cy="0"/>
          <a:chOff x="0" y="0"/>
          <a:chExt cx="0" cy="0"/>
        </a:xfrm>
      </p:grpSpPr>
      <p:sp>
        <p:nvSpPr>
          <p:cNvPr id="653" name="Google Shape;653;p36"/>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GMM</a:t>
            </a:r>
            <a:endParaRPr sz="1400">
              <a:solidFill>
                <a:srgbClr val="000000"/>
              </a:solidFill>
              <a:latin typeface="Arial"/>
              <a:ea typeface="Arial"/>
              <a:cs typeface="Arial"/>
              <a:sym typeface="Arial"/>
            </a:endParaRPr>
          </a:p>
        </p:txBody>
      </p:sp>
      <p:grpSp>
        <p:nvGrpSpPr>
          <p:cNvPr id="654" name="Google Shape;654;p36"/>
          <p:cNvGrpSpPr/>
          <p:nvPr/>
        </p:nvGrpSpPr>
        <p:grpSpPr>
          <a:xfrm>
            <a:off x="9664721" y="132225"/>
            <a:ext cx="2449204" cy="341908"/>
            <a:chOff x="9619565" y="209082"/>
            <a:chExt cx="2449204" cy="341908"/>
          </a:xfrm>
        </p:grpSpPr>
        <p:pic>
          <p:nvPicPr>
            <p:cNvPr id="655" name="Google Shape;655;p36"/>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656" name="Google Shape;656;p36"/>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657" name="Google Shape;657;p36"/>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658" name="Google Shape;658;p36"/>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659" name="Google Shape;659;p36"/>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660" name="Google Shape;660;p36"/>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661" name="Google Shape;661;p36"/>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pic>
        <p:nvPicPr>
          <p:cNvPr id="662" name="Google Shape;662;p36"/>
          <p:cNvPicPr preferRelativeResize="0"/>
          <p:nvPr/>
        </p:nvPicPr>
        <p:blipFill rotWithShape="1">
          <a:blip r:embed="rId10">
            <a:alphaModFix/>
          </a:blip>
          <a:srcRect b="0" l="0" r="0" t="0"/>
          <a:stretch/>
        </p:blipFill>
        <p:spPr>
          <a:xfrm>
            <a:off x="457821" y="1282816"/>
            <a:ext cx="11276358" cy="4526613"/>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66" name="Shape 666"/>
        <p:cNvGrpSpPr/>
        <p:nvPr/>
      </p:nvGrpSpPr>
      <p:grpSpPr>
        <a:xfrm>
          <a:off x="0" y="0"/>
          <a:ext cx="0" cy="0"/>
          <a:chOff x="0" y="0"/>
          <a:chExt cx="0" cy="0"/>
        </a:xfrm>
      </p:grpSpPr>
      <p:sp>
        <p:nvSpPr>
          <p:cNvPr id="667" name="Google Shape;667;p37"/>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Optimal PCA – 7 components: GMM</a:t>
            </a:r>
            <a:endParaRPr sz="1400">
              <a:solidFill>
                <a:srgbClr val="000000"/>
              </a:solidFill>
              <a:latin typeface="Arial"/>
              <a:ea typeface="Arial"/>
              <a:cs typeface="Arial"/>
              <a:sym typeface="Arial"/>
            </a:endParaRPr>
          </a:p>
        </p:txBody>
      </p:sp>
      <p:grpSp>
        <p:nvGrpSpPr>
          <p:cNvPr id="668" name="Google Shape;668;p37"/>
          <p:cNvGrpSpPr/>
          <p:nvPr/>
        </p:nvGrpSpPr>
        <p:grpSpPr>
          <a:xfrm>
            <a:off x="9664721" y="132225"/>
            <a:ext cx="2449204" cy="341908"/>
            <a:chOff x="9619565" y="209082"/>
            <a:chExt cx="2449204" cy="341908"/>
          </a:xfrm>
        </p:grpSpPr>
        <p:pic>
          <p:nvPicPr>
            <p:cNvPr id="669" name="Google Shape;669;p37"/>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670" name="Google Shape;670;p37"/>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671" name="Google Shape;671;p37"/>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672" name="Google Shape;672;p37"/>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673" name="Google Shape;673;p37"/>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674" name="Google Shape;674;p37"/>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675" name="Google Shape;675;p37"/>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pic>
        <p:nvPicPr>
          <p:cNvPr id="676" name="Google Shape;676;p37"/>
          <p:cNvPicPr preferRelativeResize="0"/>
          <p:nvPr/>
        </p:nvPicPr>
        <p:blipFill rotWithShape="1">
          <a:blip r:embed="rId10">
            <a:alphaModFix/>
          </a:blip>
          <a:srcRect b="0" l="0" r="0" t="0"/>
          <a:stretch/>
        </p:blipFill>
        <p:spPr>
          <a:xfrm>
            <a:off x="517132" y="1282816"/>
            <a:ext cx="11157735" cy="4571289"/>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0" name="Shape 680"/>
        <p:cNvGrpSpPr/>
        <p:nvPr/>
      </p:nvGrpSpPr>
      <p:grpSpPr>
        <a:xfrm>
          <a:off x="0" y="0"/>
          <a:ext cx="0" cy="0"/>
          <a:chOff x="0" y="0"/>
          <a:chExt cx="0" cy="0"/>
        </a:xfrm>
      </p:grpSpPr>
      <p:sp>
        <p:nvSpPr>
          <p:cNvPr id="681" name="Google Shape;681;p31"/>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682" name="Google Shape;682;p31"/>
          <p:cNvGrpSpPr/>
          <p:nvPr/>
        </p:nvGrpSpPr>
        <p:grpSpPr>
          <a:xfrm>
            <a:off x="1831097" y="2905125"/>
            <a:ext cx="1289729" cy="1116949"/>
            <a:chOff x="793409" y="2905125"/>
            <a:chExt cx="1289729" cy="1116949"/>
          </a:xfrm>
        </p:grpSpPr>
        <p:sp>
          <p:nvSpPr>
            <p:cNvPr id="683" name="Google Shape;683;p31"/>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684" name="Google Shape;684;p31"/>
            <p:cNvGrpSpPr/>
            <p:nvPr/>
          </p:nvGrpSpPr>
          <p:grpSpPr>
            <a:xfrm>
              <a:off x="1057275" y="2905125"/>
              <a:ext cx="762000" cy="762000"/>
              <a:chOff x="1057275" y="2905125"/>
              <a:chExt cx="762000" cy="762000"/>
            </a:xfrm>
          </p:grpSpPr>
          <p:pic>
            <p:nvPicPr>
              <p:cNvPr descr="image.png" id="685" name="Google Shape;685;p31"/>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686" name="Google Shape;686;p31"/>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687" name="Google Shape;687;p31"/>
          <p:cNvGrpSpPr/>
          <p:nvPr/>
        </p:nvGrpSpPr>
        <p:grpSpPr>
          <a:xfrm>
            <a:off x="6099957" y="2909889"/>
            <a:ext cx="1200150" cy="1374124"/>
            <a:chOff x="4518594" y="2886075"/>
            <a:chExt cx="1200150" cy="1374124"/>
          </a:xfrm>
        </p:grpSpPr>
        <p:sp>
          <p:nvSpPr>
            <p:cNvPr id="688" name="Google Shape;688;p31"/>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689" name="Google Shape;689;p31"/>
            <p:cNvGrpSpPr/>
            <p:nvPr/>
          </p:nvGrpSpPr>
          <p:grpSpPr>
            <a:xfrm>
              <a:off x="4737669" y="2886075"/>
              <a:ext cx="762000" cy="762000"/>
              <a:chOff x="4737669" y="2886075"/>
              <a:chExt cx="762000" cy="762000"/>
            </a:xfrm>
          </p:grpSpPr>
          <p:pic>
            <p:nvPicPr>
              <p:cNvPr descr="image.png" id="690" name="Google Shape;690;p31"/>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691" name="Google Shape;691;p31"/>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692" name="Google Shape;692;p31"/>
          <p:cNvGrpSpPr/>
          <p:nvPr/>
        </p:nvGrpSpPr>
        <p:grpSpPr>
          <a:xfrm>
            <a:off x="2141393" y="2026386"/>
            <a:ext cx="3499418" cy="648950"/>
            <a:chOff x="1066800" y="565507"/>
            <a:chExt cx="4140485" cy="710843"/>
          </a:xfrm>
        </p:grpSpPr>
        <p:sp>
          <p:nvSpPr>
            <p:cNvPr id="693" name="Google Shape;693;p31"/>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94" name="Google Shape;694;p31"/>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695" name="Google Shape;695;p31"/>
          <p:cNvGrpSpPr/>
          <p:nvPr/>
        </p:nvGrpSpPr>
        <p:grpSpPr>
          <a:xfrm>
            <a:off x="3239908" y="2905125"/>
            <a:ext cx="1289729" cy="1350311"/>
            <a:chOff x="2021196" y="2905125"/>
            <a:chExt cx="1289729" cy="1350311"/>
          </a:xfrm>
        </p:grpSpPr>
        <p:grpSp>
          <p:nvGrpSpPr>
            <p:cNvPr id="696" name="Google Shape;696;p31"/>
            <p:cNvGrpSpPr/>
            <p:nvPr/>
          </p:nvGrpSpPr>
          <p:grpSpPr>
            <a:xfrm>
              <a:off x="2284073" y="2905125"/>
              <a:ext cx="762000" cy="762000"/>
              <a:chOff x="2284073" y="2905125"/>
              <a:chExt cx="762000" cy="762000"/>
            </a:xfrm>
          </p:grpSpPr>
          <p:pic>
            <p:nvPicPr>
              <p:cNvPr descr="image.png" id="697" name="Google Shape;697;p31"/>
              <p:cNvPicPr preferRelativeResize="0"/>
              <p:nvPr/>
            </p:nvPicPr>
            <p:blipFill rotWithShape="1">
              <a:blip r:embed="rId3">
                <a:alphaModFix/>
              </a:blip>
              <a:srcRect b="0" l="0" r="0" t="0"/>
              <a:stretch/>
            </p:blipFill>
            <p:spPr>
              <a:xfrm>
                <a:off x="2284073" y="2905125"/>
                <a:ext cx="762000" cy="762000"/>
              </a:xfrm>
              <a:prstGeom prst="rect">
                <a:avLst/>
              </a:prstGeom>
              <a:noFill/>
              <a:ln>
                <a:noFill/>
              </a:ln>
            </p:spPr>
          </p:pic>
          <p:pic>
            <p:nvPicPr>
              <p:cNvPr descr="image.png" id="698" name="Google Shape;698;p31"/>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699" name="Google Shape;699;p31"/>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700" name="Google Shape;700;p31"/>
          <p:cNvGrpSpPr/>
          <p:nvPr/>
        </p:nvGrpSpPr>
        <p:grpSpPr>
          <a:xfrm>
            <a:off x="4612110" y="2901705"/>
            <a:ext cx="1289729" cy="1342221"/>
            <a:chOff x="3244170" y="2905125"/>
            <a:chExt cx="1289729" cy="1342221"/>
          </a:xfrm>
        </p:grpSpPr>
        <p:grpSp>
          <p:nvGrpSpPr>
            <p:cNvPr id="701" name="Google Shape;701;p31"/>
            <p:cNvGrpSpPr/>
            <p:nvPr/>
          </p:nvGrpSpPr>
          <p:grpSpPr>
            <a:xfrm>
              <a:off x="3510871" y="2905125"/>
              <a:ext cx="762000" cy="762000"/>
              <a:chOff x="3510871" y="2905125"/>
              <a:chExt cx="762000" cy="762000"/>
            </a:xfrm>
          </p:grpSpPr>
          <p:pic>
            <p:nvPicPr>
              <p:cNvPr descr="image.png" id="702" name="Google Shape;702;p31"/>
              <p:cNvPicPr preferRelativeResize="0"/>
              <p:nvPr/>
            </p:nvPicPr>
            <p:blipFill rotWithShape="1">
              <a:blip r:embed="rId7">
                <a:alphaModFix/>
              </a:blip>
              <a:srcRect b="0" l="0" r="0" t="0"/>
              <a:stretch/>
            </p:blipFill>
            <p:spPr>
              <a:xfrm>
                <a:off x="3510871" y="2905125"/>
                <a:ext cx="762000" cy="762000"/>
              </a:xfrm>
              <a:prstGeom prst="rect">
                <a:avLst/>
              </a:prstGeom>
              <a:noFill/>
              <a:ln>
                <a:noFill/>
              </a:ln>
            </p:spPr>
          </p:pic>
          <p:pic>
            <p:nvPicPr>
              <p:cNvPr descr="image.png" id="703" name="Google Shape;703;p31"/>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704" name="Google Shape;704;p31"/>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705" name="Google Shape;705;p31"/>
          <p:cNvGrpSpPr/>
          <p:nvPr/>
        </p:nvGrpSpPr>
        <p:grpSpPr>
          <a:xfrm>
            <a:off x="7582989" y="2913215"/>
            <a:ext cx="1200150" cy="1342221"/>
            <a:chOff x="7010400" y="2905125"/>
            <a:chExt cx="1200150" cy="1342221"/>
          </a:xfrm>
        </p:grpSpPr>
        <p:grpSp>
          <p:nvGrpSpPr>
            <p:cNvPr id="706" name="Google Shape;706;p31"/>
            <p:cNvGrpSpPr/>
            <p:nvPr/>
          </p:nvGrpSpPr>
          <p:grpSpPr>
            <a:xfrm>
              <a:off x="7191376" y="2905125"/>
              <a:ext cx="762000" cy="762000"/>
              <a:chOff x="7191376" y="2905125"/>
              <a:chExt cx="762000" cy="762000"/>
            </a:xfrm>
          </p:grpSpPr>
          <p:pic>
            <p:nvPicPr>
              <p:cNvPr descr="image.png" id="707" name="Google Shape;707;p31"/>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pic>
            <p:nvPicPr>
              <p:cNvPr descr="image.png" id="708" name="Google Shape;708;p31"/>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709" name="Google Shape;709;p31"/>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710" name="Google Shape;710;p31"/>
          <p:cNvGrpSpPr/>
          <p:nvPr/>
        </p:nvGrpSpPr>
        <p:grpSpPr>
          <a:xfrm>
            <a:off x="9135279" y="2899304"/>
            <a:ext cx="1200150" cy="1304567"/>
            <a:chOff x="6852956" y="4892396"/>
            <a:chExt cx="1200150" cy="1304567"/>
          </a:xfrm>
        </p:grpSpPr>
        <p:grpSp>
          <p:nvGrpSpPr>
            <p:cNvPr id="711" name="Google Shape;711;p31"/>
            <p:cNvGrpSpPr/>
            <p:nvPr/>
          </p:nvGrpSpPr>
          <p:grpSpPr>
            <a:xfrm>
              <a:off x="6852956" y="4892396"/>
              <a:ext cx="1200150" cy="1304567"/>
              <a:chOff x="6977618" y="2905125"/>
              <a:chExt cx="1200150" cy="1304567"/>
            </a:xfrm>
          </p:grpSpPr>
          <p:pic>
            <p:nvPicPr>
              <p:cNvPr descr="image.png" id="712" name="Google Shape;712;p31"/>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sp>
            <p:nvSpPr>
              <p:cNvPr id="713" name="Google Shape;713;p31"/>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714" name="Google Shape;714;p31"/>
            <p:cNvPicPr preferRelativeResize="0"/>
            <p:nvPr/>
          </p:nvPicPr>
          <p:blipFill rotWithShape="1">
            <a:blip r:embed="rId9">
              <a:alphaModFix/>
            </a:blip>
            <a:srcRect b="0" l="0" r="0" t="0"/>
            <a:stretch/>
          </p:blipFill>
          <p:spPr>
            <a:xfrm>
              <a:off x="7361989" y="5159096"/>
              <a:ext cx="171450" cy="228600"/>
            </a:xfrm>
            <a:prstGeom prst="rect">
              <a:avLst/>
            </a:prstGeom>
            <a:noFill/>
            <a:ln>
              <a:noFill/>
            </a:ln>
          </p:spPr>
        </p:pic>
      </p:grpSp>
      <p:grpSp>
        <p:nvGrpSpPr>
          <p:cNvPr id="715" name="Google Shape;715;p31"/>
          <p:cNvGrpSpPr/>
          <p:nvPr/>
        </p:nvGrpSpPr>
        <p:grpSpPr>
          <a:xfrm>
            <a:off x="6319032" y="2007408"/>
            <a:ext cx="2307535" cy="648950"/>
            <a:chOff x="1066800" y="565507"/>
            <a:chExt cx="4140485" cy="710843"/>
          </a:xfrm>
        </p:grpSpPr>
        <p:sp>
          <p:nvSpPr>
            <p:cNvPr id="716" name="Google Shape;716;p31"/>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717" name="Google Shape;717;p31"/>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grpSp>
        <p:nvGrpSpPr>
          <p:cNvPr id="718" name="Google Shape;718;p31"/>
          <p:cNvGrpSpPr/>
          <p:nvPr/>
        </p:nvGrpSpPr>
        <p:grpSpPr>
          <a:xfrm>
            <a:off x="383377" y="5600736"/>
            <a:ext cx="11749576" cy="646290"/>
            <a:chOff x="911075" y="3646479"/>
            <a:chExt cx="4590429" cy="2359890"/>
          </a:xfrm>
        </p:grpSpPr>
        <p:sp>
          <p:nvSpPr>
            <p:cNvPr id="719" name="Google Shape;719;p31"/>
            <p:cNvSpPr/>
            <p:nvPr/>
          </p:nvSpPr>
          <p:spPr>
            <a:xfrm>
              <a:off x="914399" y="3659263"/>
              <a:ext cx="4587105" cy="2268926"/>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720" name="Google Shape;720;p31"/>
            <p:cNvSpPr txBox="1"/>
            <p:nvPr/>
          </p:nvSpPr>
          <p:spPr>
            <a:xfrm>
              <a:off x="911075" y="3646479"/>
              <a:ext cx="4587105" cy="23598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Since both models produced identical results, we will proceed exclusively with GMM, as its probabilistic boundaries better capture dynamic human behavior</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4" name="Shape 724"/>
        <p:cNvGrpSpPr/>
        <p:nvPr/>
      </p:nvGrpSpPr>
      <p:grpSpPr>
        <a:xfrm>
          <a:off x="0" y="0"/>
          <a:ext cx="0" cy="0"/>
          <a:chOff x="0" y="0"/>
          <a:chExt cx="0" cy="0"/>
        </a:xfrm>
      </p:grpSpPr>
      <p:grpSp>
        <p:nvGrpSpPr>
          <p:cNvPr id="725" name="Google Shape;725;p39"/>
          <p:cNvGrpSpPr/>
          <p:nvPr/>
        </p:nvGrpSpPr>
        <p:grpSpPr>
          <a:xfrm>
            <a:off x="9664721" y="132225"/>
            <a:ext cx="2449204" cy="341908"/>
            <a:chOff x="9619565" y="209082"/>
            <a:chExt cx="2449204" cy="341908"/>
          </a:xfrm>
        </p:grpSpPr>
        <p:pic>
          <p:nvPicPr>
            <p:cNvPr id="726" name="Google Shape;726;p39"/>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727" name="Google Shape;727;p39"/>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728" name="Google Shape;728;p39"/>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729" name="Google Shape;729;p39"/>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730" name="Google Shape;730;p39"/>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731" name="Google Shape;731;p39"/>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732" name="Google Shape;732;p39"/>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733" name="Google Shape;733;p39"/>
          <p:cNvPicPr preferRelativeResize="0"/>
          <p:nvPr/>
        </p:nvPicPr>
        <p:blipFill rotWithShape="1">
          <a:blip r:embed="rId11">
            <a:alphaModFix/>
          </a:blip>
          <a:srcRect b="0" l="0" r="0" t="0"/>
          <a:stretch/>
        </p:blipFill>
        <p:spPr>
          <a:xfrm>
            <a:off x="364254" y="1544347"/>
            <a:ext cx="5675215" cy="3769305"/>
          </a:xfrm>
          <a:prstGeom prst="rect">
            <a:avLst/>
          </a:prstGeom>
          <a:noFill/>
          <a:ln>
            <a:noFill/>
          </a:ln>
        </p:spPr>
      </p:pic>
      <p:sp>
        <p:nvSpPr>
          <p:cNvPr id="734" name="Google Shape;734;p39"/>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PCA – 3 components: </a:t>
            </a:r>
            <a:br>
              <a:rPr b="1" lang="en-US" sz="2600">
                <a:solidFill>
                  <a:srgbClr val="F8FAFC"/>
                </a:solidFill>
                <a:latin typeface="Poppins"/>
                <a:ea typeface="Poppins"/>
                <a:cs typeface="Poppins"/>
                <a:sym typeface="Poppins"/>
              </a:rPr>
            </a:br>
            <a:r>
              <a:rPr b="1" lang="en-US" sz="2000">
                <a:solidFill>
                  <a:srgbClr val="F8FAFC"/>
                </a:solidFill>
                <a:latin typeface="Poppins"/>
                <a:ea typeface="Poppins"/>
                <a:cs typeface="Poppins"/>
                <a:sym typeface="Poppins"/>
              </a:rPr>
              <a:t>GMM analyze K = 4 </a:t>
            </a:r>
            <a:endParaRPr sz="1400">
              <a:solidFill>
                <a:srgbClr val="000000"/>
              </a:solidFill>
              <a:latin typeface="Arial"/>
              <a:ea typeface="Arial"/>
              <a:cs typeface="Arial"/>
              <a:sym typeface="Arial"/>
            </a:endParaRPr>
          </a:p>
        </p:txBody>
      </p:sp>
      <p:pic>
        <p:nvPicPr>
          <p:cNvPr id="735" name="Google Shape;735;p39"/>
          <p:cNvPicPr preferRelativeResize="0"/>
          <p:nvPr/>
        </p:nvPicPr>
        <p:blipFill rotWithShape="1">
          <a:blip r:embed="rId12">
            <a:alphaModFix/>
          </a:blip>
          <a:srcRect b="0" l="0" r="0" t="0"/>
          <a:stretch/>
        </p:blipFill>
        <p:spPr>
          <a:xfrm>
            <a:off x="6199976" y="1544347"/>
            <a:ext cx="5675215" cy="376930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9" name="Shape 739"/>
        <p:cNvGrpSpPr/>
        <p:nvPr/>
      </p:nvGrpSpPr>
      <p:grpSpPr>
        <a:xfrm>
          <a:off x="0" y="0"/>
          <a:ext cx="0" cy="0"/>
          <a:chOff x="0" y="0"/>
          <a:chExt cx="0" cy="0"/>
        </a:xfrm>
      </p:grpSpPr>
      <p:grpSp>
        <p:nvGrpSpPr>
          <p:cNvPr id="740" name="Google Shape;740;p63"/>
          <p:cNvGrpSpPr/>
          <p:nvPr/>
        </p:nvGrpSpPr>
        <p:grpSpPr>
          <a:xfrm>
            <a:off x="9664721" y="132225"/>
            <a:ext cx="2449204" cy="341908"/>
            <a:chOff x="9619565" y="209082"/>
            <a:chExt cx="2449204" cy="341908"/>
          </a:xfrm>
        </p:grpSpPr>
        <p:pic>
          <p:nvPicPr>
            <p:cNvPr id="741" name="Google Shape;741;p63"/>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742" name="Google Shape;742;p63"/>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743" name="Google Shape;743;p63"/>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744" name="Google Shape;744;p63"/>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745" name="Google Shape;745;p63"/>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746" name="Google Shape;746;p63"/>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747" name="Google Shape;747;p63"/>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748" name="Google Shape;748;p63"/>
          <p:cNvPicPr preferRelativeResize="0"/>
          <p:nvPr/>
        </p:nvPicPr>
        <p:blipFill rotWithShape="1">
          <a:blip r:embed="rId11">
            <a:alphaModFix/>
          </a:blip>
          <a:srcRect b="0" l="57753" r="-606" t="6353"/>
          <a:stretch/>
        </p:blipFill>
        <p:spPr>
          <a:xfrm>
            <a:off x="3268159" y="1138978"/>
            <a:ext cx="5655682" cy="5261822"/>
          </a:xfrm>
          <a:prstGeom prst="rect">
            <a:avLst/>
          </a:prstGeom>
          <a:noFill/>
          <a:ln>
            <a:noFill/>
          </a:ln>
        </p:spPr>
      </p:pic>
      <p:sp>
        <p:nvSpPr>
          <p:cNvPr id="749" name="Google Shape;749;p63"/>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PCA – 3 components: </a:t>
            </a:r>
            <a:br>
              <a:rPr b="1" lang="en-US" sz="2600">
                <a:solidFill>
                  <a:srgbClr val="F8FAFC"/>
                </a:solidFill>
                <a:latin typeface="Poppins"/>
                <a:ea typeface="Poppins"/>
                <a:cs typeface="Poppins"/>
                <a:sym typeface="Poppins"/>
              </a:rPr>
            </a:br>
            <a:r>
              <a:rPr b="1" lang="en-US" sz="2000">
                <a:solidFill>
                  <a:srgbClr val="F8FAFC"/>
                </a:solidFill>
                <a:latin typeface="Poppins"/>
                <a:ea typeface="Poppins"/>
                <a:cs typeface="Poppins"/>
                <a:sym typeface="Poppins"/>
              </a:rPr>
              <a:t>GMM analyze K = 4 </a:t>
            </a:r>
            <a:endParaRPr sz="140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753" name="Shape 753"/>
        <p:cNvGrpSpPr/>
        <p:nvPr/>
      </p:nvGrpSpPr>
      <p:grpSpPr>
        <a:xfrm>
          <a:off x="0" y="0"/>
          <a:ext cx="0" cy="0"/>
          <a:chOff x="0" y="0"/>
          <a:chExt cx="0" cy="0"/>
        </a:xfrm>
      </p:grpSpPr>
      <p:sp>
        <p:nvSpPr>
          <p:cNvPr id="754" name="Google Shape;754;p41"/>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PCA – 3 components: </a:t>
            </a:r>
            <a:br>
              <a:rPr b="1" lang="en-US" sz="2600">
                <a:solidFill>
                  <a:srgbClr val="F8FAFC"/>
                </a:solidFill>
                <a:latin typeface="Poppins"/>
                <a:ea typeface="Poppins"/>
                <a:cs typeface="Poppins"/>
                <a:sym typeface="Poppins"/>
              </a:rPr>
            </a:br>
            <a:r>
              <a:rPr b="1" lang="en-US" sz="2000">
                <a:solidFill>
                  <a:srgbClr val="F8FAFC"/>
                </a:solidFill>
                <a:latin typeface="Poppins"/>
                <a:ea typeface="Poppins"/>
                <a:cs typeface="Poppins"/>
                <a:sym typeface="Poppins"/>
              </a:rPr>
              <a:t>GMM analyze K = 4 </a:t>
            </a:r>
            <a:endParaRPr sz="1400">
              <a:solidFill>
                <a:srgbClr val="000000"/>
              </a:solidFill>
              <a:latin typeface="Arial"/>
              <a:ea typeface="Arial"/>
              <a:cs typeface="Arial"/>
              <a:sym typeface="Arial"/>
            </a:endParaRPr>
          </a:p>
        </p:txBody>
      </p:sp>
      <p:grpSp>
        <p:nvGrpSpPr>
          <p:cNvPr id="755" name="Google Shape;755;p41"/>
          <p:cNvGrpSpPr/>
          <p:nvPr/>
        </p:nvGrpSpPr>
        <p:grpSpPr>
          <a:xfrm>
            <a:off x="9664721" y="132225"/>
            <a:ext cx="2449204" cy="341908"/>
            <a:chOff x="9619565" y="209082"/>
            <a:chExt cx="2449204" cy="341908"/>
          </a:xfrm>
        </p:grpSpPr>
        <p:pic>
          <p:nvPicPr>
            <p:cNvPr id="756" name="Google Shape;756;p41"/>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757" name="Google Shape;757;p41"/>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758" name="Google Shape;758;p41"/>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759" name="Google Shape;759;p41"/>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760" name="Google Shape;760;p41"/>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761" name="Google Shape;761;p41"/>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762" name="Google Shape;762;p41"/>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763" name="Google Shape;763;p41"/>
          <p:cNvPicPr preferRelativeResize="0"/>
          <p:nvPr/>
        </p:nvPicPr>
        <p:blipFill rotWithShape="1">
          <a:blip r:embed="rId11">
            <a:alphaModFix/>
          </a:blip>
          <a:srcRect b="0" l="0" r="0" t="0"/>
          <a:stretch/>
        </p:blipFill>
        <p:spPr>
          <a:xfrm>
            <a:off x="748833" y="1572839"/>
            <a:ext cx="10694333" cy="42929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767" name="Shape 767"/>
        <p:cNvGrpSpPr/>
        <p:nvPr/>
      </p:nvGrpSpPr>
      <p:grpSpPr>
        <a:xfrm>
          <a:off x="0" y="0"/>
          <a:ext cx="0" cy="0"/>
          <a:chOff x="0" y="0"/>
          <a:chExt cx="0" cy="0"/>
        </a:xfrm>
      </p:grpSpPr>
      <p:grpSp>
        <p:nvGrpSpPr>
          <p:cNvPr id="768" name="Google Shape;768;p42"/>
          <p:cNvGrpSpPr/>
          <p:nvPr/>
        </p:nvGrpSpPr>
        <p:grpSpPr>
          <a:xfrm>
            <a:off x="9664721" y="132225"/>
            <a:ext cx="2449204" cy="341908"/>
            <a:chOff x="9619565" y="209082"/>
            <a:chExt cx="2449204" cy="341908"/>
          </a:xfrm>
        </p:grpSpPr>
        <p:pic>
          <p:nvPicPr>
            <p:cNvPr id="769" name="Google Shape;769;p42"/>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770" name="Google Shape;770;p42"/>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771" name="Google Shape;771;p42"/>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772" name="Google Shape;772;p42"/>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773" name="Google Shape;773;p42"/>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774" name="Google Shape;774;p42"/>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775" name="Google Shape;775;p42"/>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776" name="Google Shape;776;p42"/>
          <p:cNvPicPr preferRelativeResize="0"/>
          <p:nvPr/>
        </p:nvPicPr>
        <p:blipFill rotWithShape="1">
          <a:blip r:embed="rId11">
            <a:alphaModFix/>
          </a:blip>
          <a:srcRect b="0" l="0" r="0" t="0"/>
          <a:stretch/>
        </p:blipFill>
        <p:spPr>
          <a:xfrm>
            <a:off x="724450" y="1582219"/>
            <a:ext cx="10743099" cy="4388118"/>
          </a:xfrm>
          <a:prstGeom prst="rect">
            <a:avLst/>
          </a:prstGeom>
          <a:noFill/>
          <a:ln>
            <a:noFill/>
          </a:ln>
        </p:spPr>
      </p:pic>
      <p:sp>
        <p:nvSpPr>
          <p:cNvPr id="777" name="Google Shape;777;p42"/>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PCA – 3 components: </a:t>
            </a:r>
            <a:br>
              <a:rPr b="1" lang="en-US" sz="2600">
                <a:solidFill>
                  <a:srgbClr val="F8FAFC"/>
                </a:solidFill>
                <a:latin typeface="Poppins"/>
                <a:ea typeface="Poppins"/>
                <a:cs typeface="Poppins"/>
                <a:sym typeface="Poppins"/>
              </a:rPr>
            </a:br>
            <a:r>
              <a:rPr b="1" lang="en-US" sz="2000">
                <a:solidFill>
                  <a:srgbClr val="F8FAFC"/>
                </a:solidFill>
                <a:latin typeface="Poppins"/>
                <a:ea typeface="Poppins"/>
                <a:cs typeface="Poppins"/>
                <a:sym typeface="Poppins"/>
              </a:rPr>
              <a:t>GMM analyze K = 4 </a:t>
            </a:r>
            <a:endParaRPr sz="1400">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81" name="Shape 781"/>
        <p:cNvGrpSpPr/>
        <p:nvPr/>
      </p:nvGrpSpPr>
      <p:grpSpPr>
        <a:xfrm>
          <a:off x="0" y="0"/>
          <a:ext cx="0" cy="0"/>
          <a:chOff x="0" y="0"/>
          <a:chExt cx="0" cy="0"/>
        </a:xfrm>
      </p:grpSpPr>
      <p:grpSp>
        <p:nvGrpSpPr>
          <p:cNvPr id="782" name="Google Shape;782;p43"/>
          <p:cNvGrpSpPr/>
          <p:nvPr/>
        </p:nvGrpSpPr>
        <p:grpSpPr>
          <a:xfrm>
            <a:off x="9664721" y="132225"/>
            <a:ext cx="2449204" cy="341908"/>
            <a:chOff x="9619565" y="209082"/>
            <a:chExt cx="2449204" cy="341908"/>
          </a:xfrm>
        </p:grpSpPr>
        <p:pic>
          <p:nvPicPr>
            <p:cNvPr id="783" name="Google Shape;783;p43"/>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784" name="Google Shape;784;p43"/>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785" name="Google Shape;785;p43"/>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786" name="Google Shape;786;p43"/>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787" name="Google Shape;787;p43"/>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788" name="Google Shape;788;p43"/>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789" name="Google Shape;789;p43"/>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pic>
        <p:nvPicPr>
          <p:cNvPr id="790" name="Google Shape;790;p43"/>
          <p:cNvPicPr preferRelativeResize="0"/>
          <p:nvPr/>
        </p:nvPicPr>
        <p:blipFill rotWithShape="1">
          <a:blip r:embed="rId10">
            <a:alphaModFix/>
          </a:blip>
          <a:srcRect b="0" l="0" r="0" t="0"/>
          <a:stretch/>
        </p:blipFill>
        <p:spPr>
          <a:xfrm>
            <a:off x="677974" y="1569208"/>
            <a:ext cx="10836052" cy="4439497"/>
          </a:xfrm>
          <a:prstGeom prst="rect">
            <a:avLst/>
          </a:prstGeom>
          <a:noFill/>
          <a:ln>
            <a:noFill/>
          </a:ln>
        </p:spPr>
      </p:pic>
      <p:sp>
        <p:nvSpPr>
          <p:cNvPr id="791" name="Google Shape;791;p43"/>
          <p:cNvSpPr txBox="1"/>
          <p:nvPr>
            <p:ph type="title"/>
          </p:nvPr>
        </p:nvSpPr>
        <p:spPr>
          <a:xfrm>
            <a:off x="446446" y="139816"/>
            <a:ext cx="8524301" cy="1143000"/>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rgbClr val="000000"/>
              </a:buClr>
              <a:buSzPts val="2600"/>
              <a:buNone/>
            </a:pPr>
            <a:r>
              <a:rPr b="1" lang="en-US" sz="2600">
                <a:solidFill>
                  <a:srgbClr val="F8FAFC"/>
                </a:solidFill>
                <a:latin typeface="Poppins"/>
                <a:ea typeface="Poppins"/>
                <a:cs typeface="Poppins"/>
                <a:sym typeface="Poppins"/>
              </a:rPr>
              <a:t>PCA – 3 components: </a:t>
            </a:r>
            <a:br>
              <a:rPr b="1" lang="en-US" sz="2600">
                <a:solidFill>
                  <a:srgbClr val="F8FAFC"/>
                </a:solidFill>
                <a:latin typeface="Poppins"/>
                <a:ea typeface="Poppins"/>
                <a:cs typeface="Poppins"/>
                <a:sym typeface="Poppins"/>
              </a:rPr>
            </a:br>
            <a:r>
              <a:rPr b="1" lang="en-US" sz="2000">
                <a:solidFill>
                  <a:srgbClr val="F8FAFC"/>
                </a:solidFill>
                <a:latin typeface="Poppins"/>
                <a:ea typeface="Poppins"/>
                <a:cs typeface="Poppins"/>
                <a:sym typeface="Poppins"/>
              </a:rPr>
              <a:t>GMM analyze K = 4 </a:t>
            </a:r>
            <a:endParaRPr sz="1400">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5" name="Shape 795"/>
        <p:cNvGrpSpPr/>
        <p:nvPr/>
      </p:nvGrpSpPr>
      <p:grpSpPr>
        <a:xfrm>
          <a:off x="0" y="0"/>
          <a:ext cx="0" cy="0"/>
          <a:chOff x="0" y="0"/>
          <a:chExt cx="0" cy="0"/>
        </a:xfrm>
      </p:grpSpPr>
      <p:sp>
        <p:nvSpPr>
          <p:cNvPr id="796" name="Google Shape;796;p38"/>
          <p:cNvSpPr txBox="1"/>
          <p:nvPr/>
        </p:nvSpPr>
        <p:spPr>
          <a:xfrm>
            <a:off x="731520" y="457200"/>
            <a:ext cx="6285729" cy="4924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PCA – Quality over Quantity </a:t>
            </a:r>
            <a:endParaRPr b="1" i="0" sz="2600" u="none" cap="none" strike="noStrike">
              <a:solidFill>
                <a:srgbClr val="F8FAFC"/>
              </a:solidFill>
              <a:latin typeface="Poppins"/>
              <a:ea typeface="Poppins"/>
              <a:cs typeface="Poppins"/>
              <a:sym typeface="Poppins"/>
            </a:endParaRPr>
          </a:p>
        </p:txBody>
      </p:sp>
      <p:grpSp>
        <p:nvGrpSpPr>
          <p:cNvPr id="797" name="Google Shape;797;p38"/>
          <p:cNvGrpSpPr/>
          <p:nvPr/>
        </p:nvGrpSpPr>
        <p:grpSpPr>
          <a:xfrm>
            <a:off x="9664721" y="132225"/>
            <a:ext cx="2449204" cy="341908"/>
            <a:chOff x="9619565" y="209082"/>
            <a:chExt cx="2449204" cy="341908"/>
          </a:xfrm>
        </p:grpSpPr>
        <p:pic>
          <p:nvPicPr>
            <p:cNvPr id="798" name="Google Shape;798;p38"/>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799" name="Google Shape;799;p38"/>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800" name="Google Shape;800;p38"/>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801" name="Google Shape;801;p38"/>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802" name="Google Shape;802;p38"/>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803" name="Google Shape;803;p38"/>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804" name="Google Shape;804;p38"/>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805" name="Google Shape;805;p38"/>
          <p:cNvGrpSpPr/>
          <p:nvPr/>
        </p:nvGrpSpPr>
        <p:grpSpPr>
          <a:xfrm>
            <a:off x="78435" y="2172450"/>
            <a:ext cx="12035490" cy="2513100"/>
            <a:chOff x="78255" y="1520245"/>
            <a:chExt cx="12035490" cy="2513100"/>
          </a:xfrm>
        </p:grpSpPr>
        <p:grpSp>
          <p:nvGrpSpPr>
            <p:cNvPr id="806" name="Google Shape;806;p38"/>
            <p:cNvGrpSpPr/>
            <p:nvPr/>
          </p:nvGrpSpPr>
          <p:grpSpPr>
            <a:xfrm>
              <a:off x="78255" y="1520245"/>
              <a:ext cx="4403077" cy="2513100"/>
              <a:chOff x="245765" y="1339708"/>
              <a:chExt cx="4403077" cy="2513100"/>
            </a:xfrm>
          </p:grpSpPr>
          <p:grpSp>
            <p:nvGrpSpPr>
              <p:cNvPr id="807" name="Google Shape;807;p38"/>
              <p:cNvGrpSpPr/>
              <p:nvPr/>
            </p:nvGrpSpPr>
            <p:grpSpPr>
              <a:xfrm>
                <a:off x="245765" y="1339708"/>
                <a:ext cx="4403077" cy="492402"/>
                <a:chOff x="-172853" y="1803854"/>
                <a:chExt cx="4403077" cy="711006"/>
              </a:xfrm>
            </p:grpSpPr>
            <p:sp>
              <p:nvSpPr>
                <p:cNvPr id="808" name="Google Shape;808;p38"/>
                <p:cNvSpPr/>
                <p:nvPr/>
              </p:nvSpPr>
              <p:spPr>
                <a:xfrm>
                  <a:off x="308792" y="1803854"/>
                  <a:ext cx="3439788"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9" name="Google Shape;809;p38"/>
                <p:cNvSpPr txBox="1"/>
                <p:nvPr/>
              </p:nvSpPr>
              <p:spPr>
                <a:xfrm>
                  <a:off x="-172853" y="1870487"/>
                  <a:ext cx="4403077" cy="5777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Visual Limitations</a:t>
                  </a:r>
                  <a:endParaRPr b="0" i="0" sz="1400" u="none" cap="none" strike="noStrike">
                    <a:solidFill>
                      <a:srgbClr val="000000"/>
                    </a:solidFill>
                    <a:latin typeface="Arial"/>
                    <a:ea typeface="Arial"/>
                    <a:cs typeface="Arial"/>
                    <a:sym typeface="Arial"/>
                  </a:endParaRPr>
                </a:p>
              </p:txBody>
            </p:sp>
          </p:grpSp>
          <p:grpSp>
            <p:nvGrpSpPr>
              <p:cNvPr id="810" name="Google Shape;810;p38"/>
              <p:cNvGrpSpPr/>
              <p:nvPr/>
            </p:nvGrpSpPr>
            <p:grpSpPr>
              <a:xfrm>
                <a:off x="727408" y="2080895"/>
                <a:ext cx="3439788" cy="1771913"/>
                <a:chOff x="727408" y="2080895"/>
                <a:chExt cx="3439788" cy="1771913"/>
              </a:xfrm>
            </p:grpSpPr>
            <p:sp>
              <p:nvSpPr>
                <p:cNvPr id="811" name="Google Shape;811;p38"/>
                <p:cNvSpPr/>
                <p:nvPr/>
              </p:nvSpPr>
              <p:spPr>
                <a:xfrm>
                  <a:off x="727409" y="2080895"/>
                  <a:ext cx="3439787" cy="1771913"/>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2" name="Google Shape;812;p38"/>
                <p:cNvSpPr txBox="1"/>
                <p:nvPr/>
              </p:nvSpPr>
              <p:spPr>
                <a:xfrm>
                  <a:off x="727408" y="2505186"/>
                  <a:ext cx="3439788"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PCA of 7 Components prevents clear 3D visualization and intuitive cluster validation</a:t>
                  </a:r>
                  <a:endParaRPr b="0" i="0" sz="1400" u="none" cap="none" strike="noStrike">
                    <a:solidFill>
                      <a:srgbClr val="000000"/>
                    </a:solidFill>
                    <a:latin typeface="Arial"/>
                    <a:ea typeface="Arial"/>
                    <a:cs typeface="Arial"/>
                    <a:sym typeface="Arial"/>
                  </a:endParaRPr>
                </a:p>
              </p:txBody>
            </p:sp>
          </p:grpSp>
        </p:grpSp>
        <p:grpSp>
          <p:nvGrpSpPr>
            <p:cNvPr id="813" name="Google Shape;813;p38"/>
            <p:cNvGrpSpPr/>
            <p:nvPr/>
          </p:nvGrpSpPr>
          <p:grpSpPr>
            <a:xfrm>
              <a:off x="3894461" y="1520245"/>
              <a:ext cx="4403077" cy="2513100"/>
              <a:chOff x="4086587" y="1339708"/>
              <a:chExt cx="4403077" cy="2513100"/>
            </a:xfrm>
          </p:grpSpPr>
          <p:grpSp>
            <p:nvGrpSpPr>
              <p:cNvPr id="814" name="Google Shape;814;p38"/>
              <p:cNvGrpSpPr/>
              <p:nvPr/>
            </p:nvGrpSpPr>
            <p:grpSpPr>
              <a:xfrm>
                <a:off x="4086587" y="1339708"/>
                <a:ext cx="4403077" cy="492402"/>
                <a:chOff x="-172853" y="1803854"/>
                <a:chExt cx="4403077" cy="711006"/>
              </a:xfrm>
            </p:grpSpPr>
            <p:sp>
              <p:nvSpPr>
                <p:cNvPr id="815" name="Google Shape;815;p38"/>
                <p:cNvSpPr/>
                <p:nvPr/>
              </p:nvSpPr>
              <p:spPr>
                <a:xfrm>
                  <a:off x="308792" y="1803854"/>
                  <a:ext cx="3439788"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6" name="Google Shape;816;p38"/>
                <p:cNvSpPr txBox="1"/>
                <p:nvPr/>
              </p:nvSpPr>
              <p:spPr>
                <a:xfrm>
                  <a:off x="-172853" y="1870487"/>
                  <a:ext cx="4403077" cy="5777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Categorical Overfitting</a:t>
                  </a:r>
                  <a:endParaRPr b="0" i="0" sz="1400" u="none" cap="none" strike="noStrike">
                    <a:solidFill>
                      <a:srgbClr val="000000"/>
                    </a:solidFill>
                    <a:latin typeface="Arial"/>
                    <a:ea typeface="Arial"/>
                    <a:cs typeface="Arial"/>
                    <a:sym typeface="Arial"/>
                  </a:endParaRPr>
                </a:p>
              </p:txBody>
            </p:sp>
          </p:grpSp>
          <p:grpSp>
            <p:nvGrpSpPr>
              <p:cNvPr id="817" name="Google Shape;817;p38"/>
              <p:cNvGrpSpPr/>
              <p:nvPr/>
            </p:nvGrpSpPr>
            <p:grpSpPr>
              <a:xfrm>
                <a:off x="4568230" y="2080895"/>
                <a:ext cx="3439788" cy="1771913"/>
                <a:chOff x="727408" y="2080895"/>
                <a:chExt cx="3439788" cy="1771913"/>
              </a:xfrm>
            </p:grpSpPr>
            <p:sp>
              <p:nvSpPr>
                <p:cNvPr id="818" name="Google Shape;818;p38"/>
                <p:cNvSpPr/>
                <p:nvPr/>
              </p:nvSpPr>
              <p:spPr>
                <a:xfrm>
                  <a:off x="727409" y="2080895"/>
                  <a:ext cx="3439787" cy="1771913"/>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19" name="Google Shape;819;p38"/>
                <p:cNvSpPr txBox="1"/>
                <p:nvPr/>
              </p:nvSpPr>
              <p:spPr>
                <a:xfrm>
                  <a:off x="727408" y="2366686"/>
                  <a:ext cx="3439788" cy="12003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PCA of 7 Components overfits to one-hot encoded features, trivially clustering users by "Platform" rather than actual behavior</a:t>
                  </a:r>
                  <a:endParaRPr b="0" i="0" sz="1400" u="none" cap="none" strike="noStrike">
                    <a:solidFill>
                      <a:srgbClr val="000000"/>
                    </a:solidFill>
                    <a:latin typeface="Arial"/>
                    <a:ea typeface="Arial"/>
                    <a:cs typeface="Arial"/>
                    <a:sym typeface="Arial"/>
                  </a:endParaRPr>
                </a:p>
              </p:txBody>
            </p:sp>
          </p:grpSp>
        </p:grpSp>
        <p:grpSp>
          <p:nvGrpSpPr>
            <p:cNvPr id="820" name="Google Shape;820;p38"/>
            <p:cNvGrpSpPr/>
            <p:nvPr/>
          </p:nvGrpSpPr>
          <p:grpSpPr>
            <a:xfrm>
              <a:off x="7710668" y="1520245"/>
              <a:ext cx="4403077" cy="2513100"/>
              <a:chOff x="7927409" y="1339708"/>
              <a:chExt cx="4403077" cy="2513100"/>
            </a:xfrm>
          </p:grpSpPr>
          <p:grpSp>
            <p:nvGrpSpPr>
              <p:cNvPr id="821" name="Google Shape;821;p38"/>
              <p:cNvGrpSpPr/>
              <p:nvPr/>
            </p:nvGrpSpPr>
            <p:grpSpPr>
              <a:xfrm>
                <a:off x="7927409" y="1339708"/>
                <a:ext cx="4403077" cy="492402"/>
                <a:chOff x="-172853" y="1803854"/>
                <a:chExt cx="4403077" cy="711006"/>
              </a:xfrm>
            </p:grpSpPr>
            <p:sp>
              <p:nvSpPr>
                <p:cNvPr id="822" name="Google Shape;822;p38"/>
                <p:cNvSpPr/>
                <p:nvPr/>
              </p:nvSpPr>
              <p:spPr>
                <a:xfrm>
                  <a:off x="308792" y="1803854"/>
                  <a:ext cx="3439788" cy="711006"/>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3" name="Google Shape;823;p38"/>
                <p:cNvSpPr txBox="1"/>
                <p:nvPr/>
              </p:nvSpPr>
              <p:spPr>
                <a:xfrm>
                  <a:off x="-172853" y="1870487"/>
                  <a:ext cx="4403077" cy="57774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Behavioral Focus</a:t>
                  </a:r>
                  <a:endParaRPr b="0" i="0" sz="1400" u="none" cap="none" strike="noStrike">
                    <a:solidFill>
                      <a:srgbClr val="000000"/>
                    </a:solidFill>
                    <a:latin typeface="Arial"/>
                    <a:ea typeface="Arial"/>
                    <a:cs typeface="Arial"/>
                    <a:sym typeface="Arial"/>
                  </a:endParaRPr>
                </a:p>
              </p:txBody>
            </p:sp>
          </p:grpSp>
          <p:grpSp>
            <p:nvGrpSpPr>
              <p:cNvPr id="824" name="Google Shape;824;p38"/>
              <p:cNvGrpSpPr/>
              <p:nvPr/>
            </p:nvGrpSpPr>
            <p:grpSpPr>
              <a:xfrm>
                <a:off x="8409052" y="2080895"/>
                <a:ext cx="3439788" cy="1771913"/>
                <a:chOff x="727408" y="2080895"/>
                <a:chExt cx="3439788" cy="1771913"/>
              </a:xfrm>
            </p:grpSpPr>
            <p:sp>
              <p:nvSpPr>
                <p:cNvPr id="825" name="Google Shape;825;p38"/>
                <p:cNvSpPr/>
                <p:nvPr/>
              </p:nvSpPr>
              <p:spPr>
                <a:xfrm>
                  <a:off x="727409" y="2080895"/>
                  <a:ext cx="3439787" cy="1771913"/>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26" name="Google Shape;826;p38"/>
                <p:cNvSpPr txBox="1"/>
                <p:nvPr/>
              </p:nvSpPr>
              <p:spPr>
                <a:xfrm>
                  <a:off x="727408" y="2098482"/>
                  <a:ext cx="3439788" cy="175432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FFFFFF"/>
                      </a:solidFill>
                      <a:latin typeface="Calibri"/>
                      <a:ea typeface="Calibri"/>
                      <a:cs typeface="Calibri"/>
                      <a:sym typeface="Calibri"/>
                    </a:rPr>
                    <a:t>PCA of 3 Components creates a strict mathematical bottleneck, filtering out artificial noise to reveal the true underlying patterns of digital habits and mental strain</a:t>
                  </a:r>
                  <a:endParaRPr b="0" i="0" sz="1400" u="none" cap="none" strike="noStrike">
                    <a:solidFill>
                      <a:srgbClr val="000000"/>
                    </a:solidFill>
                    <a:latin typeface="Arial"/>
                    <a:ea typeface="Arial"/>
                    <a:cs typeface="Arial"/>
                    <a:sym typeface="Arial"/>
                  </a:endParaRPr>
                </a:p>
              </p:txBody>
            </p:sp>
          </p:grpSp>
        </p:grpSp>
      </p:gr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40"/>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32" name="Google Shape;832;p40"/>
          <p:cNvGrpSpPr/>
          <p:nvPr/>
        </p:nvGrpSpPr>
        <p:grpSpPr>
          <a:xfrm>
            <a:off x="1831097" y="2905125"/>
            <a:ext cx="1289729" cy="1116949"/>
            <a:chOff x="793409" y="2905125"/>
            <a:chExt cx="1289729" cy="1116949"/>
          </a:xfrm>
        </p:grpSpPr>
        <p:sp>
          <p:nvSpPr>
            <p:cNvPr id="833" name="Google Shape;833;p40"/>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834" name="Google Shape;834;p40"/>
            <p:cNvGrpSpPr/>
            <p:nvPr/>
          </p:nvGrpSpPr>
          <p:grpSpPr>
            <a:xfrm>
              <a:off x="1057275" y="2905125"/>
              <a:ext cx="762000" cy="762000"/>
              <a:chOff x="1057275" y="2905125"/>
              <a:chExt cx="762000" cy="762000"/>
            </a:xfrm>
          </p:grpSpPr>
          <p:pic>
            <p:nvPicPr>
              <p:cNvPr descr="image.png" id="835" name="Google Shape;835;p40"/>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836" name="Google Shape;836;p40"/>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837" name="Google Shape;837;p40"/>
          <p:cNvGrpSpPr/>
          <p:nvPr/>
        </p:nvGrpSpPr>
        <p:grpSpPr>
          <a:xfrm>
            <a:off x="6099957" y="2909889"/>
            <a:ext cx="1200150" cy="1374124"/>
            <a:chOff x="4518594" y="2886075"/>
            <a:chExt cx="1200150" cy="1374124"/>
          </a:xfrm>
        </p:grpSpPr>
        <p:sp>
          <p:nvSpPr>
            <p:cNvPr id="838" name="Google Shape;838;p40"/>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839" name="Google Shape;839;p40"/>
            <p:cNvGrpSpPr/>
            <p:nvPr/>
          </p:nvGrpSpPr>
          <p:grpSpPr>
            <a:xfrm>
              <a:off x="4737669" y="2886075"/>
              <a:ext cx="762000" cy="762000"/>
              <a:chOff x="4737669" y="2886075"/>
              <a:chExt cx="762000" cy="762000"/>
            </a:xfrm>
          </p:grpSpPr>
          <p:pic>
            <p:nvPicPr>
              <p:cNvPr descr="image.png" id="840" name="Google Shape;840;p40"/>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841" name="Google Shape;841;p40"/>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842" name="Google Shape;842;p40"/>
          <p:cNvGrpSpPr/>
          <p:nvPr/>
        </p:nvGrpSpPr>
        <p:grpSpPr>
          <a:xfrm>
            <a:off x="2141393" y="2026386"/>
            <a:ext cx="3499418" cy="648950"/>
            <a:chOff x="1066800" y="565507"/>
            <a:chExt cx="4140485" cy="710843"/>
          </a:xfrm>
        </p:grpSpPr>
        <p:sp>
          <p:nvSpPr>
            <p:cNvPr id="843" name="Google Shape;843;p40"/>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44" name="Google Shape;844;p40"/>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845" name="Google Shape;845;p40"/>
          <p:cNvGrpSpPr/>
          <p:nvPr/>
        </p:nvGrpSpPr>
        <p:grpSpPr>
          <a:xfrm>
            <a:off x="3239908" y="2905125"/>
            <a:ext cx="1289729" cy="1350311"/>
            <a:chOff x="2021196" y="2905125"/>
            <a:chExt cx="1289729" cy="1350311"/>
          </a:xfrm>
        </p:grpSpPr>
        <p:grpSp>
          <p:nvGrpSpPr>
            <p:cNvPr id="846" name="Google Shape;846;p40"/>
            <p:cNvGrpSpPr/>
            <p:nvPr/>
          </p:nvGrpSpPr>
          <p:grpSpPr>
            <a:xfrm>
              <a:off x="2284073" y="2905125"/>
              <a:ext cx="762000" cy="762000"/>
              <a:chOff x="2284073" y="2905125"/>
              <a:chExt cx="762000" cy="762000"/>
            </a:xfrm>
          </p:grpSpPr>
          <p:pic>
            <p:nvPicPr>
              <p:cNvPr descr="image.png" id="847" name="Google Shape;847;p40"/>
              <p:cNvPicPr preferRelativeResize="0"/>
              <p:nvPr/>
            </p:nvPicPr>
            <p:blipFill rotWithShape="1">
              <a:blip r:embed="rId3">
                <a:alphaModFix/>
              </a:blip>
              <a:srcRect b="0" l="0" r="0" t="0"/>
              <a:stretch/>
            </p:blipFill>
            <p:spPr>
              <a:xfrm>
                <a:off x="2284073" y="2905125"/>
                <a:ext cx="762000" cy="762000"/>
              </a:xfrm>
              <a:prstGeom prst="rect">
                <a:avLst/>
              </a:prstGeom>
              <a:noFill/>
              <a:ln>
                <a:noFill/>
              </a:ln>
            </p:spPr>
          </p:pic>
          <p:pic>
            <p:nvPicPr>
              <p:cNvPr descr="image.png" id="848" name="Google Shape;848;p40"/>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849" name="Google Shape;849;p40"/>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850" name="Google Shape;850;p40"/>
          <p:cNvGrpSpPr/>
          <p:nvPr/>
        </p:nvGrpSpPr>
        <p:grpSpPr>
          <a:xfrm>
            <a:off x="4612110" y="2901705"/>
            <a:ext cx="1289729" cy="1342221"/>
            <a:chOff x="3244170" y="2905125"/>
            <a:chExt cx="1289729" cy="1342221"/>
          </a:xfrm>
        </p:grpSpPr>
        <p:grpSp>
          <p:nvGrpSpPr>
            <p:cNvPr id="851" name="Google Shape;851;p40"/>
            <p:cNvGrpSpPr/>
            <p:nvPr/>
          </p:nvGrpSpPr>
          <p:grpSpPr>
            <a:xfrm>
              <a:off x="3510871" y="2905125"/>
              <a:ext cx="762000" cy="762000"/>
              <a:chOff x="3510871" y="2905125"/>
              <a:chExt cx="762000" cy="762000"/>
            </a:xfrm>
          </p:grpSpPr>
          <p:pic>
            <p:nvPicPr>
              <p:cNvPr descr="image.png" id="852" name="Google Shape;852;p40"/>
              <p:cNvPicPr preferRelativeResize="0"/>
              <p:nvPr/>
            </p:nvPicPr>
            <p:blipFill rotWithShape="1">
              <a:blip r:embed="rId7">
                <a:alphaModFix/>
              </a:blip>
              <a:srcRect b="0" l="0" r="0" t="0"/>
              <a:stretch/>
            </p:blipFill>
            <p:spPr>
              <a:xfrm>
                <a:off x="3510871" y="2905125"/>
                <a:ext cx="762000" cy="762000"/>
              </a:xfrm>
              <a:prstGeom prst="rect">
                <a:avLst/>
              </a:prstGeom>
              <a:noFill/>
              <a:ln>
                <a:noFill/>
              </a:ln>
            </p:spPr>
          </p:pic>
          <p:pic>
            <p:nvPicPr>
              <p:cNvPr descr="image.png" id="853" name="Google Shape;853;p40"/>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854" name="Google Shape;854;p40"/>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855" name="Google Shape;855;p40"/>
          <p:cNvGrpSpPr/>
          <p:nvPr/>
        </p:nvGrpSpPr>
        <p:grpSpPr>
          <a:xfrm>
            <a:off x="7582989" y="2913215"/>
            <a:ext cx="1200150" cy="1342221"/>
            <a:chOff x="7010400" y="2905125"/>
            <a:chExt cx="1200150" cy="1342221"/>
          </a:xfrm>
        </p:grpSpPr>
        <p:grpSp>
          <p:nvGrpSpPr>
            <p:cNvPr id="856" name="Google Shape;856;p40"/>
            <p:cNvGrpSpPr/>
            <p:nvPr/>
          </p:nvGrpSpPr>
          <p:grpSpPr>
            <a:xfrm>
              <a:off x="7191376" y="2905125"/>
              <a:ext cx="762000" cy="762000"/>
              <a:chOff x="7191376" y="2905125"/>
              <a:chExt cx="762000" cy="762000"/>
            </a:xfrm>
          </p:grpSpPr>
          <p:pic>
            <p:nvPicPr>
              <p:cNvPr descr="image.png" id="857" name="Google Shape;857;p40"/>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pic>
            <p:nvPicPr>
              <p:cNvPr descr="image.png" id="858" name="Google Shape;858;p40"/>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859" name="Google Shape;859;p40"/>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860" name="Google Shape;860;p40"/>
          <p:cNvGrpSpPr/>
          <p:nvPr/>
        </p:nvGrpSpPr>
        <p:grpSpPr>
          <a:xfrm>
            <a:off x="9135279" y="2899304"/>
            <a:ext cx="1200150" cy="1304567"/>
            <a:chOff x="6852956" y="4892396"/>
            <a:chExt cx="1200150" cy="1304567"/>
          </a:xfrm>
        </p:grpSpPr>
        <p:grpSp>
          <p:nvGrpSpPr>
            <p:cNvPr id="861" name="Google Shape;861;p40"/>
            <p:cNvGrpSpPr/>
            <p:nvPr/>
          </p:nvGrpSpPr>
          <p:grpSpPr>
            <a:xfrm>
              <a:off x="6852956" y="4892396"/>
              <a:ext cx="1200150" cy="1304567"/>
              <a:chOff x="6977618" y="2905125"/>
              <a:chExt cx="1200150" cy="1304567"/>
            </a:xfrm>
          </p:grpSpPr>
          <p:pic>
            <p:nvPicPr>
              <p:cNvPr descr="image.png" id="862" name="Google Shape;862;p40"/>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sp>
            <p:nvSpPr>
              <p:cNvPr id="863" name="Google Shape;863;p40"/>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864" name="Google Shape;864;p40"/>
            <p:cNvPicPr preferRelativeResize="0"/>
            <p:nvPr/>
          </p:nvPicPr>
          <p:blipFill rotWithShape="1">
            <a:blip r:embed="rId9">
              <a:alphaModFix/>
            </a:blip>
            <a:srcRect b="0" l="0" r="0" t="0"/>
            <a:stretch/>
          </p:blipFill>
          <p:spPr>
            <a:xfrm>
              <a:off x="7361989" y="5159096"/>
              <a:ext cx="171450" cy="228600"/>
            </a:xfrm>
            <a:prstGeom prst="rect">
              <a:avLst/>
            </a:prstGeom>
            <a:noFill/>
            <a:ln>
              <a:noFill/>
            </a:ln>
          </p:spPr>
        </p:pic>
      </p:grpSp>
      <p:grpSp>
        <p:nvGrpSpPr>
          <p:cNvPr id="865" name="Google Shape;865;p40"/>
          <p:cNvGrpSpPr/>
          <p:nvPr/>
        </p:nvGrpSpPr>
        <p:grpSpPr>
          <a:xfrm>
            <a:off x="6319032" y="2007408"/>
            <a:ext cx="2307535" cy="648950"/>
            <a:chOff x="1066800" y="565507"/>
            <a:chExt cx="4140485" cy="710843"/>
          </a:xfrm>
        </p:grpSpPr>
        <p:sp>
          <p:nvSpPr>
            <p:cNvPr id="866" name="Google Shape;866;p40"/>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867" name="Google Shape;867;p40"/>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1" name="Shape 871"/>
        <p:cNvGrpSpPr/>
        <p:nvPr/>
      </p:nvGrpSpPr>
      <p:grpSpPr>
        <a:xfrm>
          <a:off x="0" y="0"/>
          <a:ext cx="0" cy="0"/>
          <a:chOff x="0" y="0"/>
          <a:chExt cx="0" cy="0"/>
        </a:xfrm>
      </p:grpSpPr>
      <p:sp>
        <p:nvSpPr>
          <p:cNvPr id="872" name="Google Shape;872;p15"/>
          <p:cNvSpPr txBox="1"/>
          <p:nvPr/>
        </p:nvSpPr>
        <p:spPr>
          <a:xfrm>
            <a:off x="731520" y="457200"/>
            <a:ext cx="8229600" cy="4924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NMF</a:t>
            </a:r>
            <a:endParaRPr b="0" i="0" sz="1400" u="none" cap="none" strike="noStrike">
              <a:solidFill>
                <a:srgbClr val="000000"/>
              </a:solidFill>
              <a:latin typeface="Arial"/>
              <a:ea typeface="Arial"/>
              <a:cs typeface="Arial"/>
              <a:sym typeface="Arial"/>
            </a:endParaRPr>
          </a:p>
        </p:txBody>
      </p:sp>
      <p:grpSp>
        <p:nvGrpSpPr>
          <p:cNvPr id="873" name="Google Shape;873;p15"/>
          <p:cNvGrpSpPr/>
          <p:nvPr/>
        </p:nvGrpSpPr>
        <p:grpSpPr>
          <a:xfrm>
            <a:off x="9664721" y="132225"/>
            <a:ext cx="2449204" cy="341908"/>
            <a:chOff x="9619565" y="209082"/>
            <a:chExt cx="2449204" cy="341908"/>
          </a:xfrm>
        </p:grpSpPr>
        <p:pic>
          <p:nvPicPr>
            <p:cNvPr id="874" name="Google Shape;874;p15"/>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875" name="Google Shape;875;p15"/>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876" name="Google Shape;876;p15"/>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877" name="Google Shape;877;p15"/>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878" name="Google Shape;878;p15"/>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879" name="Google Shape;879;p15"/>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880" name="Google Shape;880;p15"/>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881" name="Google Shape;881;p15"/>
          <p:cNvGrpSpPr/>
          <p:nvPr/>
        </p:nvGrpSpPr>
        <p:grpSpPr>
          <a:xfrm>
            <a:off x="642080" y="1115331"/>
            <a:ext cx="4754881" cy="2144263"/>
            <a:chOff x="731520" y="2796838"/>
            <a:chExt cx="4846320" cy="2463651"/>
          </a:xfrm>
        </p:grpSpPr>
        <p:sp>
          <p:nvSpPr>
            <p:cNvPr id="882" name="Google Shape;882;p15"/>
            <p:cNvSpPr/>
            <p:nvPr/>
          </p:nvSpPr>
          <p:spPr>
            <a:xfrm>
              <a:off x="731520" y="2796838"/>
              <a:ext cx="4846320" cy="2463651"/>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83" name="Google Shape;883;p15"/>
            <p:cNvSpPr txBox="1"/>
            <p:nvPr/>
          </p:nvSpPr>
          <p:spPr>
            <a:xfrm>
              <a:off x="990735" y="2896767"/>
              <a:ext cx="4481929" cy="209288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22C55E"/>
                  </a:solidFill>
                  <a:latin typeface="Calibri"/>
                  <a:ea typeface="Calibri"/>
                  <a:cs typeface="Calibri"/>
                  <a:sym typeface="Calibri"/>
                </a:rPr>
                <a:t>Advantages: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Calibri"/>
                  <a:ea typeface="Calibri"/>
                  <a:cs typeface="Calibri"/>
                  <a:sym typeface="Calibri"/>
                </a:rPr>
                <a:t>Purely additive parts learning offers superb physical and logical interpretability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AFC"/>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B7687D"/>
                  </a:solidFill>
                  <a:latin typeface="Calibri"/>
                  <a:ea typeface="Calibri"/>
                  <a:cs typeface="Calibri"/>
                  <a:sym typeface="Calibri"/>
                </a:rPr>
                <a:t>Limitations: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Calibri"/>
                  <a:ea typeface="Calibri"/>
                  <a:cs typeface="Calibri"/>
                  <a:sym typeface="Calibri"/>
                </a:rPr>
                <a:t>Requires non-negative metrics, prone to non-convex local optimization traps</a:t>
              </a:r>
              <a:endParaRPr b="0" i="0" sz="1400" u="none" cap="none" strike="noStrike">
                <a:solidFill>
                  <a:srgbClr val="000000"/>
                </a:solidFill>
                <a:latin typeface="Calibri"/>
                <a:ea typeface="Calibri"/>
                <a:cs typeface="Calibri"/>
                <a:sym typeface="Calibri"/>
              </a:endParaRPr>
            </a:p>
          </p:txBody>
        </p:sp>
      </p:grpSp>
      <p:pic>
        <p:nvPicPr>
          <p:cNvPr id="884" name="Google Shape;884;p15"/>
          <p:cNvPicPr preferRelativeResize="0"/>
          <p:nvPr/>
        </p:nvPicPr>
        <p:blipFill rotWithShape="1">
          <a:blip r:embed="rId11">
            <a:alphaModFix/>
          </a:blip>
          <a:srcRect b="0" l="0" r="0" t="0"/>
          <a:stretch/>
        </p:blipFill>
        <p:spPr>
          <a:xfrm>
            <a:off x="5671559" y="1548462"/>
            <a:ext cx="6085985" cy="4088886"/>
          </a:xfrm>
          <a:prstGeom prst="rect">
            <a:avLst/>
          </a:prstGeom>
          <a:noFill/>
          <a:ln>
            <a:noFill/>
          </a:ln>
        </p:spPr>
      </p:pic>
      <p:grpSp>
        <p:nvGrpSpPr>
          <p:cNvPr id="885" name="Google Shape;885;p15"/>
          <p:cNvGrpSpPr/>
          <p:nvPr/>
        </p:nvGrpSpPr>
        <p:grpSpPr>
          <a:xfrm>
            <a:off x="642080" y="3425323"/>
            <a:ext cx="4754880" cy="3180960"/>
            <a:chOff x="731520" y="1662089"/>
            <a:chExt cx="4621316" cy="3177040"/>
          </a:xfrm>
        </p:grpSpPr>
        <p:sp>
          <p:nvSpPr>
            <p:cNvPr id="886" name="Google Shape;886;p15"/>
            <p:cNvSpPr/>
            <p:nvPr/>
          </p:nvSpPr>
          <p:spPr>
            <a:xfrm>
              <a:off x="731520" y="1662089"/>
              <a:ext cx="4621316" cy="317704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87" name="Google Shape;887;p15"/>
            <p:cNvGrpSpPr/>
            <p:nvPr/>
          </p:nvGrpSpPr>
          <p:grpSpPr>
            <a:xfrm>
              <a:off x="998406" y="1829464"/>
              <a:ext cx="4212238" cy="2808102"/>
              <a:chOff x="998406" y="1829464"/>
              <a:chExt cx="4212238" cy="2808102"/>
            </a:xfrm>
          </p:grpSpPr>
          <p:sp>
            <p:nvSpPr>
              <p:cNvPr id="888" name="Google Shape;888;p15"/>
              <p:cNvSpPr txBox="1"/>
              <p:nvPr/>
            </p:nvSpPr>
            <p:spPr>
              <a:xfrm>
                <a:off x="998406" y="1829464"/>
                <a:ext cx="4190043"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algorithm naturally optimized at K=3</a:t>
                </a:r>
                <a:endParaRPr b="0" i="0" sz="1400" u="none" cap="none" strike="noStrike">
                  <a:solidFill>
                    <a:srgbClr val="000000"/>
                  </a:solidFill>
                  <a:latin typeface="Arial"/>
                  <a:ea typeface="Arial"/>
                  <a:cs typeface="Arial"/>
                  <a:sym typeface="Arial"/>
                </a:endParaRPr>
              </a:p>
            </p:txBody>
          </p:sp>
          <p:sp>
            <p:nvSpPr>
              <p:cNvPr id="889" name="Google Shape;889;p15"/>
              <p:cNvSpPr txBox="1"/>
              <p:nvPr/>
            </p:nvSpPr>
            <p:spPr>
              <a:xfrm>
                <a:off x="998406" y="2366131"/>
                <a:ext cx="4190043" cy="1200288"/>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To ensure a fair, direct comparison between the two dimensionality reduction techniques, we decided to force the PCA model into K=3</a:t>
                </a:r>
                <a:endParaRPr b="0" i="0" sz="1400" u="none" cap="none" strike="noStrike">
                  <a:solidFill>
                    <a:srgbClr val="000000"/>
                  </a:solidFill>
                  <a:latin typeface="Arial"/>
                  <a:ea typeface="Arial"/>
                  <a:cs typeface="Arial"/>
                  <a:sym typeface="Arial"/>
                </a:endParaRPr>
              </a:p>
            </p:txBody>
          </p:sp>
          <p:sp>
            <p:nvSpPr>
              <p:cNvPr id="890" name="Google Shape;890;p15"/>
              <p:cNvSpPr txBox="1"/>
              <p:nvPr/>
            </p:nvSpPr>
            <p:spPr>
              <a:xfrm>
                <a:off x="1020601" y="3714277"/>
                <a:ext cx="4190043" cy="92328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This decision is strongly supported by the PCA Elbow plot, where K=3 also presents a distinct and viable bend in the curve</a:t>
                </a:r>
                <a:endParaRPr b="0" i="0" sz="1400" u="none" cap="none" strike="noStrike">
                  <a:solidFill>
                    <a:srgbClr val="000000"/>
                  </a:solidFill>
                  <a:latin typeface="Arial"/>
                  <a:ea typeface="Arial"/>
                  <a:cs typeface="Arial"/>
                  <a:sym typeface="Arial"/>
                </a:endParaRPr>
              </a:p>
            </p:txBody>
          </p:sp>
        </p:grpSp>
      </p:gr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44"/>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896" name="Google Shape;896;p44"/>
          <p:cNvGrpSpPr/>
          <p:nvPr/>
        </p:nvGrpSpPr>
        <p:grpSpPr>
          <a:xfrm>
            <a:off x="1831097" y="2905125"/>
            <a:ext cx="1289729" cy="1116949"/>
            <a:chOff x="793409" y="2905125"/>
            <a:chExt cx="1289729" cy="1116949"/>
          </a:xfrm>
        </p:grpSpPr>
        <p:sp>
          <p:nvSpPr>
            <p:cNvPr id="897" name="Google Shape;897;p44"/>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898" name="Google Shape;898;p44"/>
            <p:cNvGrpSpPr/>
            <p:nvPr/>
          </p:nvGrpSpPr>
          <p:grpSpPr>
            <a:xfrm>
              <a:off x="1057275" y="2905125"/>
              <a:ext cx="762000" cy="762000"/>
              <a:chOff x="1057275" y="2905125"/>
              <a:chExt cx="762000" cy="762000"/>
            </a:xfrm>
          </p:grpSpPr>
          <p:pic>
            <p:nvPicPr>
              <p:cNvPr descr="image.png" id="899" name="Google Shape;899;p44"/>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900" name="Google Shape;900;p44"/>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901" name="Google Shape;901;p44"/>
          <p:cNvGrpSpPr/>
          <p:nvPr/>
        </p:nvGrpSpPr>
        <p:grpSpPr>
          <a:xfrm>
            <a:off x="6099957" y="2909889"/>
            <a:ext cx="1200150" cy="1374124"/>
            <a:chOff x="4518594" y="2886075"/>
            <a:chExt cx="1200150" cy="1374124"/>
          </a:xfrm>
        </p:grpSpPr>
        <p:sp>
          <p:nvSpPr>
            <p:cNvPr id="902" name="Google Shape;902;p44"/>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903" name="Google Shape;903;p44"/>
            <p:cNvGrpSpPr/>
            <p:nvPr/>
          </p:nvGrpSpPr>
          <p:grpSpPr>
            <a:xfrm>
              <a:off x="4737669" y="2886075"/>
              <a:ext cx="762000" cy="762000"/>
              <a:chOff x="4737669" y="2886075"/>
              <a:chExt cx="762000" cy="762000"/>
            </a:xfrm>
          </p:grpSpPr>
          <p:pic>
            <p:nvPicPr>
              <p:cNvPr descr="image.png" id="904" name="Google Shape;904;p44"/>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905" name="Google Shape;905;p44"/>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906" name="Google Shape;906;p44"/>
          <p:cNvGrpSpPr/>
          <p:nvPr/>
        </p:nvGrpSpPr>
        <p:grpSpPr>
          <a:xfrm>
            <a:off x="2141393" y="2026386"/>
            <a:ext cx="3499418" cy="648950"/>
            <a:chOff x="1066800" y="565507"/>
            <a:chExt cx="4140485" cy="710843"/>
          </a:xfrm>
        </p:grpSpPr>
        <p:sp>
          <p:nvSpPr>
            <p:cNvPr id="907" name="Google Shape;907;p44"/>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08" name="Google Shape;908;p44"/>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909" name="Google Shape;909;p44"/>
          <p:cNvGrpSpPr/>
          <p:nvPr/>
        </p:nvGrpSpPr>
        <p:grpSpPr>
          <a:xfrm>
            <a:off x="3239908" y="2905125"/>
            <a:ext cx="1289729" cy="1350311"/>
            <a:chOff x="2021196" y="2905125"/>
            <a:chExt cx="1289729" cy="1350311"/>
          </a:xfrm>
        </p:grpSpPr>
        <p:grpSp>
          <p:nvGrpSpPr>
            <p:cNvPr id="910" name="Google Shape;910;p44"/>
            <p:cNvGrpSpPr/>
            <p:nvPr/>
          </p:nvGrpSpPr>
          <p:grpSpPr>
            <a:xfrm>
              <a:off x="2284073" y="2905125"/>
              <a:ext cx="762000" cy="762000"/>
              <a:chOff x="2284073" y="2905125"/>
              <a:chExt cx="762000" cy="762000"/>
            </a:xfrm>
          </p:grpSpPr>
          <p:pic>
            <p:nvPicPr>
              <p:cNvPr descr="image.png" id="911" name="Google Shape;911;p44"/>
              <p:cNvPicPr preferRelativeResize="0"/>
              <p:nvPr/>
            </p:nvPicPr>
            <p:blipFill rotWithShape="1">
              <a:blip r:embed="rId3">
                <a:alphaModFix/>
              </a:blip>
              <a:srcRect b="0" l="0" r="0" t="0"/>
              <a:stretch/>
            </p:blipFill>
            <p:spPr>
              <a:xfrm>
                <a:off x="2284073" y="2905125"/>
                <a:ext cx="762000" cy="762000"/>
              </a:xfrm>
              <a:prstGeom prst="rect">
                <a:avLst/>
              </a:prstGeom>
              <a:noFill/>
              <a:ln>
                <a:noFill/>
              </a:ln>
            </p:spPr>
          </p:pic>
          <p:pic>
            <p:nvPicPr>
              <p:cNvPr descr="image.png" id="912" name="Google Shape;912;p44"/>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913" name="Google Shape;913;p44"/>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914" name="Google Shape;914;p44"/>
          <p:cNvGrpSpPr/>
          <p:nvPr/>
        </p:nvGrpSpPr>
        <p:grpSpPr>
          <a:xfrm>
            <a:off x="4612110" y="2901705"/>
            <a:ext cx="1289729" cy="1342221"/>
            <a:chOff x="3244170" y="2905125"/>
            <a:chExt cx="1289729" cy="1342221"/>
          </a:xfrm>
        </p:grpSpPr>
        <p:grpSp>
          <p:nvGrpSpPr>
            <p:cNvPr id="915" name="Google Shape;915;p44"/>
            <p:cNvGrpSpPr/>
            <p:nvPr/>
          </p:nvGrpSpPr>
          <p:grpSpPr>
            <a:xfrm>
              <a:off x="3510871" y="2905125"/>
              <a:ext cx="762000" cy="762000"/>
              <a:chOff x="3510871" y="2905125"/>
              <a:chExt cx="762000" cy="762000"/>
            </a:xfrm>
          </p:grpSpPr>
          <p:pic>
            <p:nvPicPr>
              <p:cNvPr descr="image.png" id="916" name="Google Shape;916;p44"/>
              <p:cNvPicPr preferRelativeResize="0"/>
              <p:nvPr/>
            </p:nvPicPr>
            <p:blipFill rotWithShape="1">
              <a:blip r:embed="rId7">
                <a:alphaModFix/>
              </a:blip>
              <a:srcRect b="0" l="0" r="0" t="0"/>
              <a:stretch/>
            </p:blipFill>
            <p:spPr>
              <a:xfrm>
                <a:off x="3510871" y="2905125"/>
                <a:ext cx="762000" cy="762000"/>
              </a:xfrm>
              <a:prstGeom prst="rect">
                <a:avLst/>
              </a:prstGeom>
              <a:noFill/>
              <a:ln>
                <a:noFill/>
              </a:ln>
            </p:spPr>
          </p:pic>
          <p:pic>
            <p:nvPicPr>
              <p:cNvPr descr="image.png" id="917" name="Google Shape;917;p44"/>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918" name="Google Shape;918;p44"/>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919" name="Google Shape;919;p44"/>
          <p:cNvGrpSpPr/>
          <p:nvPr/>
        </p:nvGrpSpPr>
        <p:grpSpPr>
          <a:xfrm>
            <a:off x="7582989" y="2913215"/>
            <a:ext cx="1200150" cy="1342221"/>
            <a:chOff x="7010400" y="2905125"/>
            <a:chExt cx="1200150" cy="1342221"/>
          </a:xfrm>
        </p:grpSpPr>
        <p:grpSp>
          <p:nvGrpSpPr>
            <p:cNvPr id="920" name="Google Shape;920;p44"/>
            <p:cNvGrpSpPr/>
            <p:nvPr/>
          </p:nvGrpSpPr>
          <p:grpSpPr>
            <a:xfrm>
              <a:off x="7191376" y="2905125"/>
              <a:ext cx="762000" cy="762000"/>
              <a:chOff x="7191376" y="2905125"/>
              <a:chExt cx="762000" cy="762000"/>
            </a:xfrm>
          </p:grpSpPr>
          <p:pic>
            <p:nvPicPr>
              <p:cNvPr descr="image.png" id="921" name="Google Shape;921;p44"/>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pic>
            <p:nvPicPr>
              <p:cNvPr descr="image.png" id="922" name="Google Shape;922;p44"/>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923" name="Google Shape;923;p44"/>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924" name="Google Shape;924;p44"/>
          <p:cNvGrpSpPr/>
          <p:nvPr/>
        </p:nvGrpSpPr>
        <p:grpSpPr>
          <a:xfrm>
            <a:off x="9135279" y="2899304"/>
            <a:ext cx="1200150" cy="1304567"/>
            <a:chOff x="6852956" y="4892396"/>
            <a:chExt cx="1200150" cy="1304567"/>
          </a:xfrm>
        </p:grpSpPr>
        <p:grpSp>
          <p:nvGrpSpPr>
            <p:cNvPr id="925" name="Google Shape;925;p44"/>
            <p:cNvGrpSpPr/>
            <p:nvPr/>
          </p:nvGrpSpPr>
          <p:grpSpPr>
            <a:xfrm>
              <a:off x="6852956" y="4892396"/>
              <a:ext cx="1200150" cy="1304567"/>
              <a:chOff x="6977618" y="2905125"/>
              <a:chExt cx="1200150" cy="1304567"/>
            </a:xfrm>
          </p:grpSpPr>
          <p:pic>
            <p:nvPicPr>
              <p:cNvPr descr="image.png" id="926" name="Google Shape;926;p44"/>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sp>
            <p:nvSpPr>
              <p:cNvPr id="927" name="Google Shape;927;p44"/>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928" name="Google Shape;928;p44"/>
            <p:cNvPicPr preferRelativeResize="0"/>
            <p:nvPr/>
          </p:nvPicPr>
          <p:blipFill rotWithShape="1">
            <a:blip r:embed="rId9">
              <a:alphaModFix/>
            </a:blip>
            <a:srcRect b="0" l="0" r="0" t="0"/>
            <a:stretch/>
          </p:blipFill>
          <p:spPr>
            <a:xfrm>
              <a:off x="7361989" y="5159096"/>
              <a:ext cx="171450" cy="228600"/>
            </a:xfrm>
            <a:prstGeom prst="rect">
              <a:avLst/>
            </a:prstGeom>
            <a:noFill/>
            <a:ln>
              <a:noFill/>
            </a:ln>
          </p:spPr>
        </p:pic>
      </p:grpSp>
      <p:grpSp>
        <p:nvGrpSpPr>
          <p:cNvPr id="929" name="Google Shape;929;p44"/>
          <p:cNvGrpSpPr/>
          <p:nvPr/>
        </p:nvGrpSpPr>
        <p:grpSpPr>
          <a:xfrm>
            <a:off x="6319032" y="2007408"/>
            <a:ext cx="2307535" cy="648950"/>
            <a:chOff x="1066800" y="565507"/>
            <a:chExt cx="4140485" cy="710843"/>
          </a:xfrm>
        </p:grpSpPr>
        <p:sp>
          <p:nvSpPr>
            <p:cNvPr id="930" name="Google Shape;930;p44"/>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931" name="Google Shape;931;p44"/>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935" name="Shape 935"/>
        <p:cNvGrpSpPr/>
        <p:nvPr/>
      </p:nvGrpSpPr>
      <p:grpSpPr>
        <a:xfrm>
          <a:off x="0" y="0"/>
          <a:ext cx="0" cy="0"/>
          <a:chOff x="0" y="0"/>
          <a:chExt cx="0" cy="0"/>
        </a:xfrm>
      </p:grpSpPr>
      <p:sp>
        <p:nvSpPr>
          <p:cNvPr id="936" name="Google Shape;936;p11"/>
          <p:cNvSpPr txBox="1"/>
          <p:nvPr/>
        </p:nvSpPr>
        <p:spPr>
          <a:xfrm>
            <a:off x="731520" y="457200"/>
            <a:ext cx="8229600" cy="4924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t-SNE</a:t>
            </a:r>
            <a:endParaRPr b="0" i="0" sz="1400" u="none" cap="none" strike="noStrike">
              <a:solidFill>
                <a:srgbClr val="000000"/>
              </a:solidFill>
              <a:latin typeface="Arial"/>
              <a:ea typeface="Arial"/>
              <a:cs typeface="Arial"/>
              <a:sym typeface="Arial"/>
            </a:endParaRPr>
          </a:p>
        </p:txBody>
      </p:sp>
      <p:grpSp>
        <p:nvGrpSpPr>
          <p:cNvPr id="937" name="Google Shape;937;p11"/>
          <p:cNvGrpSpPr/>
          <p:nvPr/>
        </p:nvGrpSpPr>
        <p:grpSpPr>
          <a:xfrm>
            <a:off x="9664721" y="132225"/>
            <a:ext cx="2449204" cy="341908"/>
            <a:chOff x="9619565" y="209082"/>
            <a:chExt cx="2449204" cy="341908"/>
          </a:xfrm>
        </p:grpSpPr>
        <p:pic>
          <p:nvPicPr>
            <p:cNvPr id="938" name="Google Shape;938;p11"/>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939" name="Google Shape;939;p11"/>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940" name="Google Shape;940;p11"/>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941" name="Google Shape;941;p11"/>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942" name="Google Shape;942;p11"/>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943" name="Google Shape;943;p11"/>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944" name="Google Shape;944;p11"/>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945" name="Google Shape;945;p11"/>
          <p:cNvSpPr/>
          <p:nvPr/>
        </p:nvSpPr>
        <p:spPr>
          <a:xfrm>
            <a:off x="731520" y="1662088"/>
            <a:ext cx="7787640" cy="3749007"/>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6" name="Google Shape;946;p11"/>
          <p:cNvSpPr txBox="1"/>
          <p:nvPr/>
        </p:nvSpPr>
        <p:spPr>
          <a:xfrm>
            <a:off x="1191405" y="2992493"/>
            <a:ext cx="6867870" cy="214413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22C55E"/>
                </a:solidFill>
                <a:latin typeface="Calibri"/>
                <a:ea typeface="Calibri"/>
                <a:cs typeface="Calibri"/>
                <a:sym typeface="Calibri"/>
              </a:rPr>
              <a:t>Advantages: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Outstanding at preserving local clusters and highlighting clear boundaries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F8FAFC"/>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F8FAFC"/>
                </a:solidFill>
                <a:latin typeface="Inter"/>
                <a:ea typeface="Inter"/>
                <a:cs typeface="Inter"/>
                <a:sym typeface="Inter"/>
              </a:rPr>
              <a:t>➖ </a:t>
            </a:r>
            <a:r>
              <a:rPr b="1" i="0" lang="en-US" sz="2000" u="none" cap="none" strike="noStrike">
                <a:solidFill>
                  <a:srgbClr val="B7687D"/>
                </a:solidFill>
                <a:latin typeface="Calibri"/>
                <a:ea typeface="Calibri"/>
                <a:cs typeface="Calibri"/>
                <a:sym typeface="Calibri"/>
              </a:rPr>
              <a:t>Limitations: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Distorts global space parameters, cannot pre-process data for clustering rules.</a:t>
            </a:r>
            <a:endParaRPr b="0" i="0" sz="1800" u="none" cap="none" strike="noStrike">
              <a:solidFill>
                <a:schemeClr val="lt1"/>
              </a:solidFill>
              <a:latin typeface="Calibri"/>
              <a:ea typeface="Calibri"/>
              <a:cs typeface="Calibri"/>
              <a:sym typeface="Calibri"/>
            </a:endParaRPr>
          </a:p>
        </p:txBody>
      </p:sp>
      <p:sp>
        <p:nvSpPr>
          <p:cNvPr id="947" name="Google Shape;947;p11"/>
          <p:cNvSpPr txBox="1"/>
          <p:nvPr/>
        </p:nvSpPr>
        <p:spPr>
          <a:xfrm>
            <a:off x="1183341" y="2004125"/>
            <a:ext cx="663837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Non-linear mapping technique converting multidimensional distances into probabilistic neighborhood matching</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blipFill>
          <a:blip r:embed="rId3">
            <a:alphaModFix/>
          </a:blip>
          <a:stretch>
            <a:fillRect/>
          </a:stretch>
        </a:blipFill>
      </p:bgPr>
    </p:bg>
    <p:spTree>
      <p:nvGrpSpPr>
        <p:cNvPr id="951" name="Shape 951"/>
        <p:cNvGrpSpPr/>
        <p:nvPr/>
      </p:nvGrpSpPr>
      <p:grpSpPr>
        <a:xfrm>
          <a:off x="0" y="0"/>
          <a:ext cx="0" cy="0"/>
          <a:chOff x="0" y="0"/>
          <a:chExt cx="0" cy="0"/>
        </a:xfrm>
      </p:grpSpPr>
      <p:sp>
        <p:nvSpPr>
          <p:cNvPr id="952" name="Google Shape;952;p14"/>
          <p:cNvSpPr/>
          <p:nvPr/>
        </p:nvSpPr>
        <p:spPr>
          <a:xfrm>
            <a:off x="253670" y="1134536"/>
            <a:ext cx="11684660" cy="369291"/>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53" name="Google Shape;953;p14"/>
          <p:cNvSpPr txBox="1"/>
          <p:nvPr/>
        </p:nvSpPr>
        <p:spPr>
          <a:xfrm>
            <a:off x="731520" y="457200"/>
            <a:ext cx="5258171" cy="49240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t-SNE – K = 3 Perplexity</a:t>
            </a:r>
            <a:endParaRPr b="0" i="0" sz="1400" u="none" cap="none" strike="noStrike">
              <a:solidFill>
                <a:srgbClr val="000000"/>
              </a:solidFill>
              <a:latin typeface="Arial"/>
              <a:ea typeface="Arial"/>
              <a:cs typeface="Arial"/>
              <a:sym typeface="Arial"/>
            </a:endParaRPr>
          </a:p>
        </p:txBody>
      </p:sp>
      <p:grpSp>
        <p:nvGrpSpPr>
          <p:cNvPr id="954" name="Google Shape;954;p14"/>
          <p:cNvGrpSpPr/>
          <p:nvPr/>
        </p:nvGrpSpPr>
        <p:grpSpPr>
          <a:xfrm>
            <a:off x="9664721" y="132225"/>
            <a:ext cx="2449204" cy="341908"/>
            <a:chOff x="9619565" y="209082"/>
            <a:chExt cx="2449204" cy="341908"/>
          </a:xfrm>
        </p:grpSpPr>
        <p:pic>
          <p:nvPicPr>
            <p:cNvPr id="955" name="Google Shape;955;p14"/>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956" name="Google Shape;956;p14"/>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957" name="Google Shape;957;p14"/>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958" name="Google Shape;958;p14"/>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959" name="Google Shape;959;p14"/>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960" name="Google Shape;960;p14"/>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961" name="Google Shape;961;p14"/>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962" name="Google Shape;962;p14"/>
          <p:cNvSpPr txBox="1"/>
          <p:nvPr/>
        </p:nvSpPr>
        <p:spPr>
          <a:xfrm>
            <a:off x="290937" y="1134536"/>
            <a:ext cx="11647393" cy="3692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We evaluated Perplexity values of 5, 30, and 50 to thoroughly examine both local and global data structures</a:t>
            </a:r>
            <a:endParaRPr b="0" i="0" sz="1400" u="none" cap="none" strike="noStrike">
              <a:solidFill>
                <a:srgbClr val="000000"/>
              </a:solidFill>
              <a:latin typeface="Arial"/>
              <a:ea typeface="Arial"/>
              <a:cs typeface="Arial"/>
              <a:sym typeface="Arial"/>
            </a:endParaRPr>
          </a:p>
        </p:txBody>
      </p:sp>
      <p:grpSp>
        <p:nvGrpSpPr>
          <p:cNvPr id="963" name="Google Shape;963;p14"/>
          <p:cNvGrpSpPr/>
          <p:nvPr/>
        </p:nvGrpSpPr>
        <p:grpSpPr>
          <a:xfrm>
            <a:off x="244650" y="5643206"/>
            <a:ext cx="3775782" cy="860336"/>
            <a:chOff x="244650" y="5643206"/>
            <a:chExt cx="3775782" cy="860336"/>
          </a:xfrm>
        </p:grpSpPr>
        <p:sp>
          <p:nvSpPr>
            <p:cNvPr id="964" name="Google Shape;964;p14"/>
            <p:cNvSpPr/>
            <p:nvPr/>
          </p:nvSpPr>
          <p:spPr>
            <a:xfrm>
              <a:off x="262690" y="5643206"/>
              <a:ext cx="3757742" cy="860336"/>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5" name="Google Shape;965;p14"/>
            <p:cNvSpPr txBox="1"/>
            <p:nvPr/>
          </p:nvSpPr>
          <p:spPr>
            <a:xfrm>
              <a:off x="244650" y="5786000"/>
              <a:ext cx="3775781"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fragmented the data into artificial "islands" </a:t>
              </a:r>
              <a:endParaRPr b="0" i="0" sz="1800" u="none" cap="none" strike="noStrike">
                <a:solidFill>
                  <a:srgbClr val="000000"/>
                </a:solidFill>
                <a:latin typeface="Arial"/>
                <a:ea typeface="Arial"/>
                <a:cs typeface="Arial"/>
                <a:sym typeface="Arial"/>
              </a:endParaRPr>
            </a:p>
          </p:txBody>
        </p:sp>
      </p:grpSp>
      <p:grpSp>
        <p:nvGrpSpPr>
          <p:cNvPr id="966" name="Google Shape;966;p14"/>
          <p:cNvGrpSpPr/>
          <p:nvPr/>
        </p:nvGrpSpPr>
        <p:grpSpPr>
          <a:xfrm>
            <a:off x="4199250" y="5626565"/>
            <a:ext cx="3817497" cy="923330"/>
            <a:chOff x="11745553" y="1938311"/>
            <a:chExt cx="3817497" cy="923330"/>
          </a:xfrm>
        </p:grpSpPr>
        <p:sp>
          <p:nvSpPr>
            <p:cNvPr id="967" name="Google Shape;967;p14"/>
            <p:cNvSpPr/>
            <p:nvPr/>
          </p:nvSpPr>
          <p:spPr>
            <a:xfrm>
              <a:off x="11745553" y="1959331"/>
              <a:ext cx="3757742" cy="860336"/>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68" name="Google Shape;968;p14"/>
            <p:cNvSpPr txBox="1"/>
            <p:nvPr/>
          </p:nvSpPr>
          <p:spPr>
            <a:xfrm>
              <a:off x="11787269" y="1938311"/>
              <a:ext cx="3775781"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perfect balance, providing the clearest separation and revealing the most cohesive behavioral clusters</a:t>
              </a:r>
              <a:endParaRPr b="0" i="0" sz="1800" u="none" cap="none" strike="noStrike">
                <a:solidFill>
                  <a:srgbClr val="000000"/>
                </a:solidFill>
                <a:latin typeface="Arial"/>
                <a:ea typeface="Arial"/>
                <a:cs typeface="Arial"/>
                <a:sym typeface="Arial"/>
              </a:endParaRPr>
            </a:p>
          </p:txBody>
        </p:sp>
      </p:grpSp>
      <p:grpSp>
        <p:nvGrpSpPr>
          <p:cNvPr id="969" name="Google Shape;969;p14"/>
          <p:cNvGrpSpPr/>
          <p:nvPr/>
        </p:nvGrpSpPr>
        <p:grpSpPr>
          <a:xfrm>
            <a:off x="8153528" y="5611709"/>
            <a:ext cx="3775782" cy="923330"/>
            <a:chOff x="11762734" y="3315999"/>
            <a:chExt cx="3775782" cy="923330"/>
          </a:xfrm>
        </p:grpSpPr>
        <p:sp>
          <p:nvSpPr>
            <p:cNvPr id="970" name="Google Shape;970;p14"/>
            <p:cNvSpPr/>
            <p:nvPr/>
          </p:nvSpPr>
          <p:spPr>
            <a:xfrm>
              <a:off x="11780774" y="3330855"/>
              <a:ext cx="3757742" cy="860336"/>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71" name="Google Shape;971;p14"/>
            <p:cNvSpPr txBox="1"/>
            <p:nvPr/>
          </p:nvSpPr>
          <p:spPr>
            <a:xfrm>
              <a:off x="11762734" y="3315999"/>
              <a:ext cx="3775781" cy="92333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overly compressed the data, causing distinct clusters to overlap and lose their clear boundaries</a:t>
              </a:r>
              <a:endParaRPr b="0" i="0" sz="1800" u="none" cap="none" strike="noStrike">
                <a:solidFill>
                  <a:srgbClr val="000000"/>
                </a:solidFill>
                <a:latin typeface="Arial"/>
                <a:ea typeface="Arial"/>
                <a:cs typeface="Arial"/>
                <a:sym typeface="Arial"/>
              </a:endParaRPr>
            </a:p>
          </p:txBody>
        </p:sp>
      </p:grpSp>
      <p:sp>
        <p:nvSpPr>
          <p:cNvPr id="972" name="Google Shape;972;p14"/>
          <p:cNvSpPr/>
          <p:nvPr/>
        </p:nvSpPr>
        <p:spPr>
          <a:xfrm>
            <a:off x="4199250" y="5643207"/>
            <a:ext cx="3757742" cy="860336"/>
          </a:xfrm>
          <a:prstGeom prst="rect">
            <a:avLst/>
          </a:prstGeom>
          <a:noFill/>
          <a:ln cap="flat" cmpd="sng" w="25400">
            <a:solidFill>
              <a:srgbClr val="92D05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pic>
        <p:nvPicPr>
          <p:cNvPr id="973" name="Google Shape;973;p14"/>
          <p:cNvPicPr preferRelativeResize="0"/>
          <p:nvPr/>
        </p:nvPicPr>
        <p:blipFill rotWithShape="1">
          <a:blip r:embed="rId11">
            <a:alphaModFix/>
          </a:blip>
          <a:srcRect b="0" l="0" r="0" t="0"/>
          <a:stretch/>
        </p:blipFill>
        <p:spPr>
          <a:xfrm>
            <a:off x="283283" y="1727031"/>
            <a:ext cx="3757741" cy="3764471"/>
          </a:xfrm>
          <a:prstGeom prst="rect">
            <a:avLst/>
          </a:prstGeom>
          <a:noFill/>
          <a:ln>
            <a:noFill/>
          </a:ln>
        </p:spPr>
      </p:pic>
      <p:pic>
        <p:nvPicPr>
          <p:cNvPr id="974" name="Google Shape;974;p14"/>
          <p:cNvPicPr preferRelativeResize="0"/>
          <p:nvPr/>
        </p:nvPicPr>
        <p:blipFill rotWithShape="1">
          <a:blip r:embed="rId12">
            <a:alphaModFix/>
          </a:blip>
          <a:srcRect b="0" l="0" r="0" t="0"/>
          <a:stretch/>
        </p:blipFill>
        <p:spPr>
          <a:xfrm>
            <a:off x="4218400" y="1727032"/>
            <a:ext cx="3774054" cy="3819252"/>
          </a:xfrm>
          <a:prstGeom prst="rect">
            <a:avLst/>
          </a:prstGeom>
          <a:noFill/>
          <a:ln>
            <a:noFill/>
          </a:ln>
        </p:spPr>
      </p:pic>
      <p:pic>
        <p:nvPicPr>
          <p:cNvPr id="975" name="Google Shape;975;p14"/>
          <p:cNvPicPr preferRelativeResize="0"/>
          <p:nvPr/>
        </p:nvPicPr>
        <p:blipFill rotWithShape="1">
          <a:blip r:embed="rId13">
            <a:alphaModFix/>
          </a:blip>
          <a:srcRect b="0" l="0" r="0" t="0"/>
          <a:stretch/>
        </p:blipFill>
        <p:spPr>
          <a:xfrm>
            <a:off x="8180590" y="1727032"/>
            <a:ext cx="3757740" cy="381925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79" name="Shape 979"/>
        <p:cNvGrpSpPr/>
        <p:nvPr/>
      </p:nvGrpSpPr>
      <p:grpSpPr>
        <a:xfrm>
          <a:off x="0" y="0"/>
          <a:ext cx="0" cy="0"/>
          <a:chOff x="0" y="0"/>
          <a:chExt cx="0" cy="0"/>
        </a:xfrm>
      </p:grpSpPr>
      <p:sp>
        <p:nvSpPr>
          <p:cNvPr id="980" name="Google Shape;980;p50"/>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grpSp>
        <p:nvGrpSpPr>
          <p:cNvPr id="981" name="Google Shape;981;p50"/>
          <p:cNvGrpSpPr/>
          <p:nvPr/>
        </p:nvGrpSpPr>
        <p:grpSpPr>
          <a:xfrm>
            <a:off x="9664721" y="132225"/>
            <a:ext cx="2449204" cy="341908"/>
            <a:chOff x="9619565" y="209082"/>
            <a:chExt cx="2449204" cy="341908"/>
          </a:xfrm>
        </p:grpSpPr>
        <p:pic>
          <p:nvPicPr>
            <p:cNvPr id="982" name="Google Shape;982;p50"/>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983" name="Google Shape;983;p50"/>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984" name="Google Shape;984;p50"/>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985" name="Google Shape;985;p50"/>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986" name="Google Shape;986;p50"/>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987" name="Google Shape;987;p50"/>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988" name="Google Shape;988;p50"/>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pic>
        <p:nvPicPr>
          <p:cNvPr id="989" name="Google Shape;989;p50"/>
          <p:cNvPicPr preferRelativeResize="0"/>
          <p:nvPr/>
        </p:nvPicPr>
        <p:blipFill rotWithShape="1">
          <a:blip r:embed="rId11">
            <a:alphaModFix/>
          </a:blip>
          <a:srcRect b="0" l="0" r="0" t="0"/>
          <a:stretch/>
        </p:blipFill>
        <p:spPr>
          <a:xfrm>
            <a:off x="6312079" y="1945266"/>
            <a:ext cx="5553398" cy="4108069"/>
          </a:xfrm>
          <a:prstGeom prst="rect">
            <a:avLst/>
          </a:prstGeom>
          <a:noFill/>
          <a:ln>
            <a:noFill/>
          </a:ln>
        </p:spPr>
      </p:pic>
      <p:pic>
        <p:nvPicPr>
          <p:cNvPr id="990" name="Google Shape;990;p50"/>
          <p:cNvPicPr preferRelativeResize="0"/>
          <p:nvPr/>
        </p:nvPicPr>
        <p:blipFill rotWithShape="1">
          <a:blip r:embed="rId12">
            <a:alphaModFix/>
          </a:blip>
          <a:srcRect b="0" l="0" r="0" t="0"/>
          <a:stretch/>
        </p:blipFill>
        <p:spPr>
          <a:xfrm>
            <a:off x="305975" y="1945266"/>
            <a:ext cx="5653393" cy="4095938"/>
          </a:xfrm>
          <a:prstGeom prst="rect">
            <a:avLst/>
          </a:prstGeom>
          <a:noFill/>
          <a:ln>
            <a:noFill/>
          </a:ln>
        </p:spPr>
      </p:pic>
      <p:sp>
        <p:nvSpPr>
          <p:cNvPr id="991" name="Google Shape;991;p50"/>
          <p:cNvSpPr txBox="1"/>
          <p:nvPr/>
        </p:nvSpPr>
        <p:spPr>
          <a:xfrm>
            <a:off x="2398596"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992" name="Google Shape;992;p50"/>
          <p:cNvSpPr txBox="1"/>
          <p:nvPr/>
        </p:nvSpPr>
        <p:spPr>
          <a:xfrm>
            <a:off x="8227045"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6" name="Shape 996"/>
        <p:cNvGrpSpPr/>
        <p:nvPr/>
      </p:nvGrpSpPr>
      <p:grpSpPr>
        <a:xfrm>
          <a:off x="0" y="0"/>
          <a:ext cx="0" cy="0"/>
          <a:chOff x="0" y="0"/>
          <a:chExt cx="0" cy="0"/>
        </a:xfrm>
      </p:grpSpPr>
      <p:grpSp>
        <p:nvGrpSpPr>
          <p:cNvPr id="997" name="Google Shape;997;p51"/>
          <p:cNvGrpSpPr/>
          <p:nvPr/>
        </p:nvGrpSpPr>
        <p:grpSpPr>
          <a:xfrm>
            <a:off x="9664721" y="132225"/>
            <a:ext cx="2449204" cy="341908"/>
            <a:chOff x="9619565" y="209082"/>
            <a:chExt cx="2449204" cy="341908"/>
          </a:xfrm>
        </p:grpSpPr>
        <p:pic>
          <p:nvPicPr>
            <p:cNvPr id="998" name="Google Shape;998;p51"/>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999" name="Google Shape;999;p51"/>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000" name="Google Shape;1000;p51"/>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001" name="Google Shape;1001;p51"/>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002" name="Google Shape;1002;p51"/>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003" name="Google Shape;1003;p51"/>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004" name="Google Shape;1004;p51"/>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005" name="Google Shape;1005;p51"/>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pic>
        <p:nvPicPr>
          <p:cNvPr id="1006" name="Google Shape;1006;p51"/>
          <p:cNvPicPr preferRelativeResize="0"/>
          <p:nvPr/>
        </p:nvPicPr>
        <p:blipFill rotWithShape="1">
          <a:blip r:embed="rId11">
            <a:alphaModFix/>
          </a:blip>
          <a:srcRect b="0" l="0" r="17863" t="0"/>
          <a:stretch/>
        </p:blipFill>
        <p:spPr>
          <a:xfrm>
            <a:off x="354554" y="1981579"/>
            <a:ext cx="5104176" cy="3691871"/>
          </a:xfrm>
          <a:prstGeom prst="rect">
            <a:avLst/>
          </a:prstGeom>
          <a:noFill/>
          <a:ln>
            <a:noFill/>
          </a:ln>
        </p:spPr>
      </p:pic>
      <p:sp>
        <p:nvSpPr>
          <p:cNvPr id="1007" name="Google Shape;1007;p51"/>
          <p:cNvSpPr txBox="1"/>
          <p:nvPr/>
        </p:nvSpPr>
        <p:spPr>
          <a:xfrm>
            <a:off x="2172567" y="1581510"/>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08" name="Google Shape;1008;p51"/>
          <p:cNvSpPr txBox="1"/>
          <p:nvPr/>
        </p:nvSpPr>
        <p:spPr>
          <a:xfrm>
            <a:off x="8041770" y="1581509"/>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09" name="Google Shape;1009;p51"/>
          <p:cNvPicPr preferRelativeResize="0"/>
          <p:nvPr/>
        </p:nvPicPr>
        <p:blipFill rotWithShape="1">
          <a:blip r:embed="rId12">
            <a:alphaModFix/>
          </a:blip>
          <a:srcRect b="0" l="0" r="0" t="0"/>
          <a:stretch/>
        </p:blipFill>
        <p:spPr>
          <a:xfrm>
            <a:off x="5668732" y="1981579"/>
            <a:ext cx="6214227" cy="369187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3" name="Shape 1013"/>
        <p:cNvGrpSpPr/>
        <p:nvPr/>
      </p:nvGrpSpPr>
      <p:grpSpPr>
        <a:xfrm>
          <a:off x="0" y="0"/>
          <a:ext cx="0" cy="0"/>
          <a:chOff x="0" y="0"/>
          <a:chExt cx="0" cy="0"/>
        </a:xfrm>
      </p:grpSpPr>
      <p:grpSp>
        <p:nvGrpSpPr>
          <p:cNvPr id="1014" name="Google Shape;1014;p52"/>
          <p:cNvGrpSpPr/>
          <p:nvPr/>
        </p:nvGrpSpPr>
        <p:grpSpPr>
          <a:xfrm>
            <a:off x="9664721" y="132225"/>
            <a:ext cx="2449204" cy="341908"/>
            <a:chOff x="9619565" y="209082"/>
            <a:chExt cx="2449204" cy="341908"/>
          </a:xfrm>
        </p:grpSpPr>
        <p:pic>
          <p:nvPicPr>
            <p:cNvPr id="1015" name="Google Shape;1015;p52"/>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016" name="Google Shape;1016;p52"/>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017" name="Google Shape;1017;p52"/>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018" name="Google Shape;1018;p52"/>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019" name="Google Shape;1019;p52"/>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020" name="Google Shape;1020;p52"/>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021" name="Google Shape;1021;p52"/>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022" name="Google Shape;1022;p52"/>
          <p:cNvSpPr txBox="1"/>
          <p:nvPr/>
        </p:nvSpPr>
        <p:spPr>
          <a:xfrm>
            <a:off x="2110923" y="1549268"/>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23" name="Google Shape;1023;p52"/>
          <p:cNvSpPr txBox="1"/>
          <p:nvPr/>
        </p:nvSpPr>
        <p:spPr>
          <a:xfrm>
            <a:off x="7980127" y="1545196"/>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24" name="Google Shape;1024;p52"/>
          <p:cNvPicPr preferRelativeResize="0"/>
          <p:nvPr/>
        </p:nvPicPr>
        <p:blipFill rotWithShape="1">
          <a:blip r:embed="rId11">
            <a:alphaModFix/>
          </a:blip>
          <a:srcRect b="0" l="0" r="58877" t="7515"/>
          <a:stretch/>
        </p:blipFill>
        <p:spPr>
          <a:xfrm>
            <a:off x="338104" y="1945266"/>
            <a:ext cx="5013789" cy="4526375"/>
          </a:xfrm>
          <a:prstGeom prst="rect">
            <a:avLst/>
          </a:prstGeom>
          <a:noFill/>
          <a:ln>
            <a:noFill/>
          </a:ln>
        </p:spPr>
      </p:pic>
      <p:pic>
        <p:nvPicPr>
          <p:cNvPr id="1025" name="Google Shape;1025;p52"/>
          <p:cNvPicPr preferRelativeResize="0"/>
          <p:nvPr/>
        </p:nvPicPr>
        <p:blipFill rotWithShape="1">
          <a:blip r:embed="rId12">
            <a:alphaModFix/>
          </a:blip>
          <a:srcRect b="0" l="0" r="47669" t="7515"/>
          <a:stretch/>
        </p:blipFill>
        <p:spPr>
          <a:xfrm>
            <a:off x="5524076" y="1945266"/>
            <a:ext cx="6380252" cy="4526375"/>
          </a:xfrm>
          <a:prstGeom prst="rect">
            <a:avLst/>
          </a:prstGeom>
          <a:noFill/>
          <a:ln>
            <a:noFill/>
          </a:ln>
        </p:spPr>
      </p:pic>
      <p:sp>
        <p:nvSpPr>
          <p:cNvPr id="1026" name="Google Shape;1026;p52"/>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30" name="Shape 1030"/>
        <p:cNvGrpSpPr/>
        <p:nvPr/>
      </p:nvGrpSpPr>
      <p:grpSpPr>
        <a:xfrm>
          <a:off x="0" y="0"/>
          <a:ext cx="0" cy="0"/>
          <a:chOff x="0" y="0"/>
          <a:chExt cx="0" cy="0"/>
        </a:xfrm>
      </p:grpSpPr>
      <p:grpSp>
        <p:nvGrpSpPr>
          <p:cNvPr id="1031" name="Google Shape;1031;p53"/>
          <p:cNvGrpSpPr/>
          <p:nvPr/>
        </p:nvGrpSpPr>
        <p:grpSpPr>
          <a:xfrm>
            <a:off x="9664721" y="132225"/>
            <a:ext cx="2449204" cy="341908"/>
            <a:chOff x="9619565" y="209082"/>
            <a:chExt cx="2449204" cy="341908"/>
          </a:xfrm>
        </p:grpSpPr>
        <p:pic>
          <p:nvPicPr>
            <p:cNvPr id="1032" name="Google Shape;1032;p53"/>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033" name="Google Shape;1033;p53"/>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034" name="Google Shape;1034;p53"/>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035" name="Google Shape;1035;p53"/>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036" name="Google Shape;1036;p53"/>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037" name="Google Shape;1037;p53"/>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038" name="Google Shape;1038;p53"/>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039" name="Google Shape;1039;p53"/>
          <p:cNvSpPr txBox="1"/>
          <p:nvPr/>
        </p:nvSpPr>
        <p:spPr>
          <a:xfrm>
            <a:off x="2267171" y="1485472"/>
            <a:ext cx="1468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40" name="Google Shape;1040;p53"/>
          <p:cNvSpPr txBox="1"/>
          <p:nvPr/>
        </p:nvSpPr>
        <p:spPr>
          <a:xfrm>
            <a:off x="8059770" y="1485472"/>
            <a:ext cx="1468200" cy="400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41" name="Google Shape;1041;p53"/>
          <p:cNvPicPr preferRelativeResize="0"/>
          <p:nvPr/>
        </p:nvPicPr>
        <p:blipFill rotWithShape="1">
          <a:blip r:embed="rId11">
            <a:alphaModFix/>
          </a:blip>
          <a:srcRect b="0" l="51489" r="9404" t="7515"/>
          <a:stretch/>
        </p:blipFill>
        <p:spPr>
          <a:xfrm>
            <a:off x="617240" y="1998833"/>
            <a:ext cx="4768010" cy="4526374"/>
          </a:xfrm>
          <a:prstGeom prst="rect">
            <a:avLst/>
          </a:prstGeom>
          <a:noFill/>
          <a:ln>
            <a:noFill/>
          </a:ln>
        </p:spPr>
      </p:pic>
      <p:pic>
        <p:nvPicPr>
          <p:cNvPr id="1042" name="Google Shape;1042;p53"/>
          <p:cNvPicPr preferRelativeResize="0"/>
          <p:nvPr/>
        </p:nvPicPr>
        <p:blipFill rotWithShape="1">
          <a:blip r:embed="rId12">
            <a:alphaModFix/>
          </a:blip>
          <a:srcRect b="0" l="51236" r="0" t="7515"/>
          <a:stretch/>
        </p:blipFill>
        <p:spPr>
          <a:xfrm>
            <a:off x="5740366" y="1998833"/>
            <a:ext cx="5945311" cy="4526374"/>
          </a:xfrm>
          <a:prstGeom prst="rect">
            <a:avLst/>
          </a:prstGeom>
          <a:noFill/>
          <a:ln>
            <a:noFill/>
          </a:ln>
        </p:spPr>
      </p:pic>
      <p:sp>
        <p:nvSpPr>
          <p:cNvPr id="1043" name="Google Shape;1043;p53"/>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7" name="Shape 1047"/>
        <p:cNvGrpSpPr/>
        <p:nvPr/>
      </p:nvGrpSpPr>
      <p:grpSpPr>
        <a:xfrm>
          <a:off x="0" y="0"/>
          <a:ext cx="0" cy="0"/>
          <a:chOff x="0" y="0"/>
          <a:chExt cx="0" cy="0"/>
        </a:xfrm>
      </p:grpSpPr>
      <p:grpSp>
        <p:nvGrpSpPr>
          <p:cNvPr id="1048" name="Google Shape;1048;p54"/>
          <p:cNvGrpSpPr/>
          <p:nvPr/>
        </p:nvGrpSpPr>
        <p:grpSpPr>
          <a:xfrm>
            <a:off x="9664721" y="132225"/>
            <a:ext cx="2449204" cy="341908"/>
            <a:chOff x="9619565" y="209082"/>
            <a:chExt cx="2449204" cy="341908"/>
          </a:xfrm>
        </p:grpSpPr>
        <p:pic>
          <p:nvPicPr>
            <p:cNvPr id="1049" name="Google Shape;1049;p54"/>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050" name="Google Shape;1050;p54"/>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051" name="Google Shape;1051;p54"/>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052" name="Google Shape;1052;p54"/>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053" name="Google Shape;1053;p54"/>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054" name="Google Shape;1054;p54"/>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055" name="Google Shape;1055;p54"/>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056" name="Google Shape;1056;p54"/>
          <p:cNvSpPr txBox="1"/>
          <p:nvPr/>
        </p:nvSpPr>
        <p:spPr>
          <a:xfrm>
            <a:off x="2162294"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57" name="Google Shape;1057;p54"/>
          <p:cNvSpPr txBox="1"/>
          <p:nvPr/>
        </p:nvSpPr>
        <p:spPr>
          <a:xfrm>
            <a:off x="7990743"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58" name="Google Shape;1058;p54"/>
          <p:cNvPicPr preferRelativeResize="0"/>
          <p:nvPr/>
        </p:nvPicPr>
        <p:blipFill rotWithShape="1">
          <a:blip r:embed="rId11">
            <a:alphaModFix/>
          </a:blip>
          <a:srcRect b="0" l="0" r="58539" t="6107"/>
          <a:stretch/>
        </p:blipFill>
        <p:spPr>
          <a:xfrm>
            <a:off x="368926" y="1945266"/>
            <a:ext cx="5054885" cy="4675794"/>
          </a:xfrm>
          <a:prstGeom prst="rect">
            <a:avLst/>
          </a:prstGeom>
          <a:noFill/>
          <a:ln>
            <a:noFill/>
          </a:ln>
        </p:spPr>
      </p:pic>
      <p:pic>
        <p:nvPicPr>
          <p:cNvPr id="1059" name="Google Shape;1059;p54"/>
          <p:cNvPicPr preferRelativeResize="0"/>
          <p:nvPr/>
        </p:nvPicPr>
        <p:blipFill rotWithShape="1">
          <a:blip r:embed="rId12">
            <a:alphaModFix/>
          </a:blip>
          <a:srcRect b="0" l="0" r="48933" t="6107"/>
          <a:stretch/>
        </p:blipFill>
        <p:spPr>
          <a:xfrm>
            <a:off x="5611748" y="1945266"/>
            <a:ext cx="6226139" cy="4675794"/>
          </a:xfrm>
          <a:prstGeom prst="rect">
            <a:avLst/>
          </a:prstGeom>
          <a:noFill/>
          <a:ln>
            <a:noFill/>
          </a:ln>
        </p:spPr>
      </p:pic>
      <p:sp>
        <p:nvSpPr>
          <p:cNvPr id="1060" name="Google Shape;1060;p54"/>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4" name="Shape 1064"/>
        <p:cNvGrpSpPr/>
        <p:nvPr/>
      </p:nvGrpSpPr>
      <p:grpSpPr>
        <a:xfrm>
          <a:off x="0" y="0"/>
          <a:ext cx="0" cy="0"/>
          <a:chOff x="0" y="0"/>
          <a:chExt cx="0" cy="0"/>
        </a:xfrm>
      </p:grpSpPr>
      <p:grpSp>
        <p:nvGrpSpPr>
          <p:cNvPr id="1065" name="Google Shape;1065;p55"/>
          <p:cNvGrpSpPr/>
          <p:nvPr/>
        </p:nvGrpSpPr>
        <p:grpSpPr>
          <a:xfrm>
            <a:off x="9664721" y="132225"/>
            <a:ext cx="2449204" cy="341908"/>
            <a:chOff x="9619565" y="209082"/>
            <a:chExt cx="2449204" cy="341908"/>
          </a:xfrm>
        </p:grpSpPr>
        <p:pic>
          <p:nvPicPr>
            <p:cNvPr id="1066" name="Google Shape;1066;p55"/>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067" name="Google Shape;1067;p55"/>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068" name="Google Shape;1068;p55"/>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069" name="Google Shape;1069;p55"/>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070" name="Google Shape;1070;p55"/>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071" name="Google Shape;1071;p55"/>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072" name="Google Shape;1072;p55"/>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073" name="Google Shape;1073;p55"/>
          <p:cNvSpPr txBox="1"/>
          <p:nvPr/>
        </p:nvSpPr>
        <p:spPr>
          <a:xfrm>
            <a:off x="2223938"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74" name="Google Shape;1074;p55"/>
          <p:cNvSpPr txBox="1"/>
          <p:nvPr/>
        </p:nvSpPr>
        <p:spPr>
          <a:xfrm>
            <a:off x="8052387"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75" name="Google Shape;1075;p55"/>
          <p:cNvPicPr preferRelativeResize="0"/>
          <p:nvPr/>
        </p:nvPicPr>
        <p:blipFill rotWithShape="1">
          <a:blip r:embed="rId11">
            <a:alphaModFix/>
          </a:blip>
          <a:srcRect b="0" l="50000" r="7809" t="5489"/>
          <a:stretch/>
        </p:blipFill>
        <p:spPr>
          <a:xfrm>
            <a:off x="386049" y="1945266"/>
            <a:ext cx="5143928" cy="4706616"/>
          </a:xfrm>
          <a:prstGeom prst="rect">
            <a:avLst/>
          </a:prstGeom>
          <a:noFill/>
          <a:ln>
            <a:noFill/>
          </a:ln>
        </p:spPr>
      </p:pic>
      <p:pic>
        <p:nvPicPr>
          <p:cNvPr id="1076" name="Google Shape;1076;p55"/>
          <p:cNvPicPr preferRelativeResize="0"/>
          <p:nvPr/>
        </p:nvPicPr>
        <p:blipFill rotWithShape="1">
          <a:blip r:embed="rId12">
            <a:alphaModFix/>
          </a:blip>
          <a:srcRect b="0" l="50000" r="0" t="5489"/>
          <a:stretch/>
        </p:blipFill>
        <p:spPr>
          <a:xfrm>
            <a:off x="5738462" y="1945266"/>
            <a:ext cx="6096000" cy="4706616"/>
          </a:xfrm>
          <a:prstGeom prst="rect">
            <a:avLst/>
          </a:prstGeom>
          <a:noFill/>
          <a:ln>
            <a:noFill/>
          </a:ln>
        </p:spPr>
      </p:pic>
      <p:sp>
        <p:nvSpPr>
          <p:cNvPr id="1077" name="Google Shape;1077;p55"/>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81" name="Shape 1081"/>
        <p:cNvGrpSpPr/>
        <p:nvPr/>
      </p:nvGrpSpPr>
      <p:grpSpPr>
        <a:xfrm>
          <a:off x="0" y="0"/>
          <a:ext cx="0" cy="0"/>
          <a:chOff x="0" y="0"/>
          <a:chExt cx="0" cy="0"/>
        </a:xfrm>
      </p:grpSpPr>
      <p:grpSp>
        <p:nvGrpSpPr>
          <p:cNvPr id="1082" name="Google Shape;1082;p56"/>
          <p:cNvGrpSpPr/>
          <p:nvPr/>
        </p:nvGrpSpPr>
        <p:grpSpPr>
          <a:xfrm>
            <a:off x="9664721" y="132225"/>
            <a:ext cx="2449204" cy="341908"/>
            <a:chOff x="9619565" y="209082"/>
            <a:chExt cx="2449204" cy="341908"/>
          </a:xfrm>
        </p:grpSpPr>
        <p:pic>
          <p:nvPicPr>
            <p:cNvPr id="1083" name="Google Shape;1083;p56"/>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1084" name="Google Shape;1084;p56"/>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1085" name="Google Shape;1085;p56"/>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1086" name="Google Shape;1086;p56"/>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1087" name="Google Shape;1087;p56"/>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1088" name="Google Shape;1088;p56"/>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1089" name="Google Shape;1089;p56"/>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sp>
        <p:nvSpPr>
          <p:cNvPr id="1090" name="Google Shape;1090;p56"/>
          <p:cNvSpPr txBox="1"/>
          <p:nvPr/>
        </p:nvSpPr>
        <p:spPr>
          <a:xfrm>
            <a:off x="2111862"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091" name="Google Shape;1091;p56"/>
          <p:cNvSpPr txBox="1"/>
          <p:nvPr/>
        </p:nvSpPr>
        <p:spPr>
          <a:xfrm>
            <a:off x="8036634"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092" name="Google Shape;1092;p56"/>
          <p:cNvPicPr preferRelativeResize="0"/>
          <p:nvPr/>
        </p:nvPicPr>
        <p:blipFill rotWithShape="1">
          <a:blip r:embed="rId10">
            <a:alphaModFix/>
          </a:blip>
          <a:srcRect b="0" l="0" r="58202" t="5623"/>
          <a:stretch/>
        </p:blipFill>
        <p:spPr>
          <a:xfrm>
            <a:off x="297946" y="1945265"/>
            <a:ext cx="5095982" cy="4714161"/>
          </a:xfrm>
          <a:prstGeom prst="rect">
            <a:avLst/>
          </a:prstGeom>
          <a:noFill/>
          <a:ln>
            <a:noFill/>
          </a:ln>
        </p:spPr>
      </p:pic>
      <p:pic>
        <p:nvPicPr>
          <p:cNvPr id="1093" name="Google Shape;1093;p56"/>
          <p:cNvPicPr preferRelativeResize="0"/>
          <p:nvPr/>
        </p:nvPicPr>
        <p:blipFill rotWithShape="1">
          <a:blip r:embed="rId11">
            <a:alphaModFix/>
          </a:blip>
          <a:srcRect b="0" l="0" r="47753" t="6240"/>
          <a:stretch/>
        </p:blipFill>
        <p:spPr>
          <a:xfrm>
            <a:off x="5585720" y="1945265"/>
            <a:ext cx="6369978" cy="4683339"/>
          </a:xfrm>
          <a:prstGeom prst="rect">
            <a:avLst/>
          </a:prstGeom>
          <a:noFill/>
          <a:ln>
            <a:noFill/>
          </a:ln>
        </p:spPr>
      </p:pic>
      <p:sp>
        <p:nvSpPr>
          <p:cNvPr id="1094" name="Google Shape;1094;p56"/>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098" name="Shape 1098"/>
        <p:cNvGrpSpPr/>
        <p:nvPr/>
      </p:nvGrpSpPr>
      <p:grpSpPr>
        <a:xfrm>
          <a:off x="0" y="0"/>
          <a:ext cx="0" cy="0"/>
          <a:chOff x="0" y="0"/>
          <a:chExt cx="0" cy="0"/>
        </a:xfrm>
      </p:grpSpPr>
      <p:grpSp>
        <p:nvGrpSpPr>
          <p:cNvPr id="1099" name="Google Shape;1099;p57"/>
          <p:cNvGrpSpPr/>
          <p:nvPr/>
        </p:nvGrpSpPr>
        <p:grpSpPr>
          <a:xfrm>
            <a:off x="9664721" y="132225"/>
            <a:ext cx="2449204" cy="341908"/>
            <a:chOff x="9619565" y="209082"/>
            <a:chExt cx="2449204" cy="341908"/>
          </a:xfrm>
        </p:grpSpPr>
        <p:pic>
          <p:nvPicPr>
            <p:cNvPr id="1100" name="Google Shape;1100;p57"/>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1101" name="Google Shape;1101;p57"/>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1102" name="Google Shape;1102;p57"/>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1103" name="Google Shape;1103;p57"/>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1104" name="Google Shape;1104;p57"/>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1105" name="Google Shape;1105;p57"/>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1106" name="Google Shape;1106;p57"/>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sp>
        <p:nvSpPr>
          <p:cNvPr id="1107" name="Google Shape;1107;p57"/>
          <p:cNvSpPr txBox="1"/>
          <p:nvPr/>
        </p:nvSpPr>
        <p:spPr>
          <a:xfrm>
            <a:off x="2182842"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NMF</a:t>
            </a:r>
            <a:endParaRPr b="1" i="0" sz="1600" u="none" cap="none" strike="noStrike">
              <a:solidFill>
                <a:srgbClr val="000000"/>
              </a:solidFill>
              <a:latin typeface="Arial"/>
              <a:ea typeface="Arial"/>
              <a:cs typeface="Arial"/>
              <a:sym typeface="Arial"/>
            </a:endParaRPr>
          </a:p>
        </p:txBody>
      </p:sp>
      <p:sp>
        <p:nvSpPr>
          <p:cNvPr id="1108" name="Google Shape;1108;p57"/>
          <p:cNvSpPr txBox="1"/>
          <p:nvPr/>
        </p:nvSpPr>
        <p:spPr>
          <a:xfrm>
            <a:off x="8032031" y="1545197"/>
            <a:ext cx="1468150" cy="40006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PCA</a:t>
            </a:r>
            <a:endParaRPr b="1" i="0" sz="1600" u="none" cap="none" strike="noStrike">
              <a:solidFill>
                <a:srgbClr val="000000"/>
              </a:solidFill>
              <a:latin typeface="Arial"/>
              <a:ea typeface="Arial"/>
              <a:cs typeface="Arial"/>
              <a:sym typeface="Arial"/>
            </a:endParaRPr>
          </a:p>
        </p:txBody>
      </p:sp>
      <p:pic>
        <p:nvPicPr>
          <p:cNvPr id="1109" name="Google Shape;1109;p57"/>
          <p:cNvPicPr preferRelativeResize="0"/>
          <p:nvPr/>
        </p:nvPicPr>
        <p:blipFill rotWithShape="1">
          <a:blip r:embed="rId10">
            <a:alphaModFix/>
          </a:blip>
          <a:srcRect b="0" l="50730" r="6683" t="6240"/>
          <a:stretch/>
        </p:blipFill>
        <p:spPr>
          <a:xfrm>
            <a:off x="320847" y="1945266"/>
            <a:ext cx="5192140" cy="4683339"/>
          </a:xfrm>
          <a:prstGeom prst="rect">
            <a:avLst/>
          </a:prstGeom>
          <a:noFill/>
          <a:ln>
            <a:noFill/>
          </a:ln>
        </p:spPr>
      </p:pic>
      <p:pic>
        <p:nvPicPr>
          <p:cNvPr id="1110" name="Google Shape;1110;p57"/>
          <p:cNvPicPr preferRelativeResize="0"/>
          <p:nvPr/>
        </p:nvPicPr>
        <p:blipFill rotWithShape="1">
          <a:blip r:embed="rId11">
            <a:alphaModFix/>
          </a:blip>
          <a:srcRect b="0" l="50000" r="0" t="6240"/>
          <a:stretch/>
        </p:blipFill>
        <p:spPr>
          <a:xfrm>
            <a:off x="5718106" y="1945265"/>
            <a:ext cx="6096000" cy="4683339"/>
          </a:xfrm>
          <a:prstGeom prst="rect">
            <a:avLst/>
          </a:prstGeom>
          <a:noFill/>
          <a:ln>
            <a:noFill/>
          </a:ln>
        </p:spPr>
      </p:pic>
      <p:sp>
        <p:nvSpPr>
          <p:cNvPr id="1111" name="Google Shape;1111;p57"/>
          <p:cNvSpPr txBox="1"/>
          <p:nvPr/>
        </p:nvSpPr>
        <p:spPr>
          <a:xfrm>
            <a:off x="731520" y="457200"/>
            <a:ext cx="8229600"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GMM analyze K = 3 </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5" name="Shape 1115"/>
        <p:cNvGrpSpPr/>
        <p:nvPr/>
      </p:nvGrpSpPr>
      <p:grpSpPr>
        <a:xfrm>
          <a:off x="0" y="0"/>
          <a:ext cx="0" cy="0"/>
          <a:chOff x="0" y="0"/>
          <a:chExt cx="0" cy="0"/>
        </a:xfrm>
      </p:grpSpPr>
      <p:sp>
        <p:nvSpPr>
          <p:cNvPr id="1116" name="Google Shape;1116;p67"/>
          <p:cNvSpPr txBox="1"/>
          <p:nvPr/>
        </p:nvSpPr>
        <p:spPr>
          <a:xfrm>
            <a:off x="731520" y="457200"/>
            <a:ext cx="5258171" cy="80017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Comparison – PCA and NMF</a:t>
            </a:r>
            <a:endParaRPr b="0" i="0" sz="2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F8FAFC"/>
                </a:solidFill>
                <a:latin typeface="Poppins"/>
                <a:ea typeface="Poppins"/>
                <a:cs typeface="Poppins"/>
                <a:sym typeface="Poppins"/>
              </a:rPr>
              <a:t>conclusions</a:t>
            </a:r>
            <a:endParaRPr b="0" i="0" sz="1100" u="none" cap="none" strike="noStrike">
              <a:solidFill>
                <a:srgbClr val="000000"/>
              </a:solidFill>
              <a:latin typeface="Arial"/>
              <a:ea typeface="Arial"/>
              <a:cs typeface="Arial"/>
              <a:sym typeface="Arial"/>
            </a:endParaRPr>
          </a:p>
        </p:txBody>
      </p:sp>
      <p:grpSp>
        <p:nvGrpSpPr>
          <p:cNvPr id="1117" name="Google Shape;1117;p67"/>
          <p:cNvGrpSpPr/>
          <p:nvPr/>
        </p:nvGrpSpPr>
        <p:grpSpPr>
          <a:xfrm>
            <a:off x="9664721" y="132225"/>
            <a:ext cx="2449204" cy="341908"/>
            <a:chOff x="9619565" y="209082"/>
            <a:chExt cx="2449204" cy="341908"/>
          </a:xfrm>
        </p:grpSpPr>
        <p:pic>
          <p:nvPicPr>
            <p:cNvPr id="1118" name="Google Shape;1118;p67"/>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1119" name="Google Shape;1119;p67"/>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1120" name="Google Shape;1120;p67"/>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1121" name="Google Shape;1121;p67"/>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1122" name="Google Shape;1122;p67"/>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1123" name="Google Shape;1123;p67"/>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1124" name="Google Shape;1124;p67"/>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grpSp>
        <p:nvGrpSpPr>
          <p:cNvPr id="1125" name="Google Shape;1125;p67"/>
          <p:cNvGrpSpPr/>
          <p:nvPr/>
        </p:nvGrpSpPr>
        <p:grpSpPr>
          <a:xfrm>
            <a:off x="78248" y="1968848"/>
            <a:ext cx="12035513" cy="3381160"/>
            <a:chOff x="78255" y="1520168"/>
            <a:chExt cx="12035513" cy="3381160"/>
          </a:xfrm>
        </p:grpSpPr>
        <p:grpSp>
          <p:nvGrpSpPr>
            <p:cNvPr id="1126" name="Google Shape;1126;p67"/>
            <p:cNvGrpSpPr/>
            <p:nvPr/>
          </p:nvGrpSpPr>
          <p:grpSpPr>
            <a:xfrm>
              <a:off x="78255" y="1520168"/>
              <a:ext cx="4403100" cy="3369852"/>
              <a:chOff x="245765" y="1339631"/>
              <a:chExt cx="4403100" cy="3369852"/>
            </a:xfrm>
          </p:grpSpPr>
          <p:grpSp>
            <p:nvGrpSpPr>
              <p:cNvPr id="1127" name="Google Shape;1127;p67"/>
              <p:cNvGrpSpPr/>
              <p:nvPr/>
            </p:nvGrpSpPr>
            <p:grpSpPr>
              <a:xfrm>
                <a:off x="245765" y="1339631"/>
                <a:ext cx="4403100" cy="492367"/>
                <a:chOff x="-172853" y="1803854"/>
                <a:chExt cx="4403100" cy="711000"/>
              </a:xfrm>
            </p:grpSpPr>
            <p:sp>
              <p:nvSpPr>
                <p:cNvPr id="1128" name="Google Shape;1128;p67"/>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29" name="Google Shape;1129;p67"/>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Consistent Core Clustering</a:t>
                  </a:r>
                  <a:endParaRPr b="0" i="0" sz="1400" u="none" cap="none" strike="noStrike">
                    <a:solidFill>
                      <a:srgbClr val="000000"/>
                    </a:solidFill>
                    <a:latin typeface="Arial"/>
                    <a:ea typeface="Arial"/>
                    <a:cs typeface="Arial"/>
                    <a:sym typeface="Arial"/>
                  </a:endParaRPr>
                </a:p>
              </p:txBody>
            </p:sp>
          </p:grpSp>
          <p:grpSp>
            <p:nvGrpSpPr>
              <p:cNvPr id="1130" name="Google Shape;1130;p67"/>
              <p:cNvGrpSpPr/>
              <p:nvPr/>
            </p:nvGrpSpPr>
            <p:grpSpPr>
              <a:xfrm>
                <a:off x="727416" y="2080883"/>
                <a:ext cx="3439800" cy="2628600"/>
                <a:chOff x="727417" y="2080883"/>
                <a:chExt cx="3439800" cy="2628600"/>
              </a:xfrm>
            </p:grpSpPr>
            <p:sp>
              <p:nvSpPr>
                <p:cNvPr id="1131" name="Google Shape;1131;p67"/>
                <p:cNvSpPr/>
                <p:nvPr/>
              </p:nvSpPr>
              <p:spPr>
                <a:xfrm>
                  <a:off x="727417" y="2080883"/>
                  <a:ext cx="3439800" cy="26286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2" name="Google Shape;1132;p67"/>
                <p:cNvSpPr txBox="1"/>
                <p:nvPr/>
              </p:nvSpPr>
              <p:spPr>
                <a:xfrm>
                  <a:off x="727417" y="2228033"/>
                  <a:ext cx="3439800" cy="16311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rgbClr val="FFFFFF"/>
                      </a:solidFill>
                      <a:latin typeface="Calibri"/>
                      <a:ea typeface="Calibri"/>
                      <a:cs typeface="Calibri"/>
                      <a:sym typeface="Calibri"/>
                    </a:rPr>
                    <a:t>Both PCA and NMF produced highly comparable clustering results at K=3, with only minor variations in specific social media platform distributions</a:t>
                  </a:r>
                  <a:endParaRPr b="0" i="0" sz="2000" u="none" cap="none" strike="noStrike">
                    <a:solidFill>
                      <a:srgbClr val="000000"/>
                    </a:solidFill>
                    <a:latin typeface="Arial"/>
                    <a:ea typeface="Arial"/>
                    <a:cs typeface="Arial"/>
                    <a:sym typeface="Arial"/>
                  </a:endParaRPr>
                </a:p>
              </p:txBody>
            </p:sp>
          </p:grpSp>
        </p:grpSp>
        <p:grpSp>
          <p:nvGrpSpPr>
            <p:cNvPr id="1133" name="Google Shape;1133;p67"/>
            <p:cNvGrpSpPr/>
            <p:nvPr/>
          </p:nvGrpSpPr>
          <p:grpSpPr>
            <a:xfrm>
              <a:off x="3894461" y="1520168"/>
              <a:ext cx="4403100" cy="3381160"/>
              <a:chOff x="4086587" y="1339631"/>
              <a:chExt cx="4403100" cy="3381160"/>
            </a:xfrm>
          </p:grpSpPr>
          <p:grpSp>
            <p:nvGrpSpPr>
              <p:cNvPr id="1134" name="Google Shape;1134;p67"/>
              <p:cNvGrpSpPr/>
              <p:nvPr/>
            </p:nvGrpSpPr>
            <p:grpSpPr>
              <a:xfrm>
                <a:off x="4086587" y="1339631"/>
                <a:ext cx="4403100" cy="492367"/>
                <a:chOff x="-172853" y="1803854"/>
                <a:chExt cx="4403100" cy="711000"/>
              </a:xfrm>
            </p:grpSpPr>
            <p:sp>
              <p:nvSpPr>
                <p:cNvPr id="1135" name="Google Shape;1135;p67"/>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6" name="Google Shape;1136;p67"/>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Non-Negativity Advantage</a:t>
                  </a:r>
                  <a:endParaRPr b="0" i="0" sz="1400" u="none" cap="none" strike="noStrike">
                    <a:solidFill>
                      <a:srgbClr val="000000"/>
                    </a:solidFill>
                    <a:latin typeface="Arial"/>
                    <a:ea typeface="Arial"/>
                    <a:cs typeface="Arial"/>
                    <a:sym typeface="Arial"/>
                  </a:endParaRPr>
                </a:p>
              </p:txBody>
            </p:sp>
          </p:grpSp>
          <p:grpSp>
            <p:nvGrpSpPr>
              <p:cNvPr id="1137" name="Google Shape;1137;p67"/>
              <p:cNvGrpSpPr/>
              <p:nvPr/>
            </p:nvGrpSpPr>
            <p:grpSpPr>
              <a:xfrm>
                <a:off x="4568232" y="2080883"/>
                <a:ext cx="3439801" cy="2639908"/>
                <a:chOff x="727410" y="2080883"/>
                <a:chExt cx="3439801" cy="2639908"/>
              </a:xfrm>
            </p:grpSpPr>
            <p:sp>
              <p:nvSpPr>
                <p:cNvPr id="1138" name="Google Shape;1138;p67"/>
                <p:cNvSpPr/>
                <p:nvPr/>
              </p:nvSpPr>
              <p:spPr>
                <a:xfrm>
                  <a:off x="727411" y="2080883"/>
                  <a:ext cx="3439800" cy="26286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39" name="Google Shape;1139;p67"/>
                <p:cNvSpPr txBox="1"/>
                <p:nvPr/>
              </p:nvSpPr>
              <p:spPr>
                <a:xfrm>
                  <a:off x="727410" y="2166286"/>
                  <a:ext cx="3439800" cy="255450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2000" u="none" cap="none" strike="noStrike">
                      <a:solidFill>
                        <a:schemeClr val="lt1"/>
                      </a:solidFill>
                      <a:latin typeface="Calibri"/>
                      <a:ea typeface="Calibri"/>
                      <a:cs typeface="Calibri"/>
                      <a:sym typeface="Calibri"/>
                    </a:rPr>
                    <a:t>We selected NMF for the final analysis because it strictly uses positive values. This perfectly reflects the physical reality of our dataset, where metrics like screen time, age, and interaction counts cannot be negative</a:t>
                  </a:r>
                  <a:endParaRPr b="0" i="0" sz="2000" u="none" cap="none" strike="noStrike">
                    <a:solidFill>
                      <a:schemeClr val="dk1"/>
                    </a:solidFill>
                    <a:latin typeface="Arial"/>
                    <a:ea typeface="Arial"/>
                    <a:cs typeface="Arial"/>
                    <a:sym typeface="Arial"/>
                  </a:endParaRPr>
                </a:p>
              </p:txBody>
            </p:sp>
          </p:grpSp>
        </p:grpSp>
        <p:grpSp>
          <p:nvGrpSpPr>
            <p:cNvPr id="1140" name="Google Shape;1140;p67"/>
            <p:cNvGrpSpPr/>
            <p:nvPr/>
          </p:nvGrpSpPr>
          <p:grpSpPr>
            <a:xfrm>
              <a:off x="7710668" y="1520168"/>
              <a:ext cx="4403100" cy="3369853"/>
              <a:chOff x="7927409" y="1339631"/>
              <a:chExt cx="4403100" cy="3369853"/>
            </a:xfrm>
          </p:grpSpPr>
          <p:grpSp>
            <p:nvGrpSpPr>
              <p:cNvPr id="1141" name="Google Shape;1141;p67"/>
              <p:cNvGrpSpPr/>
              <p:nvPr/>
            </p:nvGrpSpPr>
            <p:grpSpPr>
              <a:xfrm>
                <a:off x="7927409" y="1339631"/>
                <a:ext cx="4403100" cy="492367"/>
                <a:chOff x="-172853" y="1803854"/>
                <a:chExt cx="4403100" cy="711000"/>
              </a:xfrm>
            </p:grpSpPr>
            <p:sp>
              <p:nvSpPr>
                <p:cNvPr id="1142" name="Google Shape;1142;p67"/>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3" name="Google Shape;1143;p67"/>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Interpretable Archetypes</a:t>
                  </a:r>
                  <a:endParaRPr b="1" i="0" sz="2000" u="none" cap="none" strike="noStrike">
                    <a:solidFill>
                      <a:schemeClr val="lt1"/>
                    </a:solidFill>
                    <a:latin typeface="Calibri"/>
                    <a:ea typeface="Calibri"/>
                    <a:cs typeface="Calibri"/>
                    <a:sym typeface="Calibri"/>
                  </a:endParaRPr>
                </a:p>
              </p:txBody>
            </p:sp>
          </p:grpSp>
          <p:grpSp>
            <p:nvGrpSpPr>
              <p:cNvPr id="1144" name="Google Shape;1144;p67"/>
              <p:cNvGrpSpPr/>
              <p:nvPr/>
            </p:nvGrpSpPr>
            <p:grpSpPr>
              <a:xfrm>
                <a:off x="8409048" y="2080884"/>
                <a:ext cx="3439800" cy="2628600"/>
                <a:chOff x="727404" y="2080884"/>
                <a:chExt cx="3439800" cy="2628600"/>
              </a:xfrm>
            </p:grpSpPr>
            <p:sp>
              <p:nvSpPr>
                <p:cNvPr id="1145" name="Google Shape;1145;p67"/>
                <p:cNvSpPr/>
                <p:nvPr/>
              </p:nvSpPr>
              <p:spPr>
                <a:xfrm>
                  <a:off x="727404" y="2080884"/>
                  <a:ext cx="3439800" cy="2628600"/>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146" name="Google Shape;1146;p67"/>
                <p:cNvSpPr txBox="1"/>
                <p:nvPr/>
              </p:nvSpPr>
              <p:spPr>
                <a:xfrm>
                  <a:off x="727404" y="2228033"/>
                  <a:ext cx="3439800" cy="224672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800"/>
                    <a:buFont typeface="Arial"/>
                    <a:buNone/>
                  </a:pPr>
                  <a:r>
                    <a:rPr b="0" i="0" lang="en-US" sz="2000" u="none" cap="none" strike="noStrike">
                      <a:solidFill>
                        <a:schemeClr val="lt1"/>
                      </a:solidFill>
                      <a:latin typeface="Calibri"/>
                      <a:ea typeface="Calibri"/>
                      <a:cs typeface="Calibri"/>
                      <a:sym typeface="Calibri"/>
                    </a:rPr>
                    <a:t>By using an additive-only approach, NMF constructs "pure" user profiles rather than abstract mathematical components, making the behavioral segments much easier to interpret and analyze</a:t>
                  </a:r>
                  <a:endParaRPr b="0" i="0" sz="2000" u="none" cap="none" strike="noStrike">
                    <a:solidFill>
                      <a:srgbClr val="FFFFFF"/>
                    </a:solidFill>
                    <a:latin typeface="Calibri"/>
                    <a:ea typeface="Calibri"/>
                    <a:cs typeface="Calibri"/>
                    <a:sym typeface="Calibri"/>
                  </a:endParaRPr>
                </a:p>
              </p:txBody>
            </p:sp>
          </p:grpSp>
        </p:grpSp>
      </p:gr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0" name="Shape 1150"/>
        <p:cNvGrpSpPr/>
        <p:nvPr/>
      </p:nvGrpSpPr>
      <p:grpSpPr>
        <a:xfrm>
          <a:off x="0" y="0"/>
          <a:ext cx="0" cy="0"/>
          <a:chOff x="0" y="0"/>
          <a:chExt cx="0" cy="0"/>
        </a:xfrm>
      </p:grpSpPr>
      <p:sp>
        <p:nvSpPr>
          <p:cNvPr id="1151" name="Google Shape;1151;p45"/>
          <p:cNvSpPr/>
          <p:nvPr/>
        </p:nvSpPr>
        <p:spPr>
          <a:xfrm flipH="1" rot="10800000">
            <a:off x="1799687" y="3166004"/>
            <a:ext cx="8683917" cy="101071"/>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nvGrpSpPr>
          <p:cNvPr id="1152" name="Google Shape;1152;p45"/>
          <p:cNvGrpSpPr/>
          <p:nvPr/>
        </p:nvGrpSpPr>
        <p:grpSpPr>
          <a:xfrm>
            <a:off x="1831097" y="2905125"/>
            <a:ext cx="1289729" cy="1116949"/>
            <a:chOff x="793409" y="2905125"/>
            <a:chExt cx="1289729" cy="1116949"/>
          </a:xfrm>
        </p:grpSpPr>
        <p:sp>
          <p:nvSpPr>
            <p:cNvPr id="1153" name="Google Shape;1153;p45"/>
            <p:cNvSpPr txBox="1"/>
            <p:nvPr/>
          </p:nvSpPr>
          <p:spPr>
            <a:xfrm>
              <a:off x="793409" y="3800475"/>
              <a:ext cx="1289729"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Variance</a:t>
              </a:r>
              <a:endParaRPr b="0" i="0" sz="1800" u="none" cap="none" strike="noStrike">
                <a:solidFill>
                  <a:schemeClr val="lt1"/>
                </a:solidFill>
                <a:latin typeface="Calibri"/>
                <a:ea typeface="Calibri"/>
                <a:cs typeface="Calibri"/>
                <a:sym typeface="Calibri"/>
              </a:endParaRPr>
            </a:p>
          </p:txBody>
        </p:sp>
        <p:grpSp>
          <p:nvGrpSpPr>
            <p:cNvPr id="1154" name="Google Shape;1154;p45"/>
            <p:cNvGrpSpPr/>
            <p:nvPr/>
          </p:nvGrpSpPr>
          <p:grpSpPr>
            <a:xfrm>
              <a:off x="1057275" y="2905125"/>
              <a:ext cx="762000" cy="762000"/>
              <a:chOff x="1057275" y="2905125"/>
              <a:chExt cx="762000" cy="762000"/>
            </a:xfrm>
          </p:grpSpPr>
          <p:pic>
            <p:nvPicPr>
              <p:cNvPr descr="image.png" id="1155" name="Google Shape;1155;p45"/>
              <p:cNvPicPr preferRelativeResize="0"/>
              <p:nvPr/>
            </p:nvPicPr>
            <p:blipFill rotWithShape="1">
              <a:blip r:embed="rId3">
                <a:alphaModFix/>
              </a:blip>
              <a:srcRect b="0" l="0" r="0" t="0"/>
              <a:stretch/>
            </p:blipFill>
            <p:spPr>
              <a:xfrm>
                <a:off x="1057275" y="2905125"/>
                <a:ext cx="762000" cy="762000"/>
              </a:xfrm>
              <a:prstGeom prst="rect">
                <a:avLst/>
              </a:prstGeom>
              <a:noFill/>
              <a:ln>
                <a:noFill/>
              </a:ln>
            </p:spPr>
          </p:pic>
          <p:pic>
            <p:nvPicPr>
              <p:cNvPr descr="image.png" id="1156" name="Google Shape;1156;p45"/>
              <p:cNvPicPr preferRelativeResize="0"/>
              <p:nvPr/>
            </p:nvPicPr>
            <p:blipFill rotWithShape="1">
              <a:blip r:embed="rId4">
                <a:alphaModFix/>
              </a:blip>
              <a:srcRect b="0" l="0" r="0" t="0"/>
              <a:stretch/>
            </p:blipFill>
            <p:spPr>
              <a:xfrm>
                <a:off x="1338262" y="3171825"/>
                <a:ext cx="200025" cy="228600"/>
              </a:xfrm>
              <a:prstGeom prst="rect">
                <a:avLst/>
              </a:prstGeom>
              <a:noFill/>
              <a:ln>
                <a:noFill/>
              </a:ln>
            </p:spPr>
          </p:pic>
        </p:grpSp>
      </p:grpSp>
      <p:grpSp>
        <p:nvGrpSpPr>
          <p:cNvPr id="1157" name="Google Shape;1157;p45"/>
          <p:cNvGrpSpPr/>
          <p:nvPr/>
        </p:nvGrpSpPr>
        <p:grpSpPr>
          <a:xfrm>
            <a:off x="6099957" y="2909889"/>
            <a:ext cx="1200150" cy="1374124"/>
            <a:chOff x="4518594" y="2886075"/>
            <a:chExt cx="1200150" cy="1374124"/>
          </a:xfrm>
        </p:grpSpPr>
        <p:sp>
          <p:nvSpPr>
            <p:cNvPr id="1158" name="Google Shape;1158;p45"/>
            <p:cNvSpPr txBox="1"/>
            <p:nvPr/>
          </p:nvSpPr>
          <p:spPr>
            <a:xfrm>
              <a:off x="4518594" y="3817001"/>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Choosing</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 K</a:t>
              </a:r>
              <a:endParaRPr b="0" i="0" sz="1800" u="none" cap="none" strike="noStrike">
                <a:solidFill>
                  <a:schemeClr val="lt1"/>
                </a:solidFill>
                <a:latin typeface="Calibri"/>
                <a:ea typeface="Calibri"/>
                <a:cs typeface="Calibri"/>
                <a:sym typeface="Calibri"/>
              </a:endParaRPr>
            </a:p>
          </p:txBody>
        </p:sp>
        <p:grpSp>
          <p:nvGrpSpPr>
            <p:cNvPr id="1159" name="Google Shape;1159;p45"/>
            <p:cNvGrpSpPr/>
            <p:nvPr/>
          </p:nvGrpSpPr>
          <p:grpSpPr>
            <a:xfrm>
              <a:off x="4737669" y="2886075"/>
              <a:ext cx="762000" cy="762000"/>
              <a:chOff x="4737669" y="2886075"/>
              <a:chExt cx="762000" cy="762000"/>
            </a:xfrm>
          </p:grpSpPr>
          <p:pic>
            <p:nvPicPr>
              <p:cNvPr descr="image.png" id="1160" name="Google Shape;1160;p45"/>
              <p:cNvPicPr preferRelativeResize="0"/>
              <p:nvPr/>
            </p:nvPicPr>
            <p:blipFill rotWithShape="1">
              <a:blip r:embed="rId5">
                <a:alphaModFix/>
              </a:blip>
              <a:srcRect b="0" l="0" r="0" t="0"/>
              <a:stretch/>
            </p:blipFill>
            <p:spPr>
              <a:xfrm>
                <a:off x="4737669" y="2886075"/>
                <a:ext cx="762000" cy="762000"/>
              </a:xfrm>
              <a:prstGeom prst="rect">
                <a:avLst/>
              </a:prstGeom>
              <a:noFill/>
              <a:ln>
                <a:noFill/>
              </a:ln>
            </p:spPr>
          </p:pic>
          <p:pic>
            <p:nvPicPr>
              <p:cNvPr descr="image.png" id="1161" name="Google Shape;1161;p45"/>
              <p:cNvPicPr preferRelativeResize="0"/>
              <p:nvPr/>
            </p:nvPicPr>
            <p:blipFill rotWithShape="1">
              <a:blip r:embed="rId6">
                <a:alphaModFix/>
              </a:blip>
              <a:srcRect b="0" l="0" r="0" t="0"/>
              <a:stretch/>
            </p:blipFill>
            <p:spPr>
              <a:xfrm>
                <a:off x="4981575" y="3143537"/>
                <a:ext cx="228600" cy="228600"/>
              </a:xfrm>
              <a:prstGeom prst="rect">
                <a:avLst/>
              </a:prstGeom>
              <a:noFill/>
              <a:ln>
                <a:noFill/>
              </a:ln>
            </p:spPr>
          </p:pic>
        </p:grpSp>
      </p:grpSp>
      <p:grpSp>
        <p:nvGrpSpPr>
          <p:cNvPr id="1162" name="Google Shape;1162;p45"/>
          <p:cNvGrpSpPr/>
          <p:nvPr/>
        </p:nvGrpSpPr>
        <p:grpSpPr>
          <a:xfrm>
            <a:off x="2141393" y="2026386"/>
            <a:ext cx="3499418" cy="648950"/>
            <a:chOff x="1066800" y="565507"/>
            <a:chExt cx="4140485" cy="710843"/>
          </a:xfrm>
        </p:grpSpPr>
        <p:sp>
          <p:nvSpPr>
            <p:cNvPr id="1163" name="Google Shape;1163;p45"/>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64" name="Google Shape;1164;p45"/>
            <p:cNvSpPr txBox="1"/>
            <p:nvPr/>
          </p:nvSpPr>
          <p:spPr>
            <a:xfrm>
              <a:off x="1906583" y="810128"/>
              <a:ext cx="2388264" cy="221599"/>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PCA</a:t>
              </a:r>
              <a:endParaRPr b="0" i="0" sz="1800" u="none" cap="none" strike="noStrike">
                <a:solidFill>
                  <a:schemeClr val="dk1"/>
                </a:solidFill>
                <a:latin typeface="Calibri"/>
                <a:ea typeface="Calibri"/>
                <a:cs typeface="Calibri"/>
                <a:sym typeface="Calibri"/>
              </a:endParaRPr>
            </a:p>
          </p:txBody>
        </p:sp>
      </p:grpSp>
      <p:grpSp>
        <p:nvGrpSpPr>
          <p:cNvPr id="1165" name="Google Shape;1165;p45"/>
          <p:cNvGrpSpPr/>
          <p:nvPr/>
        </p:nvGrpSpPr>
        <p:grpSpPr>
          <a:xfrm>
            <a:off x="3239908" y="2905125"/>
            <a:ext cx="1289729" cy="1350311"/>
            <a:chOff x="2021196" y="2905125"/>
            <a:chExt cx="1289729" cy="1350311"/>
          </a:xfrm>
        </p:grpSpPr>
        <p:grpSp>
          <p:nvGrpSpPr>
            <p:cNvPr id="1166" name="Google Shape;1166;p45"/>
            <p:cNvGrpSpPr/>
            <p:nvPr/>
          </p:nvGrpSpPr>
          <p:grpSpPr>
            <a:xfrm>
              <a:off x="2284073" y="2905125"/>
              <a:ext cx="762000" cy="762000"/>
              <a:chOff x="2284073" y="2905125"/>
              <a:chExt cx="762000" cy="762000"/>
            </a:xfrm>
          </p:grpSpPr>
          <p:pic>
            <p:nvPicPr>
              <p:cNvPr descr="image.png" id="1167" name="Google Shape;1167;p45"/>
              <p:cNvPicPr preferRelativeResize="0"/>
              <p:nvPr/>
            </p:nvPicPr>
            <p:blipFill rotWithShape="1">
              <a:blip r:embed="rId3">
                <a:alphaModFix/>
              </a:blip>
              <a:srcRect b="0" l="0" r="0" t="0"/>
              <a:stretch/>
            </p:blipFill>
            <p:spPr>
              <a:xfrm>
                <a:off x="2284073" y="2905125"/>
                <a:ext cx="762000" cy="762000"/>
              </a:xfrm>
              <a:prstGeom prst="rect">
                <a:avLst/>
              </a:prstGeom>
              <a:noFill/>
              <a:ln>
                <a:noFill/>
              </a:ln>
            </p:spPr>
          </p:pic>
          <p:pic>
            <p:nvPicPr>
              <p:cNvPr descr="image.png" id="1168" name="Google Shape;1168;p45"/>
              <p:cNvPicPr preferRelativeResize="0"/>
              <p:nvPr/>
            </p:nvPicPr>
            <p:blipFill rotWithShape="1">
              <a:blip r:embed="rId4">
                <a:alphaModFix/>
              </a:blip>
              <a:srcRect b="0" l="0" r="0" t="0"/>
              <a:stretch/>
            </p:blipFill>
            <p:spPr>
              <a:xfrm>
                <a:off x="2565060" y="3171825"/>
                <a:ext cx="200025" cy="228600"/>
              </a:xfrm>
              <a:prstGeom prst="rect">
                <a:avLst/>
              </a:prstGeom>
              <a:noFill/>
              <a:ln>
                <a:noFill/>
              </a:ln>
            </p:spPr>
          </p:pic>
        </p:grpSp>
        <p:sp>
          <p:nvSpPr>
            <p:cNvPr id="1169" name="Google Shape;1169;p45"/>
            <p:cNvSpPr txBox="1"/>
            <p:nvPr/>
          </p:nvSpPr>
          <p:spPr>
            <a:xfrm>
              <a:off x="2021196" y="381223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7 components</a:t>
              </a:r>
              <a:endParaRPr b="0" i="0" sz="1800" u="none" cap="none" strike="noStrike">
                <a:solidFill>
                  <a:schemeClr val="lt1"/>
                </a:solidFill>
                <a:latin typeface="Calibri"/>
                <a:ea typeface="Calibri"/>
                <a:cs typeface="Calibri"/>
                <a:sym typeface="Calibri"/>
              </a:endParaRPr>
            </a:p>
          </p:txBody>
        </p:sp>
      </p:grpSp>
      <p:grpSp>
        <p:nvGrpSpPr>
          <p:cNvPr id="1170" name="Google Shape;1170;p45"/>
          <p:cNvGrpSpPr/>
          <p:nvPr/>
        </p:nvGrpSpPr>
        <p:grpSpPr>
          <a:xfrm>
            <a:off x="4612110" y="2901705"/>
            <a:ext cx="1289729" cy="1342221"/>
            <a:chOff x="3244170" y="2905125"/>
            <a:chExt cx="1289729" cy="1342221"/>
          </a:xfrm>
        </p:grpSpPr>
        <p:grpSp>
          <p:nvGrpSpPr>
            <p:cNvPr id="1171" name="Google Shape;1171;p45"/>
            <p:cNvGrpSpPr/>
            <p:nvPr/>
          </p:nvGrpSpPr>
          <p:grpSpPr>
            <a:xfrm>
              <a:off x="3510871" y="2905125"/>
              <a:ext cx="762000" cy="762000"/>
              <a:chOff x="3510871" y="2905125"/>
              <a:chExt cx="762000" cy="762000"/>
            </a:xfrm>
          </p:grpSpPr>
          <p:pic>
            <p:nvPicPr>
              <p:cNvPr descr="image.png" id="1172" name="Google Shape;1172;p45"/>
              <p:cNvPicPr preferRelativeResize="0"/>
              <p:nvPr/>
            </p:nvPicPr>
            <p:blipFill rotWithShape="1">
              <a:blip r:embed="rId7">
                <a:alphaModFix/>
              </a:blip>
              <a:srcRect b="0" l="0" r="0" t="0"/>
              <a:stretch/>
            </p:blipFill>
            <p:spPr>
              <a:xfrm>
                <a:off x="3510871" y="2905125"/>
                <a:ext cx="762000" cy="762000"/>
              </a:xfrm>
              <a:prstGeom prst="rect">
                <a:avLst/>
              </a:prstGeom>
              <a:noFill/>
              <a:ln>
                <a:noFill/>
              </a:ln>
            </p:spPr>
          </p:pic>
          <p:pic>
            <p:nvPicPr>
              <p:cNvPr descr="image.png" id="1173" name="Google Shape;1173;p45"/>
              <p:cNvPicPr preferRelativeResize="0"/>
              <p:nvPr/>
            </p:nvPicPr>
            <p:blipFill rotWithShape="1">
              <a:blip r:embed="rId4">
                <a:alphaModFix/>
              </a:blip>
              <a:srcRect b="0" l="0" r="0" t="0"/>
              <a:stretch/>
            </p:blipFill>
            <p:spPr>
              <a:xfrm>
                <a:off x="3789023" y="3171825"/>
                <a:ext cx="200025" cy="228600"/>
              </a:xfrm>
              <a:prstGeom prst="rect">
                <a:avLst/>
              </a:prstGeom>
              <a:noFill/>
              <a:ln>
                <a:noFill/>
              </a:ln>
            </p:spPr>
          </p:pic>
        </p:grpSp>
        <p:sp>
          <p:nvSpPr>
            <p:cNvPr id="1174" name="Google Shape;1174;p45"/>
            <p:cNvSpPr txBox="1"/>
            <p:nvPr/>
          </p:nvSpPr>
          <p:spPr>
            <a:xfrm>
              <a:off x="3244170" y="3804148"/>
              <a:ext cx="1289729"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3 components</a:t>
              </a:r>
              <a:endParaRPr b="0" i="0" sz="1800" u="none" cap="none" strike="noStrike">
                <a:solidFill>
                  <a:schemeClr val="lt1"/>
                </a:solidFill>
                <a:latin typeface="Calibri"/>
                <a:ea typeface="Calibri"/>
                <a:cs typeface="Calibri"/>
                <a:sym typeface="Calibri"/>
              </a:endParaRPr>
            </a:p>
          </p:txBody>
        </p:sp>
      </p:grpSp>
      <p:grpSp>
        <p:nvGrpSpPr>
          <p:cNvPr id="1175" name="Google Shape;1175;p45"/>
          <p:cNvGrpSpPr/>
          <p:nvPr/>
        </p:nvGrpSpPr>
        <p:grpSpPr>
          <a:xfrm>
            <a:off x="7582989" y="2913215"/>
            <a:ext cx="1200150" cy="1342221"/>
            <a:chOff x="7010400" y="2905125"/>
            <a:chExt cx="1200150" cy="1342221"/>
          </a:xfrm>
        </p:grpSpPr>
        <p:grpSp>
          <p:nvGrpSpPr>
            <p:cNvPr id="1176" name="Google Shape;1176;p45"/>
            <p:cNvGrpSpPr/>
            <p:nvPr/>
          </p:nvGrpSpPr>
          <p:grpSpPr>
            <a:xfrm>
              <a:off x="7191376" y="2905125"/>
              <a:ext cx="762000" cy="762000"/>
              <a:chOff x="7191376" y="2905125"/>
              <a:chExt cx="762000" cy="762000"/>
            </a:xfrm>
          </p:grpSpPr>
          <p:pic>
            <p:nvPicPr>
              <p:cNvPr descr="image.png" id="1177" name="Google Shape;1177;p45"/>
              <p:cNvPicPr preferRelativeResize="0"/>
              <p:nvPr/>
            </p:nvPicPr>
            <p:blipFill rotWithShape="1">
              <a:blip r:embed="rId3">
                <a:alphaModFix/>
              </a:blip>
              <a:srcRect b="0" l="0" r="0" t="0"/>
              <a:stretch/>
            </p:blipFill>
            <p:spPr>
              <a:xfrm>
                <a:off x="7191376" y="2905125"/>
                <a:ext cx="762000" cy="762000"/>
              </a:xfrm>
              <a:prstGeom prst="rect">
                <a:avLst/>
              </a:prstGeom>
              <a:noFill/>
              <a:ln>
                <a:noFill/>
              </a:ln>
            </p:spPr>
          </p:pic>
          <p:pic>
            <p:nvPicPr>
              <p:cNvPr descr="image.png" id="1178" name="Google Shape;1178;p45"/>
              <p:cNvPicPr preferRelativeResize="0"/>
              <p:nvPr/>
            </p:nvPicPr>
            <p:blipFill rotWithShape="1">
              <a:blip r:embed="rId6">
                <a:alphaModFix/>
              </a:blip>
              <a:srcRect b="0" l="0" r="0" t="0"/>
              <a:stretch/>
            </p:blipFill>
            <p:spPr>
              <a:xfrm>
                <a:off x="7458076" y="3143537"/>
                <a:ext cx="228600" cy="228600"/>
              </a:xfrm>
              <a:prstGeom prst="rect">
                <a:avLst/>
              </a:prstGeom>
              <a:noFill/>
              <a:ln>
                <a:noFill/>
              </a:ln>
            </p:spPr>
          </p:pic>
        </p:grpSp>
        <p:sp>
          <p:nvSpPr>
            <p:cNvPr id="1179" name="Google Shape;1179;p45"/>
            <p:cNvSpPr txBox="1"/>
            <p:nvPr/>
          </p:nvSpPr>
          <p:spPr>
            <a:xfrm>
              <a:off x="7010400" y="3804148"/>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NMF – PCA</a:t>
              </a:r>
              <a:endParaRPr b="0" i="0" sz="1400" u="none" cap="none" strike="noStrike">
                <a:solidFill>
                  <a:srgbClr val="000000"/>
                </a:solidFill>
                <a:latin typeface="Arial"/>
                <a:ea typeface="Arial"/>
                <a:cs typeface="Arial"/>
                <a:sym typeface="Arial"/>
              </a:endParaRPr>
            </a:p>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compare</a:t>
              </a:r>
              <a:endParaRPr b="0" i="0" sz="1800" u="none" cap="none" strike="noStrike">
                <a:solidFill>
                  <a:schemeClr val="lt1"/>
                </a:solidFill>
                <a:latin typeface="Calibri"/>
                <a:ea typeface="Calibri"/>
                <a:cs typeface="Calibri"/>
                <a:sym typeface="Calibri"/>
              </a:endParaRPr>
            </a:p>
          </p:txBody>
        </p:sp>
      </p:grpSp>
      <p:grpSp>
        <p:nvGrpSpPr>
          <p:cNvPr id="1180" name="Google Shape;1180;p45"/>
          <p:cNvGrpSpPr/>
          <p:nvPr/>
        </p:nvGrpSpPr>
        <p:grpSpPr>
          <a:xfrm>
            <a:off x="9135279" y="2899304"/>
            <a:ext cx="1200150" cy="1304567"/>
            <a:chOff x="6852956" y="4892396"/>
            <a:chExt cx="1200150" cy="1304567"/>
          </a:xfrm>
        </p:grpSpPr>
        <p:grpSp>
          <p:nvGrpSpPr>
            <p:cNvPr id="1181" name="Google Shape;1181;p45"/>
            <p:cNvGrpSpPr/>
            <p:nvPr/>
          </p:nvGrpSpPr>
          <p:grpSpPr>
            <a:xfrm>
              <a:off x="6852956" y="4892396"/>
              <a:ext cx="1200150" cy="1304567"/>
              <a:chOff x="6977618" y="2905125"/>
              <a:chExt cx="1200150" cy="1304567"/>
            </a:xfrm>
          </p:grpSpPr>
          <p:pic>
            <p:nvPicPr>
              <p:cNvPr descr="image.png" id="1182" name="Google Shape;1182;p45"/>
              <p:cNvPicPr preferRelativeResize="0"/>
              <p:nvPr/>
            </p:nvPicPr>
            <p:blipFill rotWithShape="1">
              <a:blip r:embed="rId8">
                <a:alphaModFix/>
              </a:blip>
              <a:srcRect b="0" l="0" r="0" t="0"/>
              <a:stretch/>
            </p:blipFill>
            <p:spPr>
              <a:xfrm>
                <a:off x="7191376" y="2905125"/>
                <a:ext cx="762000" cy="762000"/>
              </a:xfrm>
              <a:prstGeom prst="rect">
                <a:avLst/>
              </a:prstGeom>
              <a:noFill/>
              <a:ln>
                <a:noFill/>
              </a:ln>
            </p:spPr>
          </p:pic>
          <p:sp>
            <p:nvSpPr>
              <p:cNvPr id="1183" name="Google Shape;1183;p45"/>
              <p:cNvSpPr txBox="1"/>
              <p:nvPr/>
            </p:nvSpPr>
            <p:spPr>
              <a:xfrm>
                <a:off x="6977618" y="3766494"/>
                <a:ext cx="1200150" cy="443198"/>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lt1"/>
                    </a:solidFill>
                    <a:latin typeface="Calibri"/>
                    <a:ea typeface="Calibri"/>
                    <a:cs typeface="Calibri"/>
                    <a:sym typeface="Calibri"/>
                  </a:rPr>
                  <a:t>Final</a:t>
                </a:r>
                <a:br>
                  <a:rPr b="0" i="0" lang="en-US" sz="1800" u="none" cap="none" strike="noStrike">
                    <a:solidFill>
                      <a:schemeClr val="lt1"/>
                    </a:solidFill>
                    <a:latin typeface="Calibri"/>
                    <a:ea typeface="Calibri"/>
                    <a:cs typeface="Calibri"/>
                    <a:sym typeface="Calibri"/>
                  </a:rPr>
                </a:br>
                <a:r>
                  <a:rPr b="0" i="0" lang="en-US" sz="1800" u="none" cap="none" strike="noStrike">
                    <a:solidFill>
                      <a:schemeClr val="lt1"/>
                    </a:solidFill>
                    <a:latin typeface="Calibri"/>
                    <a:ea typeface="Calibri"/>
                    <a:cs typeface="Calibri"/>
                    <a:sym typeface="Calibri"/>
                  </a:rPr>
                  <a:t> Synthesis</a:t>
                </a:r>
                <a:endParaRPr b="0" i="0" sz="1400" u="none" cap="none" strike="noStrike">
                  <a:solidFill>
                    <a:srgbClr val="000000"/>
                  </a:solidFill>
                  <a:latin typeface="Arial"/>
                  <a:ea typeface="Arial"/>
                  <a:cs typeface="Arial"/>
                  <a:sym typeface="Arial"/>
                </a:endParaRPr>
              </a:p>
            </p:txBody>
          </p:sp>
        </p:grpSp>
        <p:pic>
          <p:nvPicPr>
            <p:cNvPr descr="image.png" id="1184" name="Google Shape;1184;p45"/>
            <p:cNvPicPr preferRelativeResize="0"/>
            <p:nvPr/>
          </p:nvPicPr>
          <p:blipFill rotWithShape="1">
            <a:blip r:embed="rId9">
              <a:alphaModFix/>
            </a:blip>
            <a:srcRect b="0" l="0" r="0" t="0"/>
            <a:stretch/>
          </p:blipFill>
          <p:spPr>
            <a:xfrm>
              <a:off x="7361989" y="5159096"/>
              <a:ext cx="171450" cy="228600"/>
            </a:xfrm>
            <a:prstGeom prst="rect">
              <a:avLst/>
            </a:prstGeom>
            <a:noFill/>
            <a:ln>
              <a:noFill/>
            </a:ln>
          </p:spPr>
        </p:pic>
      </p:grpSp>
      <p:grpSp>
        <p:nvGrpSpPr>
          <p:cNvPr id="1185" name="Google Shape;1185;p45"/>
          <p:cNvGrpSpPr/>
          <p:nvPr/>
        </p:nvGrpSpPr>
        <p:grpSpPr>
          <a:xfrm>
            <a:off x="6319032" y="2007408"/>
            <a:ext cx="2307535" cy="648950"/>
            <a:chOff x="1066800" y="565507"/>
            <a:chExt cx="4140485" cy="710843"/>
          </a:xfrm>
        </p:grpSpPr>
        <p:sp>
          <p:nvSpPr>
            <p:cNvPr id="1186" name="Google Shape;1186;p45"/>
            <p:cNvSpPr/>
            <p:nvPr/>
          </p:nvSpPr>
          <p:spPr>
            <a:xfrm>
              <a:off x="1066800" y="565507"/>
              <a:ext cx="4140485" cy="710843"/>
            </a:xfrm>
            <a:prstGeom prst="rightArrow">
              <a:avLst>
                <a:gd fmla="val 50000" name="adj1"/>
                <a:gd fmla="val 50000" name="adj2"/>
              </a:avLst>
            </a:prstGeom>
            <a:solidFill>
              <a:srgbClr val="93B3D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7" name="Google Shape;1187;p45"/>
            <p:cNvSpPr txBox="1"/>
            <p:nvPr/>
          </p:nvSpPr>
          <p:spPr>
            <a:xfrm>
              <a:off x="1906583" y="810128"/>
              <a:ext cx="2388264" cy="242734"/>
            </a:xfrm>
            <a:prstGeom prst="rect">
              <a:avLst/>
            </a:prstGeom>
            <a:noFill/>
            <a:ln>
              <a:noFill/>
            </a:ln>
          </p:spPr>
          <p:txBody>
            <a:bodyPr anchorCtr="0" anchor="t" bIns="0" lIns="0" spcFirstLastPara="1" rIns="0" wrap="square" tIns="0">
              <a:spAutoFit/>
            </a:bodyPr>
            <a:lstStyle/>
            <a:p>
              <a:pPr indent="0" lvl="0" marL="0" marR="0" rtl="0" algn="ctr">
                <a:lnSpc>
                  <a:spcPct val="79944"/>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NMF</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1" name="Shape 1191"/>
        <p:cNvGrpSpPr/>
        <p:nvPr/>
      </p:nvGrpSpPr>
      <p:grpSpPr>
        <a:xfrm>
          <a:off x="0" y="0"/>
          <a:ext cx="0" cy="0"/>
          <a:chOff x="0" y="0"/>
          <a:chExt cx="0" cy="0"/>
        </a:xfrm>
      </p:grpSpPr>
      <p:grpSp>
        <p:nvGrpSpPr>
          <p:cNvPr id="1192" name="Google Shape;1192;g3ef7fb0d004_1_19"/>
          <p:cNvGrpSpPr/>
          <p:nvPr/>
        </p:nvGrpSpPr>
        <p:grpSpPr>
          <a:xfrm>
            <a:off x="9664721" y="132225"/>
            <a:ext cx="2449204" cy="341906"/>
            <a:chOff x="9619565" y="209082"/>
            <a:chExt cx="2449204" cy="341906"/>
          </a:xfrm>
        </p:grpSpPr>
        <p:pic>
          <p:nvPicPr>
            <p:cNvPr id="1193" name="Google Shape;1193;g3ef7fb0d004_1_19"/>
            <p:cNvPicPr preferRelativeResize="0"/>
            <p:nvPr/>
          </p:nvPicPr>
          <p:blipFill rotWithShape="1">
            <a:blip r:embed="rId4">
              <a:alphaModFix/>
            </a:blip>
            <a:srcRect b="0" l="0" r="0" t="0"/>
            <a:stretch/>
          </p:blipFill>
          <p:spPr>
            <a:xfrm>
              <a:off x="9974731" y="211740"/>
              <a:ext cx="331660" cy="331660"/>
            </a:xfrm>
            <a:prstGeom prst="rect">
              <a:avLst/>
            </a:prstGeom>
            <a:noFill/>
            <a:ln>
              <a:noFill/>
            </a:ln>
          </p:spPr>
        </p:pic>
        <p:pic>
          <p:nvPicPr>
            <p:cNvPr id="1194" name="Google Shape;1194;g3ef7fb0d004_1_19"/>
            <p:cNvPicPr preferRelativeResize="0"/>
            <p:nvPr/>
          </p:nvPicPr>
          <p:blipFill rotWithShape="1">
            <a:blip r:embed="rId5">
              <a:alphaModFix/>
            </a:blip>
            <a:srcRect b="0" l="0" r="0" t="0"/>
            <a:stretch/>
          </p:blipFill>
          <p:spPr>
            <a:xfrm>
              <a:off x="9619565" y="216673"/>
              <a:ext cx="337984" cy="326726"/>
            </a:xfrm>
            <a:prstGeom prst="rect">
              <a:avLst/>
            </a:prstGeom>
            <a:noFill/>
            <a:ln>
              <a:noFill/>
            </a:ln>
          </p:spPr>
        </p:pic>
        <p:pic>
          <p:nvPicPr>
            <p:cNvPr id="1195" name="Google Shape;1195;g3ef7fb0d004_1_19"/>
            <p:cNvPicPr preferRelativeResize="0"/>
            <p:nvPr/>
          </p:nvPicPr>
          <p:blipFill rotWithShape="1">
            <a:blip r:embed="rId6">
              <a:alphaModFix/>
            </a:blip>
            <a:srcRect b="0" l="0" r="0" t="0"/>
            <a:stretch/>
          </p:blipFill>
          <p:spPr>
            <a:xfrm flipH="1">
              <a:off x="11000365" y="216673"/>
              <a:ext cx="331661" cy="334315"/>
            </a:xfrm>
            <a:prstGeom prst="rect">
              <a:avLst/>
            </a:prstGeom>
            <a:noFill/>
            <a:ln>
              <a:noFill/>
            </a:ln>
          </p:spPr>
        </p:pic>
        <p:pic>
          <p:nvPicPr>
            <p:cNvPr id="1196" name="Google Shape;1196;g3ef7fb0d004_1_19"/>
            <p:cNvPicPr preferRelativeResize="0"/>
            <p:nvPr/>
          </p:nvPicPr>
          <p:blipFill rotWithShape="1">
            <a:blip r:embed="rId7">
              <a:alphaModFix/>
            </a:blip>
            <a:srcRect b="0" l="0" r="0" t="0"/>
            <a:stretch/>
          </p:blipFill>
          <p:spPr>
            <a:xfrm>
              <a:off x="11349209" y="209083"/>
              <a:ext cx="351187" cy="331661"/>
            </a:xfrm>
            <a:prstGeom prst="rect">
              <a:avLst/>
            </a:prstGeom>
            <a:noFill/>
            <a:ln>
              <a:noFill/>
            </a:ln>
          </p:spPr>
        </p:pic>
        <p:pic>
          <p:nvPicPr>
            <p:cNvPr id="1197" name="Google Shape;1197;g3ef7fb0d004_1_19"/>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198" name="Google Shape;1198;g3ef7fb0d004_1_19"/>
            <p:cNvPicPr preferRelativeResize="0"/>
            <p:nvPr/>
          </p:nvPicPr>
          <p:blipFill rotWithShape="1">
            <a:blip r:embed="rId9">
              <a:alphaModFix/>
            </a:blip>
            <a:srcRect b="0" l="0" r="0" t="0"/>
            <a:stretch/>
          </p:blipFill>
          <p:spPr>
            <a:xfrm>
              <a:off x="10323574" y="209083"/>
              <a:ext cx="308421" cy="334315"/>
            </a:xfrm>
            <a:prstGeom prst="rect">
              <a:avLst/>
            </a:prstGeom>
            <a:noFill/>
            <a:ln>
              <a:noFill/>
            </a:ln>
          </p:spPr>
        </p:pic>
        <p:pic>
          <p:nvPicPr>
            <p:cNvPr id="1199" name="Google Shape;1199;g3ef7fb0d004_1_19"/>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sp>
        <p:nvSpPr>
          <p:cNvPr id="1200" name="Google Shape;1200;g3ef7fb0d004_1_19"/>
          <p:cNvSpPr txBox="1"/>
          <p:nvPr/>
        </p:nvSpPr>
        <p:spPr>
          <a:xfrm>
            <a:off x="731520" y="457200"/>
            <a:ext cx="8229600" cy="492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000"/>
              <a:buFont typeface="Arial"/>
              <a:buNone/>
            </a:pPr>
            <a:r>
              <a:rPr b="1" i="0" lang="en-US" sz="2600" u="none" cap="none" strike="noStrike">
                <a:solidFill>
                  <a:srgbClr val="F8FAFC"/>
                </a:solidFill>
                <a:latin typeface="Poppins"/>
                <a:ea typeface="Poppins"/>
                <a:cs typeface="Poppins"/>
                <a:sym typeface="Poppins"/>
              </a:rPr>
              <a:t>NMF Cluster Interpretation</a:t>
            </a:r>
            <a:endParaRPr b="0" i="0" sz="1100" u="none" cap="none" strike="noStrike">
              <a:solidFill>
                <a:srgbClr val="000000"/>
              </a:solidFill>
              <a:latin typeface="Arial"/>
              <a:ea typeface="Arial"/>
              <a:cs typeface="Arial"/>
              <a:sym typeface="Arial"/>
            </a:endParaRPr>
          </a:p>
        </p:txBody>
      </p:sp>
      <p:graphicFrame>
        <p:nvGraphicFramePr>
          <p:cNvPr id="1201" name="Google Shape;1201;g3ef7fb0d004_1_19"/>
          <p:cNvGraphicFramePr/>
          <p:nvPr/>
        </p:nvGraphicFramePr>
        <p:xfrm>
          <a:off x="419025" y="1522338"/>
          <a:ext cx="3000000" cy="3000000"/>
        </p:xfrm>
        <a:graphic>
          <a:graphicData uri="http://schemas.openxmlformats.org/drawingml/2006/table">
            <a:tbl>
              <a:tblPr bandRow="1" firstRow="1">
                <a:noFill/>
                <a:tableStyleId>{31B8184B-9ED6-4E01-A838-0A322FCA3560}</a:tableStyleId>
              </a:tblPr>
              <a:tblGrid>
                <a:gridCol w="2458800"/>
                <a:gridCol w="2427100"/>
                <a:gridCol w="2928350"/>
                <a:gridCol w="3234775"/>
              </a:tblGrid>
              <a:tr h="796825">
                <a:tc>
                  <a:txBody>
                    <a:bodyPr/>
                    <a:lstStyle/>
                    <a:p>
                      <a:pPr indent="0" lvl="0" marL="0" marR="0" rtl="0" algn="ctr">
                        <a:lnSpc>
                          <a:spcPct val="100000"/>
                        </a:lnSpc>
                        <a:spcBef>
                          <a:spcPts val="0"/>
                        </a:spcBef>
                        <a:spcAft>
                          <a:spcPts val="0"/>
                        </a:spcAft>
                        <a:buClr>
                          <a:srgbClr val="000000"/>
                        </a:buClr>
                        <a:buSzPts val="1650"/>
                        <a:buFont typeface="Arial"/>
                        <a:buNone/>
                      </a:pPr>
                      <a:r>
                        <a:rPr b="1" i="0" lang="en-US" sz="1650" u="none" cap="none" strike="noStrike">
                          <a:solidFill>
                            <a:srgbClr val="0F172A"/>
                          </a:solidFill>
                          <a:latin typeface="Poppins SemiBold"/>
                          <a:ea typeface="Poppins SemiBold"/>
                          <a:cs typeface="Poppins SemiBold"/>
                          <a:sym typeface="Poppins SemiBold"/>
                        </a:rPr>
                        <a:t>Metric</a:t>
                      </a:r>
                      <a:endParaRPr sz="1400" u="none" cap="none" strike="noStrike"/>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650"/>
                        <a:buFont typeface="Arial"/>
                        <a:buNone/>
                      </a:pPr>
                      <a:r>
                        <a:rPr b="1" i="0" lang="en-US" sz="1650" u="none" cap="none" strike="noStrike">
                          <a:solidFill>
                            <a:srgbClr val="3B82F6"/>
                          </a:solidFill>
                          <a:latin typeface="Poppins SemiBold"/>
                          <a:ea typeface="Poppins SemiBold"/>
                          <a:cs typeface="Poppins SemiBold"/>
                          <a:sym typeface="Poppins SemiBold"/>
                        </a:rPr>
                        <a:t>Utility User</a:t>
                      </a:r>
                      <a:endParaRPr b="1" i="0" sz="1650" u="none" cap="none" strike="noStrike">
                        <a:solidFill>
                          <a:srgbClr val="3B82F6"/>
                        </a:solidFill>
                        <a:latin typeface="Poppins SemiBold"/>
                        <a:ea typeface="Poppins SemiBold"/>
                        <a:cs typeface="Poppins SemiBold"/>
                        <a:sym typeface="Poppins SemiBold"/>
                      </a:endParaRPr>
                    </a:p>
                    <a:p>
                      <a:pPr indent="0" lvl="0" marL="0" marR="0" rtl="0" algn="ctr">
                        <a:lnSpc>
                          <a:spcPct val="100000"/>
                        </a:lnSpc>
                        <a:spcBef>
                          <a:spcPts val="0"/>
                        </a:spcBef>
                        <a:spcAft>
                          <a:spcPts val="0"/>
                        </a:spcAft>
                        <a:buClr>
                          <a:srgbClr val="000000"/>
                        </a:buClr>
                        <a:buSzPts val="1650"/>
                        <a:buFont typeface="Arial"/>
                        <a:buNone/>
                      </a:pPr>
                      <a:r>
                        <a:rPr lang="en-US" sz="1650" u="none" cap="none" strike="noStrike">
                          <a:solidFill>
                            <a:srgbClr val="3B82F6"/>
                          </a:solidFill>
                          <a:latin typeface="Poppins SemiBold"/>
                          <a:ea typeface="Poppins SemiBold"/>
                          <a:cs typeface="Poppins SemiBold"/>
                          <a:sym typeface="Poppins SemiBold"/>
                        </a:rPr>
                        <a:t>(cluster 1)</a:t>
                      </a:r>
                      <a:endParaRPr sz="1650" u="none" cap="none" strike="noStrike">
                        <a:solidFill>
                          <a:srgbClr val="3B82F6"/>
                        </a:solidFill>
                        <a:latin typeface="Poppins SemiBold"/>
                        <a:ea typeface="Poppins SemiBold"/>
                        <a:cs typeface="Poppins SemiBold"/>
                        <a:sym typeface="Poppins SemiBold"/>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650"/>
                        <a:buFont typeface="Arial"/>
                        <a:buNone/>
                      </a:pPr>
                      <a:r>
                        <a:rPr b="1" i="0" lang="en-US" sz="1650" u="none" cap="none" strike="noStrike">
                          <a:solidFill>
                            <a:srgbClr val="DC2626"/>
                          </a:solidFill>
                          <a:latin typeface="Poppins SemiBold"/>
                          <a:ea typeface="Poppins SemiBold"/>
                          <a:cs typeface="Poppins SemiBold"/>
                          <a:sym typeface="Poppins SemiBold"/>
                        </a:rPr>
                        <a:t>Heavy Social User</a:t>
                      </a:r>
                      <a:endParaRPr b="1" i="0" sz="1650" u="none" cap="none" strike="noStrike">
                        <a:solidFill>
                          <a:srgbClr val="DC2626"/>
                        </a:solidFill>
                        <a:latin typeface="Poppins SemiBold"/>
                        <a:ea typeface="Poppins SemiBold"/>
                        <a:cs typeface="Poppins SemiBold"/>
                        <a:sym typeface="Poppins SemiBold"/>
                      </a:endParaRPr>
                    </a:p>
                    <a:p>
                      <a:pPr indent="0" lvl="0" marL="0" marR="0" rtl="0" algn="ctr">
                        <a:lnSpc>
                          <a:spcPct val="100000"/>
                        </a:lnSpc>
                        <a:spcBef>
                          <a:spcPts val="0"/>
                        </a:spcBef>
                        <a:spcAft>
                          <a:spcPts val="0"/>
                        </a:spcAft>
                        <a:buClr>
                          <a:srgbClr val="000000"/>
                        </a:buClr>
                        <a:buSzPts val="1650"/>
                        <a:buFont typeface="Arial"/>
                        <a:buNone/>
                      </a:pPr>
                      <a:r>
                        <a:rPr lang="en-US" sz="1650" u="none" cap="none" strike="noStrike">
                          <a:solidFill>
                            <a:srgbClr val="DC2626"/>
                          </a:solidFill>
                          <a:latin typeface="Poppins SemiBold"/>
                          <a:ea typeface="Poppins SemiBold"/>
                          <a:cs typeface="Poppins SemiBold"/>
                          <a:sym typeface="Poppins SemiBold"/>
                        </a:rPr>
                        <a:t>(cluster 2)</a:t>
                      </a:r>
                      <a:endParaRPr sz="1650" u="none" cap="none" strike="noStrike">
                        <a:solidFill>
                          <a:srgbClr val="DC2626"/>
                        </a:solidFill>
                        <a:latin typeface="Poppins SemiBold"/>
                        <a:ea typeface="Poppins SemiBold"/>
                        <a:cs typeface="Poppins SemiBold"/>
                        <a:sym typeface="Poppins SemiBold"/>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650"/>
                        <a:buFont typeface="Arial"/>
                        <a:buNone/>
                      </a:pPr>
                      <a:r>
                        <a:rPr b="1" i="0" lang="en-US" sz="1650" u="none" cap="none" strike="noStrike">
                          <a:solidFill>
                            <a:srgbClr val="16A34A"/>
                          </a:solidFill>
                          <a:latin typeface="Poppins SemiBold"/>
                          <a:ea typeface="Poppins SemiBold"/>
                          <a:cs typeface="Poppins SemiBold"/>
                          <a:sym typeface="Poppins SemiBold"/>
                        </a:rPr>
                        <a:t>Healthy Low Digital</a:t>
                      </a:r>
                      <a:endParaRPr b="1" i="0" sz="1650" u="none" cap="none" strike="noStrike">
                        <a:solidFill>
                          <a:srgbClr val="16A34A"/>
                        </a:solidFill>
                        <a:latin typeface="Poppins SemiBold"/>
                        <a:ea typeface="Poppins SemiBold"/>
                        <a:cs typeface="Poppins SemiBold"/>
                        <a:sym typeface="Poppins SemiBold"/>
                      </a:endParaRPr>
                    </a:p>
                    <a:p>
                      <a:pPr indent="0" lvl="0" marL="0" marR="0" rtl="0" algn="ctr">
                        <a:lnSpc>
                          <a:spcPct val="100000"/>
                        </a:lnSpc>
                        <a:spcBef>
                          <a:spcPts val="0"/>
                        </a:spcBef>
                        <a:spcAft>
                          <a:spcPts val="0"/>
                        </a:spcAft>
                        <a:buClr>
                          <a:srgbClr val="000000"/>
                        </a:buClr>
                        <a:buSzPts val="1650"/>
                        <a:buFont typeface="Arial"/>
                        <a:buNone/>
                      </a:pPr>
                      <a:r>
                        <a:rPr lang="en-US" sz="1650" u="none" cap="none" strike="noStrike">
                          <a:solidFill>
                            <a:srgbClr val="16A34A"/>
                          </a:solidFill>
                          <a:latin typeface="Poppins SemiBold"/>
                          <a:ea typeface="Poppins SemiBold"/>
                          <a:cs typeface="Poppins SemiBold"/>
                          <a:sym typeface="Poppins SemiBold"/>
                        </a:rPr>
                        <a:t>(cluster 3)</a:t>
                      </a:r>
                      <a:endParaRPr sz="1650" u="none" cap="none" strike="noStrike">
                        <a:solidFill>
                          <a:srgbClr val="16A34A"/>
                        </a:solidFill>
                        <a:latin typeface="Poppins SemiBold"/>
                        <a:ea typeface="Poppins SemiBold"/>
                        <a:cs typeface="Poppins SemiBold"/>
                        <a:sym typeface="Poppins SemiBold"/>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9682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34155"/>
                          </a:solidFill>
                          <a:latin typeface="Calibri"/>
                          <a:ea typeface="Calibri"/>
                          <a:cs typeface="Calibri"/>
                          <a:sym typeface="Calibri"/>
                        </a:rPr>
                        <a:t>Average Age</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25</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24</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48</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82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34155"/>
                          </a:solidFill>
                          <a:latin typeface="Calibri"/>
                          <a:ea typeface="Calibri"/>
                          <a:cs typeface="Calibri"/>
                          <a:sym typeface="Calibri"/>
                        </a:rPr>
                        <a:t>Total Screen Time</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380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390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210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9682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34155"/>
                          </a:solidFill>
                          <a:latin typeface="Calibri"/>
                          <a:ea typeface="Calibri"/>
                          <a:cs typeface="Calibri"/>
                          <a:sym typeface="Calibri"/>
                        </a:rPr>
                        <a:t>Social Media Time</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140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240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100 minutes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9682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34155"/>
                          </a:solidFill>
                          <a:latin typeface="Calibri"/>
                          <a:ea typeface="Calibri"/>
                          <a:cs typeface="Calibri"/>
                          <a:sym typeface="Calibri"/>
                        </a:rPr>
                        <a:t>Stress, Anxiety</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6.1, 2.1</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8.0, 3.1</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5.1, 1.7</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8FAFC"/>
                    </a:solidFill>
                  </a:tcPr>
                </a:tc>
              </a:tr>
              <a:tr h="796825">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334155"/>
                          </a:solidFill>
                          <a:latin typeface="Calibri"/>
                          <a:ea typeface="Calibri"/>
                          <a:cs typeface="Calibri"/>
                          <a:sym typeface="Calibri"/>
                        </a:rPr>
                        <a:t>Primary Platforms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WhatsApp, </a:t>
                      </a:r>
                      <a:r>
                        <a:rPr lang="en-US" sz="1800" u="none" cap="none" strike="noStrike">
                          <a:solidFill>
                            <a:srgbClr val="334155"/>
                          </a:solidFill>
                          <a:latin typeface="Calibri"/>
                          <a:ea typeface="Calibri"/>
                          <a:cs typeface="Calibri"/>
                          <a:sym typeface="Calibri"/>
                        </a:rPr>
                        <a:t>Facebook, Twitter</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TikTok, </a:t>
                      </a:r>
                      <a:r>
                        <a:rPr lang="en-US" sz="1800" u="none" cap="none" strike="noStrike">
                          <a:solidFill>
                            <a:srgbClr val="334155"/>
                          </a:solidFill>
                          <a:latin typeface="Calibri"/>
                          <a:ea typeface="Calibri"/>
                          <a:cs typeface="Calibri"/>
                          <a:sym typeface="Calibri"/>
                        </a:rPr>
                        <a:t>Youtube, </a:t>
                      </a:r>
                      <a:endParaRPr sz="1800" u="none" cap="none" strike="noStrike">
                        <a:solidFill>
                          <a:srgbClr val="334155"/>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rPr b="0" i="0" lang="en-US" sz="1800" u="none" cap="none" strike="noStrike">
                          <a:solidFill>
                            <a:srgbClr val="334155"/>
                          </a:solidFill>
                          <a:latin typeface="Calibri"/>
                          <a:ea typeface="Calibri"/>
                          <a:cs typeface="Calibri"/>
                          <a:sym typeface="Calibri"/>
                        </a:rPr>
                        <a:t>Instagram,</a:t>
                      </a:r>
                      <a:r>
                        <a:rPr lang="en-US" sz="1800" u="none" cap="none" strike="noStrike">
                          <a:solidFill>
                            <a:srgbClr val="334155"/>
                          </a:solidFill>
                          <a:latin typeface="Calibri"/>
                          <a:ea typeface="Calibri"/>
                          <a:cs typeface="Calibri"/>
                          <a:sym typeface="Calibri"/>
                        </a:rPr>
                        <a:t> Snapchat</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lang="en-US" sz="1800" u="none" cap="none" strike="noStrike">
                          <a:solidFill>
                            <a:srgbClr val="334155"/>
                          </a:solidFill>
                          <a:latin typeface="Calibri"/>
                          <a:ea typeface="Calibri"/>
                          <a:cs typeface="Calibri"/>
                          <a:sym typeface="Calibri"/>
                        </a:rPr>
                        <a:t>All platforms</a:t>
                      </a:r>
                      <a:endParaRPr sz="1800" u="none" cap="none" strike="noStrike">
                        <a:latin typeface="Calibri"/>
                        <a:ea typeface="Calibri"/>
                        <a:cs typeface="Calibri"/>
                        <a:sym typeface="Calibri"/>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05" name="Shape 1205"/>
        <p:cNvGrpSpPr/>
        <p:nvPr/>
      </p:nvGrpSpPr>
      <p:grpSpPr>
        <a:xfrm>
          <a:off x="0" y="0"/>
          <a:ext cx="0" cy="0"/>
          <a:chOff x="0" y="0"/>
          <a:chExt cx="0" cy="0"/>
        </a:xfrm>
      </p:grpSpPr>
      <p:sp>
        <p:nvSpPr>
          <p:cNvPr id="1206" name="Google Shape;1206;p60"/>
          <p:cNvSpPr txBox="1"/>
          <p:nvPr/>
        </p:nvSpPr>
        <p:spPr>
          <a:xfrm>
            <a:off x="731520" y="457200"/>
            <a:ext cx="5258171" cy="49244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8FAFC"/>
                </a:solidFill>
                <a:latin typeface="Poppins"/>
                <a:ea typeface="Poppins"/>
                <a:cs typeface="Poppins"/>
                <a:sym typeface="Poppins"/>
              </a:rPr>
              <a:t>Key conclusion</a:t>
            </a:r>
            <a:endParaRPr b="0" i="0" sz="1400" u="none" cap="none" strike="noStrike">
              <a:solidFill>
                <a:srgbClr val="000000"/>
              </a:solidFill>
              <a:latin typeface="Arial"/>
              <a:ea typeface="Arial"/>
              <a:cs typeface="Arial"/>
              <a:sym typeface="Arial"/>
            </a:endParaRPr>
          </a:p>
        </p:txBody>
      </p:sp>
      <p:grpSp>
        <p:nvGrpSpPr>
          <p:cNvPr id="1207" name="Google Shape;1207;p60"/>
          <p:cNvGrpSpPr/>
          <p:nvPr/>
        </p:nvGrpSpPr>
        <p:grpSpPr>
          <a:xfrm>
            <a:off x="9664721" y="132225"/>
            <a:ext cx="2449204" cy="341908"/>
            <a:chOff x="9619565" y="209082"/>
            <a:chExt cx="2449204" cy="341908"/>
          </a:xfrm>
        </p:grpSpPr>
        <p:pic>
          <p:nvPicPr>
            <p:cNvPr id="1208" name="Google Shape;1208;p60"/>
            <p:cNvPicPr preferRelativeResize="0"/>
            <p:nvPr/>
          </p:nvPicPr>
          <p:blipFill rotWithShape="1">
            <a:blip r:embed="rId4">
              <a:alphaModFix/>
            </a:blip>
            <a:srcRect b="0" l="0" r="0" t="0"/>
            <a:stretch/>
          </p:blipFill>
          <p:spPr>
            <a:xfrm>
              <a:off x="9974731" y="211740"/>
              <a:ext cx="331661" cy="331661"/>
            </a:xfrm>
            <a:prstGeom prst="rect">
              <a:avLst/>
            </a:prstGeom>
            <a:noFill/>
            <a:ln>
              <a:noFill/>
            </a:ln>
          </p:spPr>
        </p:pic>
        <p:pic>
          <p:nvPicPr>
            <p:cNvPr id="1209" name="Google Shape;1209;p60"/>
            <p:cNvPicPr preferRelativeResize="0"/>
            <p:nvPr/>
          </p:nvPicPr>
          <p:blipFill rotWithShape="1">
            <a:blip r:embed="rId5">
              <a:alphaModFix/>
            </a:blip>
            <a:srcRect b="0" l="0" r="0" t="0"/>
            <a:stretch/>
          </p:blipFill>
          <p:spPr>
            <a:xfrm>
              <a:off x="9619565" y="216673"/>
              <a:ext cx="337984" cy="326728"/>
            </a:xfrm>
            <a:prstGeom prst="rect">
              <a:avLst/>
            </a:prstGeom>
            <a:noFill/>
            <a:ln>
              <a:noFill/>
            </a:ln>
          </p:spPr>
        </p:pic>
        <p:pic>
          <p:nvPicPr>
            <p:cNvPr id="1210" name="Google Shape;1210;p60"/>
            <p:cNvPicPr preferRelativeResize="0"/>
            <p:nvPr/>
          </p:nvPicPr>
          <p:blipFill rotWithShape="1">
            <a:blip r:embed="rId6">
              <a:alphaModFix/>
            </a:blip>
            <a:srcRect b="0" l="0" r="0" t="0"/>
            <a:stretch/>
          </p:blipFill>
          <p:spPr>
            <a:xfrm flipH="1">
              <a:off x="11000365" y="216673"/>
              <a:ext cx="331661" cy="334317"/>
            </a:xfrm>
            <a:prstGeom prst="rect">
              <a:avLst/>
            </a:prstGeom>
            <a:noFill/>
            <a:ln>
              <a:noFill/>
            </a:ln>
          </p:spPr>
        </p:pic>
        <p:pic>
          <p:nvPicPr>
            <p:cNvPr id="1211" name="Google Shape;1211;p60"/>
            <p:cNvPicPr preferRelativeResize="0"/>
            <p:nvPr/>
          </p:nvPicPr>
          <p:blipFill rotWithShape="1">
            <a:blip r:embed="rId7">
              <a:alphaModFix/>
            </a:blip>
            <a:srcRect b="0" l="0" r="0" t="0"/>
            <a:stretch/>
          </p:blipFill>
          <p:spPr>
            <a:xfrm>
              <a:off x="11349209" y="209083"/>
              <a:ext cx="351188" cy="331661"/>
            </a:xfrm>
            <a:prstGeom prst="rect">
              <a:avLst/>
            </a:prstGeom>
            <a:noFill/>
            <a:ln>
              <a:noFill/>
            </a:ln>
          </p:spPr>
        </p:pic>
        <p:pic>
          <p:nvPicPr>
            <p:cNvPr id="1212" name="Google Shape;1212;p60"/>
            <p:cNvPicPr preferRelativeResize="0"/>
            <p:nvPr/>
          </p:nvPicPr>
          <p:blipFill rotWithShape="1">
            <a:blip r:embed="rId8">
              <a:alphaModFix/>
            </a:blip>
            <a:srcRect b="0" l="0" r="0" t="0"/>
            <a:stretch/>
          </p:blipFill>
          <p:spPr>
            <a:xfrm>
              <a:off x="10649177" y="211739"/>
              <a:ext cx="331661" cy="331661"/>
            </a:xfrm>
            <a:prstGeom prst="rect">
              <a:avLst/>
            </a:prstGeom>
            <a:noFill/>
            <a:ln>
              <a:noFill/>
            </a:ln>
          </p:spPr>
        </p:pic>
        <p:pic>
          <p:nvPicPr>
            <p:cNvPr id="1213" name="Google Shape;1213;p60"/>
            <p:cNvPicPr preferRelativeResize="0"/>
            <p:nvPr/>
          </p:nvPicPr>
          <p:blipFill rotWithShape="1">
            <a:blip r:embed="rId9">
              <a:alphaModFix/>
            </a:blip>
            <a:srcRect b="0" l="0" r="0" t="0"/>
            <a:stretch/>
          </p:blipFill>
          <p:spPr>
            <a:xfrm>
              <a:off x="10323574" y="209083"/>
              <a:ext cx="308421" cy="334317"/>
            </a:xfrm>
            <a:prstGeom prst="rect">
              <a:avLst/>
            </a:prstGeom>
            <a:noFill/>
            <a:ln>
              <a:noFill/>
            </a:ln>
          </p:spPr>
        </p:pic>
        <p:pic>
          <p:nvPicPr>
            <p:cNvPr id="1214" name="Google Shape;1214;p60"/>
            <p:cNvPicPr preferRelativeResize="0"/>
            <p:nvPr/>
          </p:nvPicPr>
          <p:blipFill rotWithShape="1">
            <a:blip r:embed="rId10">
              <a:alphaModFix/>
            </a:blip>
            <a:srcRect b="0" l="0" r="0" t="0"/>
            <a:stretch/>
          </p:blipFill>
          <p:spPr>
            <a:xfrm>
              <a:off x="11717580" y="209082"/>
              <a:ext cx="351189" cy="324071"/>
            </a:xfrm>
            <a:prstGeom prst="rect">
              <a:avLst/>
            </a:prstGeom>
            <a:noFill/>
            <a:ln>
              <a:noFill/>
            </a:ln>
          </p:spPr>
        </p:pic>
      </p:grpSp>
      <p:grpSp>
        <p:nvGrpSpPr>
          <p:cNvPr id="1215" name="Google Shape;1215;p60"/>
          <p:cNvGrpSpPr/>
          <p:nvPr/>
        </p:nvGrpSpPr>
        <p:grpSpPr>
          <a:xfrm>
            <a:off x="-30260" y="1198527"/>
            <a:ext cx="12252519" cy="2203448"/>
            <a:chOff x="78255" y="1520168"/>
            <a:chExt cx="8219306" cy="2203448"/>
          </a:xfrm>
        </p:grpSpPr>
        <p:grpSp>
          <p:nvGrpSpPr>
            <p:cNvPr id="1216" name="Google Shape;1216;p60"/>
            <p:cNvGrpSpPr/>
            <p:nvPr/>
          </p:nvGrpSpPr>
          <p:grpSpPr>
            <a:xfrm>
              <a:off x="78255" y="1520168"/>
              <a:ext cx="4403100" cy="2182467"/>
              <a:chOff x="245765" y="1339631"/>
              <a:chExt cx="4403100" cy="2182467"/>
            </a:xfrm>
          </p:grpSpPr>
          <p:grpSp>
            <p:nvGrpSpPr>
              <p:cNvPr id="1217" name="Google Shape;1217;p60"/>
              <p:cNvGrpSpPr/>
              <p:nvPr/>
            </p:nvGrpSpPr>
            <p:grpSpPr>
              <a:xfrm>
                <a:off x="245765" y="1339631"/>
                <a:ext cx="4403100" cy="492367"/>
                <a:chOff x="-172853" y="1803854"/>
                <a:chExt cx="4403100" cy="711000"/>
              </a:xfrm>
            </p:grpSpPr>
            <p:sp>
              <p:nvSpPr>
                <p:cNvPr id="1218" name="Google Shape;1218;p6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19" name="Google Shape;1219;p6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Screen Time vs. Mental Strain</a:t>
                  </a:r>
                  <a:endParaRPr b="0" i="0" sz="1400" u="none" cap="none" strike="noStrike">
                    <a:solidFill>
                      <a:srgbClr val="000000"/>
                    </a:solidFill>
                    <a:latin typeface="Arial"/>
                    <a:ea typeface="Arial"/>
                    <a:cs typeface="Arial"/>
                    <a:sym typeface="Arial"/>
                  </a:endParaRPr>
                </a:p>
              </p:txBody>
            </p:sp>
          </p:grpSp>
          <p:grpSp>
            <p:nvGrpSpPr>
              <p:cNvPr id="1220" name="Google Shape;1220;p60"/>
              <p:cNvGrpSpPr/>
              <p:nvPr/>
            </p:nvGrpSpPr>
            <p:grpSpPr>
              <a:xfrm>
                <a:off x="727414" y="2080883"/>
                <a:ext cx="3439802" cy="1441215"/>
                <a:chOff x="727415" y="2080883"/>
                <a:chExt cx="3439802" cy="1441215"/>
              </a:xfrm>
            </p:grpSpPr>
            <p:sp>
              <p:nvSpPr>
                <p:cNvPr id="1221" name="Google Shape;1221;p60"/>
                <p:cNvSpPr/>
                <p:nvPr/>
              </p:nvSpPr>
              <p:spPr>
                <a:xfrm>
                  <a:off x="727417" y="2080883"/>
                  <a:ext cx="3439800" cy="1441215"/>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2" name="Google Shape;1222;p60"/>
                <p:cNvSpPr txBox="1"/>
                <p:nvPr/>
              </p:nvSpPr>
              <p:spPr>
                <a:xfrm>
                  <a:off x="727415" y="2140649"/>
                  <a:ext cx="3439800" cy="13236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rgbClr val="FFFFFF"/>
                      </a:solidFill>
                      <a:latin typeface="Calibri"/>
                      <a:ea typeface="Calibri"/>
                      <a:cs typeface="Calibri"/>
                      <a:sym typeface="Calibri"/>
                    </a:rPr>
                    <a:t>There is a distinct, positive correlation between excessive daily screen time and severe psychological strain, specifically driving up anxiety and stress levels </a:t>
                  </a:r>
                  <a:endParaRPr b="0" i="0" sz="2000" u="none" cap="none" strike="noStrike">
                    <a:solidFill>
                      <a:srgbClr val="000000"/>
                    </a:solidFill>
                    <a:latin typeface="Arial"/>
                    <a:ea typeface="Arial"/>
                    <a:cs typeface="Arial"/>
                    <a:sym typeface="Arial"/>
                  </a:endParaRPr>
                </a:p>
              </p:txBody>
            </p:sp>
          </p:grpSp>
        </p:grpSp>
        <p:grpSp>
          <p:nvGrpSpPr>
            <p:cNvPr id="1223" name="Google Shape;1223;p60"/>
            <p:cNvGrpSpPr/>
            <p:nvPr/>
          </p:nvGrpSpPr>
          <p:grpSpPr>
            <a:xfrm>
              <a:off x="3894461" y="1520168"/>
              <a:ext cx="4403100" cy="2203448"/>
              <a:chOff x="4086587" y="1339631"/>
              <a:chExt cx="4403100" cy="2203448"/>
            </a:xfrm>
          </p:grpSpPr>
          <p:grpSp>
            <p:nvGrpSpPr>
              <p:cNvPr id="1224" name="Google Shape;1224;p60"/>
              <p:cNvGrpSpPr/>
              <p:nvPr/>
            </p:nvGrpSpPr>
            <p:grpSpPr>
              <a:xfrm>
                <a:off x="4086587" y="1339631"/>
                <a:ext cx="4403100" cy="492367"/>
                <a:chOff x="-172853" y="1803854"/>
                <a:chExt cx="4403100" cy="711000"/>
              </a:xfrm>
            </p:grpSpPr>
            <p:sp>
              <p:nvSpPr>
                <p:cNvPr id="1225" name="Google Shape;1225;p6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6" name="Google Shape;1226;p6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Age &amp; Platform Preference </a:t>
                  </a:r>
                  <a:endParaRPr b="0" i="0" sz="1400" u="none" cap="none" strike="noStrike">
                    <a:solidFill>
                      <a:srgbClr val="000000"/>
                    </a:solidFill>
                    <a:latin typeface="Arial"/>
                    <a:ea typeface="Arial"/>
                    <a:cs typeface="Arial"/>
                    <a:sym typeface="Arial"/>
                  </a:endParaRPr>
                </a:p>
              </p:txBody>
            </p:sp>
          </p:grpSp>
          <p:grpSp>
            <p:nvGrpSpPr>
              <p:cNvPr id="1227" name="Google Shape;1227;p60"/>
              <p:cNvGrpSpPr/>
              <p:nvPr/>
            </p:nvGrpSpPr>
            <p:grpSpPr>
              <a:xfrm>
                <a:off x="4568233" y="2080879"/>
                <a:ext cx="3439802" cy="1462200"/>
                <a:chOff x="727411" y="2080879"/>
                <a:chExt cx="3439802" cy="1462200"/>
              </a:xfrm>
            </p:grpSpPr>
            <p:sp>
              <p:nvSpPr>
                <p:cNvPr id="1228" name="Google Shape;1228;p60"/>
                <p:cNvSpPr/>
                <p:nvPr/>
              </p:nvSpPr>
              <p:spPr>
                <a:xfrm>
                  <a:off x="727411" y="2080883"/>
                  <a:ext cx="3439800" cy="1441215"/>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29" name="Google Shape;1229;p60"/>
                <p:cNvSpPr txBox="1"/>
                <p:nvPr/>
              </p:nvSpPr>
              <p:spPr>
                <a:xfrm>
                  <a:off x="727413" y="2080879"/>
                  <a:ext cx="3439800" cy="14622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1200"/>
                    </a:spcBef>
                    <a:spcAft>
                      <a:spcPts val="0"/>
                    </a:spcAft>
                    <a:buClr>
                      <a:schemeClr val="dk1"/>
                    </a:buClr>
                    <a:buSzPts val="1100"/>
                    <a:buFont typeface="Arial"/>
                    <a:buNone/>
                  </a:pPr>
                  <a:r>
                    <a:rPr b="0" i="0" lang="en-US" sz="2000" u="none" cap="none" strike="noStrike">
                      <a:solidFill>
                        <a:schemeClr val="lt1"/>
                      </a:solidFill>
                      <a:latin typeface="Calibri"/>
                      <a:ea typeface="Calibri"/>
                      <a:cs typeface="Calibri"/>
                      <a:sym typeface="Calibri"/>
                    </a:rPr>
                    <a:t>Older demographics experience significantly lower mental strain. This strongly correlates with healthier offline habits, lower overall screen time</a:t>
                  </a:r>
                  <a:endParaRPr b="0" i="0" sz="2000" u="none" cap="none" strike="noStrike">
                    <a:solidFill>
                      <a:schemeClr val="lt1"/>
                    </a:solidFill>
                    <a:latin typeface="Calibri"/>
                    <a:ea typeface="Calibri"/>
                    <a:cs typeface="Calibri"/>
                    <a:sym typeface="Calibri"/>
                  </a:endParaRPr>
                </a:p>
              </p:txBody>
            </p:sp>
          </p:grpSp>
        </p:grpSp>
      </p:grpSp>
      <p:grpSp>
        <p:nvGrpSpPr>
          <p:cNvPr id="1230" name="Google Shape;1230;p60"/>
          <p:cNvGrpSpPr/>
          <p:nvPr/>
        </p:nvGrpSpPr>
        <p:grpSpPr>
          <a:xfrm>
            <a:off x="327058" y="3993246"/>
            <a:ext cx="11537883" cy="2243168"/>
            <a:chOff x="245765" y="1339632"/>
            <a:chExt cx="4403100" cy="2243168"/>
          </a:xfrm>
        </p:grpSpPr>
        <p:grpSp>
          <p:nvGrpSpPr>
            <p:cNvPr id="1231" name="Google Shape;1231;p60"/>
            <p:cNvGrpSpPr/>
            <p:nvPr/>
          </p:nvGrpSpPr>
          <p:grpSpPr>
            <a:xfrm>
              <a:off x="245765" y="1339632"/>
              <a:ext cx="4403100" cy="492367"/>
              <a:chOff x="-172853" y="1803854"/>
              <a:chExt cx="4403100" cy="711000"/>
            </a:xfrm>
          </p:grpSpPr>
          <p:sp>
            <p:nvSpPr>
              <p:cNvPr id="1232" name="Google Shape;1232;p60"/>
              <p:cNvSpPr/>
              <p:nvPr/>
            </p:nvSpPr>
            <p:spPr>
              <a:xfrm>
                <a:off x="308792" y="1803854"/>
                <a:ext cx="3439800" cy="711000"/>
              </a:xfrm>
              <a:prstGeom prst="rect">
                <a:avLst/>
              </a:prstGeom>
              <a:solidFill>
                <a:srgbClr val="14203F"/>
              </a:solidFill>
              <a:ln cap="flat" cmpd="sng" w="9525">
                <a:solidFill>
                  <a:srgbClr val="D946EF"/>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3" name="Google Shape;1233;p60"/>
              <p:cNvSpPr txBox="1"/>
              <p:nvPr/>
            </p:nvSpPr>
            <p:spPr>
              <a:xfrm>
                <a:off x="-172853" y="1870487"/>
                <a:ext cx="4403100" cy="57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chemeClr val="lt1"/>
                    </a:solidFill>
                    <a:latin typeface="Calibri"/>
                    <a:ea typeface="Calibri"/>
                    <a:cs typeface="Calibri"/>
                    <a:sym typeface="Calibri"/>
                  </a:rPr>
                  <a:t>Platform Architecture and Mental Strain </a:t>
                </a:r>
                <a:endParaRPr b="0" i="0" sz="1400" u="none" cap="none" strike="noStrike">
                  <a:solidFill>
                    <a:srgbClr val="000000"/>
                  </a:solidFill>
                  <a:latin typeface="Arial"/>
                  <a:ea typeface="Arial"/>
                  <a:cs typeface="Arial"/>
                  <a:sym typeface="Arial"/>
                </a:endParaRPr>
              </a:p>
            </p:txBody>
          </p:sp>
        </p:grpSp>
        <p:grpSp>
          <p:nvGrpSpPr>
            <p:cNvPr id="1234" name="Google Shape;1234;p60"/>
            <p:cNvGrpSpPr/>
            <p:nvPr/>
          </p:nvGrpSpPr>
          <p:grpSpPr>
            <a:xfrm>
              <a:off x="520540" y="2080883"/>
              <a:ext cx="3953610" cy="1501917"/>
              <a:chOff x="520541" y="2080883"/>
              <a:chExt cx="3953610" cy="1501917"/>
            </a:xfrm>
          </p:grpSpPr>
          <p:sp>
            <p:nvSpPr>
              <p:cNvPr id="1235" name="Google Shape;1235;p60"/>
              <p:cNvSpPr/>
              <p:nvPr/>
            </p:nvSpPr>
            <p:spPr>
              <a:xfrm>
                <a:off x="520541" y="2080883"/>
                <a:ext cx="3953610" cy="1501917"/>
              </a:xfrm>
              <a:prstGeom prst="rect">
                <a:avLst/>
              </a:prstGeom>
              <a:solidFill>
                <a:srgbClr val="14203F"/>
              </a:solidFill>
              <a:ln cap="flat" cmpd="sng" w="9525">
                <a:solidFill>
                  <a:srgbClr val="0066C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274300" spcFirstLastPara="1" rIns="91425" wrap="square" tIns="2743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236" name="Google Shape;1236;p60"/>
              <p:cNvSpPr txBox="1"/>
              <p:nvPr/>
            </p:nvSpPr>
            <p:spPr>
              <a:xfrm>
                <a:off x="520541" y="2152497"/>
                <a:ext cx="3953610" cy="132339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rgbClr val="FFFFFF"/>
                    </a:solidFill>
                    <a:latin typeface="Calibri"/>
                    <a:ea typeface="Calibri"/>
                    <a:cs typeface="Calibri"/>
                    <a:sym typeface="Calibri"/>
                  </a:rPr>
                  <a:t>Platform design matters just as much as raw screen time</a:t>
                </a:r>
                <a:endParaRPr/>
              </a:p>
              <a:p>
                <a:pPr indent="0" lvl="0" marL="0" marR="0" rtl="0" algn="ctr">
                  <a:lnSpc>
                    <a:spcPct val="100000"/>
                  </a:lnSpc>
                  <a:spcBef>
                    <a:spcPts val="0"/>
                  </a:spcBef>
                  <a:spcAft>
                    <a:spcPts val="0"/>
                  </a:spcAft>
                  <a:buClr>
                    <a:srgbClr val="000000"/>
                  </a:buClr>
                  <a:buSzPts val="1800"/>
                  <a:buFont typeface="Arial"/>
                  <a:buNone/>
                </a:pPr>
                <a:r>
                  <a:rPr b="0" i="0" lang="en-US" sz="2000" u="none" cap="none" strike="noStrike">
                    <a:solidFill>
                      <a:srgbClr val="FFFFFF"/>
                    </a:solidFill>
                    <a:latin typeface="Calibri"/>
                    <a:ea typeface="Calibri"/>
                    <a:cs typeface="Calibri"/>
                    <a:sym typeface="Calibri"/>
                  </a:rPr>
                  <a:t>Functional apps, like WhatsApp, correlate with healthier sleep and physical activity routines</a:t>
                </a:r>
                <a:br>
                  <a:rPr b="0" i="0" lang="en-US" sz="2000" u="none" cap="none" strike="noStrike">
                    <a:solidFill>
                      <a:srgbClr val="FFFFFF"/>
                    </a:solidFill>
                    <a:latin typeface="Calibri"/>
                    <a:ea typeface="Calibri"/>
                    <a:cs typeface="Calibri"/>
                    <a:sym typeface="Calibri"/>
                  </a:rPr>
                </a:br>
                <a:r>
                  <a:rPr b="0" i="0" lang="en-US" sz="2000" u="none" cap="none" strike="noStrike">
                    <a:solidFill>
                      <a:srgbClr val="FFFFFF"/>
                    </a:solidFill>
                    <a:latin typeface="Calibri"/>
                    <a:ea typeface="Calibri"/>
                    <a:cs typeface="Calibri"/>
                    <a:sym typeface="Calibri"/>
                  </a:rPr>
                  <a:t> Highly visual algorithmic platforms, like TikTok and Instagram, drive stress and anxiety  Ultimately, the specific type of digital engagement dictates mental health outcomes</a:t>
                </a:r>
                <a:endParaRPr b="0" i="0" sz="2000" u="none" cap="none" strike="noStrike">
                  <a:solidFill>
                    <a:srgbClr val="000000"/>
                  </a:solidFill>
                  <a:latin typeface="Arial"/>
                  <a:ea typeface="Arial"/>
                  <a:cs typeface="Arial"/>
                  <a:sym typeface="Arial"/>
                </a:endParaRPr>
              </a:p>
            </p:txBody>
          </p:sp>
        </p:gr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0" name="Shape 1240"/>
        <p:cNvGrpSpPr/>
        <p:nvPr/>
      </p:nvGrpSpPr>
      <p:grpSpPr>
        <a:xfrm>
          <a:off x="0" y="0"/>
          <a:ext cx="0" cy="0"/>
          <a:chOff x="0" y="0"/>
          <a:chExt cx="0" cy="0"/>
        </a:xfrm>
      </p:grpSpPr>
      <p:sp>
        <p:nvSpPr>
          <p:cNvPr id="1241" name="Google Shape;1241;p46"/>
          <p:cNvSpPr txBox="1"/>
          <p:nvPr/>
        </p:nvSpPr>
        <p:spPr>
          <a:xfrm>
            <a:off x="2686007" y="2967355"/>
            <a:ext cx="6819985" cy="923289"/>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600"/>
              <a:buFont typeface="Arial"/>
              <a:buNone/>
            </a:pPr>
            <a:r>
              <a:rPr b="1" i="0" lang="en-US" sz="5400" u="none" cap="none" strike="noStrike">
                <a:solidFill>
                  <a:srgbClr val="F8FAFC"/>
                </a:solidFill>
                <a:latin typeface="Poppins"/>
                <a:ea typeface="Poppins"/>
                <a:cs typeface="Poppins"/>
                <a:sym typeface="Poppins"/>
              </a:rPr>
              <a:t>QUESTIONS?</a:t>
            </a:r>
            <a:endParaRPr b="0" i="0" sz="3600" u="none" cap="none" strike="noStrike">
              <a:solidFill>
                <a:srgbClr val="000000"/>
              </a:solidFill>
              <a:latin typeface="Arial"/>
              <a:ea typeface="Arial"/>
              <a:cs typeface="Arial"/>
              <a:sym typeface="Arial"/>
            </a:endParaRPr>
          </a:p>
        </p:txBody>
      </p:sp>
      <p:grpSp>
        <p:nvGrpSpPr>
          <p:cNvPr id="1242" name="Google Shape;1242;p46"/>
          <p:cNvGrpSpPr/>
          <p:nvPr/>
        </p:nvGrpSpPr>
        <p:grpSpPr>
          <a:xfrm>
            <a:off x="9664721" y="132225"/>
            <a:ext cx="2449204" cy="341908"/>
            <a:chOff x="9619565" y="209082"/>
            <a:chExt cx="2449204" cy="341908"/>
          </a:xfrm>
        </p:grpSpPr>
        <p:pic>
          <p:nvPicPr>
            <p:cNvPr id="1243" name="Google Shape;1243;p46"/>
            <p:cNvPicPr preferRelativeResize="0"/>
            <p:nvPr/>
          </p:nvPicPr>
          <p:blipFill rotWithShape="1">
            <a:blip r:embed="rId3">
              <a:alphaModFix/>
            </a:blip>
            <a:srcRect b="0" l="0" r="0" t="0"/>
            <a:stretch/>
          </p:blipFill>
          <p:spPr>
            <a:xfrm>
              <a:off x="9974731" y="211740"/>
              <a:ext cx="331661" cy="331661"/>
            </a:xfrm>
            <a:prstGeom prst="rect">
              <a:avLst/>
            </a:prstGeom>
            <a:noFill/>
            <a:ln>
              <a:noFill/>
            </a:ln>
          </p:spPr>
        </p:pic>
        <p:pic>
          <p:nvPicPr>
            <p:cNvPr id="1244" name="Google Shape;1244;p46"/>
            <p:cNvPicPr preferRelativeResize="0"/>
            <p:nvPr/>
          </p:nvPicPr>
          <p:blipFill rotWithShape="1">
            <a:blip r:embed="rId4">
              <a:alphaModFix/>
            </a:blip>
            <a:srcRect b="0" l="0" r="0" t="0"/>
            <a:stretch/>
          </p:blipFill>
          <p:spPr>
            <a:xfrm>
              <a:off x="9619565" y="216673"/>
              <a:ext cx="337984" cy="326728"/>
            </a:xfrm>
            <a:prstGeom prst="rect">
              <a:avLst/>
            </a:prstGeom>
            <a:noFill/>
            <a:ln>
              <a:noFill/>
            </a:ln>
          </p:spPr>
        </p:pic>
        <p:pic>
          <p:nvPicPr>
            <p:cNvPr id="1245" name="Google Shape;1245;p46"/>
            <p:cNvPicPr preferRelativeResize="0"/>
            <p:nvPr/>
          </p:nvPicPr>
          <p:blipFill rotWithShape="1">
            <a:blip r:embed="rId5">
              <a:alphaModFix/>
            </a:blip>
            <a:srcRect b="0" l="0" r="0" t="0"/>
            <a:stretch/>
          </p:blipFill>
          <p:spPr>
            <a:xfrm flipH="1">
              <a:off x="11000365" y="216673"/>
              <a:ext cx="331661" cy="334317"/>
            </a:xfrm>
            <a:prstGeom prst="rect">
              <a:avLst/>
            </a:prstGeom>
            <a:noFill/>
            <a:ln>
              <a:noFill/>
            </a:ln>
          </p:spPr>
        </p:pic>
        <p:pic>
          <p:nvPicPr>
            <p:cNvPr id="1246" name="Google Shape;1246;p46"/>
            <p:cNvPicPr preferRelativeResize="0"/>
            <p:nvPr/>
          </p:nvPicPr>
          <p:blipFill rotWithShape="1">
            <a:blip r:embed="rId6">
              <a:alphaModFix/>
            </a:blip>
            <a:srcRect b="0" l="0" r="0" t="0"/>
            <a:stretch/>
          </p:blipFill>
          <p:spPr>
            <a:xfrm>
              <a:off x="11349209" y="209083"/>
              <a:ext cx="351188" cy="331661"/>
            </a:xfrm>
            <a:prstGeom prst="rect">
              <a:avLst/>
            </a:prstGeom>
            <a:noFill/>
            <a:ln>
              <a:noFill/>
            </a:ln>
          </p:spPr>
        </p:pic>
        <p:pic>
          <p:nvPicPr>
            <p:cNvPr id="1247" name="Google Shape;1247;p46"/>
            <p:cNvPicPr preferRelativeResize="0"/>
            <p:nvPr/>
          </p:nvPicPr>
          <p:blipFill rotWithShape="1">
            <a:blip r:embed="rId7">
              <a:alphaModFix/>
            </a:blip>
            <a:srcRect b="0" l="0" r="0" t="0"/>
            <a:stretch/>
          </p:blipFill>
          <p:spPr>
            <a:xfrm>
              <a:off x="10649177" y="211739"/>
              <a:ext cx="331661" cy="331661"/>
            </a:xfrm>
            <a:prstGeom prst="rect">
              <a:avLst/>
            </a:prstGeom>
            <a:noFill/>
            <a:ln>
              <a:noFill/>
            </a:ln>
          </p:spPr>
        </p:pic>
        <p:pic>
          <p:nvPicPr>
            <p:cNvPr id="1248" name="Google Shape;1248;p46"/>
            <p:cNvPicPr preferRelativeResize="0"/>
            <p:nvPr/>
          </p:nvPicPr>
          <p:blipFill rotWithShape="1">
            <a:blip r:embed="rId8">
              <a:alphaModFix/>
            </a:blip>
            <a:srcRect b="0" l="0" r="0" t="0"/>
            <a:stretch/>
          </p:blipFill>
          <p:spPr>
            <a:xfrm>
              <a:off x="10323574" y="209083"/>
              <a:ext cx="308421" cy="334317"/>
            </a:xfrm>
            <a:prstGeom prst="rect">
              <a:avLst/>
            </a:prstGeom>
            <a:noFill/>
            <a:ln>
              <a:noFill/>
            </a:ln>
          </p:spPr>
        </p:pic>
        <p:pic>
          <p:nvPicPr>
            <p:cNvPr id="1249" name="Google Shape;1249;p46"/>
            <p:cNvPicPr preferRelativeResize="0"/>
            <p:nvPr/>
          </p:nvPicPr>
          <p:blipFill rotWithShape="1">
            <a:blip r:embed="rId9">
              <a:alphaModFix/>
            </a:blip>
            <a:srcRect b="0" l="0" r="0" t="0"/>
            <a:stretch/>
          </p:blipFill>
          <p:spPr>
            <a:xfrm>
              <a:off x="11717580" y="209082"/>
              <a:ext cx="351189" cy="324071"/>
            </a:xfrm>
            <a:prstGeom prst="rect">
              <a:avLst/>
            </a:prstGeom>
            <a:noFill/>
            <a:ln>
              <a:noFill/>
            </a:ln>
          </p:spPr>
        </p:pic>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vered shaulov</dc:creator>
</cp:coreProperties>
</file>